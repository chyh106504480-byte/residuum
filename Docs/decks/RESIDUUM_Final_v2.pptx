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" y="777240"/>
            <a:ext cx="8229600" cy="4572000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02336" y="1051560"/>
            <a:ext cx="7242048" cy="4023360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96112" y="1325880"/>
            <a:ext cx="6254496" cy="3474720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389888" y="1600200"/>
            <a:ext cx="5266944" cy="2926080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842516" y="1851660"/>
            <a:ext cx="4361688" cy="2423160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253996" y="2080260"/>
            <a:ext cx="3538728" cy="1965960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624328" y="2286000"/>
            <a:ext cx="2798064" cy="1554480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953512" y="2468880"/>
            <a:ext cx="2139696" cy="1188720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241548" y="2628900"/>
            <a:ext cx="1563624" cy="868680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2084832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spc="300" kern="0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RESIDUUM</a:t>
            </a:r>
            <a:endParaRPr lang="en-US" sz="7800" dirty="0"/>
          </a:p>
        </p:txBody>
      </p:sp>
      <p:sp>
        <p:nvSpPr>
          <p:cNvPr id="12" name="Shape 10"/>
          <p:cNvSpPr/>
          <p:nvPr/>
        </p:nvSpPr>
        <p:spPr>
          <a:xfrm>
            <a:off x="731520" y="3529584"/>
            <a:ext cx="1920240" cy="27432"/>
          </a:xfrm>
          <a:prstGeom prst="rect">
            <a:avLst/>
          </a:prstGeom>
          <a:solidFill>
            <a:srgbClr val="D89A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374904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800" dirty="0">
                <a:solidFill>
                  <a:srgbClr val="A6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first-person horror game about knowing</a:t>
            </a:r>
            <a:endParaRPr lang="en-US" sz="18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800" dirty="0">
                <a:solidFill>
                  <a:srgbClr val="A6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cannot see.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95604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ENGINE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1937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6 · URP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127248" y="495604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PLAYERS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127248" y="51937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player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522976" y="495604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ROUND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5522976" y="51937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8–12 minutes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918704" y="495604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 IN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7918704" y="51937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week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534095" y="56692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6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presentation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6419088"/>
            <a:ext cx="8991295" cy="50292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24" name="Shape 22"/>
          <p:cNvSpPr/>
          <p:nvPr/>
        </p:nvSpPr>
        <p:spPr>
          <a:xfrm>
            <a:off x="731520" y="6419088"/>
            <a:ext cx="8991295" cy="50292"/>
          </a:xfrm>
          <a:prstGeom prst="rect">
            <a:avLst/>
          </a:prstGeom>
          <a:solidFill>
            <a:srgbClr val="6E96C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859975" y="6309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6E9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SANITY 100%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2918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GAME · 01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31520" y="621792"/>
            <a:ext cx="10728655" cy="10973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6419088"/>
            <a:ext cx="8991295" cy="50292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6419088"/>
            <a:ext cx="8541730" cy="50292"/>
          </a:xfrm>
          <a:prstGeom prst="rect">
            <a:avLst/>
          </a:prstGeom>
          <a:solidFill>
            <a:srgbClr val="6E96C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59975" y="6309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6E9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SANITY  95%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32688"/>
            <a:ext cx="107286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20" kern="0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whole game, in one sentence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731520" y="1783080"/>
            <a:ext cx="10728655" cy="1508760"/>
          </a:xfrm>
          <a:prstGeom prst="roundRect">
            <a:avLst>
              <a:gd name="adj" fmla="val 3030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783080"/>
            <a:ext cx="41148" cy="1508760"/>
          </a:xfrm>
          <a:prstGeom prst="rect">
            <a:avLst/>
          </a:prstGeom>
          <a:solidFill>
            <a:srgbClr val="D89A4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43000" y="1975104"/>
            <a:ext cx="9905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200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break into a house you should not be in, carrying three tools.</a:t>
            </a:r>
            <a:endParaRPr lang="en-US" sz="2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200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your sanity runs out, work out what is haunting it — and get back out alive.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731520" y="3794760"/>
            <a:ext cx="2487168" cy="1371600"/>
          </a:xfrm>
          <a:prstGeom prst="roundRect">
            <a:avLst>
              <a:gd name="adj" fmla="val 3333"/>
            </a:avLst>
          </a:prstGeom>
          <a:solidFill>
            <a:srgbClr val="141C28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395020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A6C6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462686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456432" y="3794760"/>
            <a:ext cx="2487168" cy="1371600"/>
          </a:xfrm>
          <a:prstGeom prst="roundRect">
            <a:avLst>
              <a:gd name="adj" fmla="val 3333"/>
            </a:avLst>
          </a:prstGeom>
          <a:solidFill>
            <a:srgbClr val="141C28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30752" y="395020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A6C6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400" dirty="0"/>
          </a:p>
        </p:txBody>
      </p:sp>
      <p:sp>
        <p:nvSpPr>
          <p:cNvPr id="16" name="Text 14"/>
          <p:cNvSpPr txBox="1"/>
          <p:nvPr/>
        </p:nvSpPr>
        <p:spPr>
          <a:xfrm>
            <a:off x="3749040" y="462686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kinds of evidence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81344" y="3794760"/>
            <a:ext cx="2487168" cy="1371600"/>
          </a:xfrm>
          <a:prstGeom prst="roundRect">
            <a:avLst>
              <a:gd name="adj" fmla="val 3333"/>
            </a:avLst>
          </a:prstGeom>
          <a:solidFill>
            <a:srgbClr val="141C28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55664" y="395020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A6C6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400" dirty="0"/>
          </a:p>
        </p:txBody>
      </p:sp>
      <p:sp>
        <p:nvSpPr>
          <p:cNvPr id="19" name="Text 17"/>
          <p:cNvSpPr txBox="1"/>
          <p:nvPr/>
        </p:nvSpPr>
        <p:spPr>
          <a:xfrm>
            <a:off x="6473952" y="462686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tools, 3 slots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906256" y="3794760"/>
            <a:ext cx="2487168" cy="1371600"/>
          </a:xfrm>
          <a:prstGeom prst="roundRect">
            <a:avLst>
              <a:gd name="adj" fmla="val 3333"/>
            </a:avLst>
          </a:prstGeom>
          <a:solidFill>
            <a:srgbClr val="141C28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80576" y="395020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0C5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400" dirty="0"/>
          </a:p>
        </p:txBody>
      </p:sp>
      <p:sp>
        <p:nvSpPr>
          <p:cNvPr id="22" name="Text 20"/>
          <p:cNvSpPr txBox="1"/>
          <p:nvPr/>
        </p:nvSpPr>
        <p:spPr>
          <a:xfrm>
            <a:off x="9198864" y="462686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clues = 1 answer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5532120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C5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last one is the whole design.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2918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GAME · 02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31520" y="621792"/>
            <a:ext cx="10728655" cy="10973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6419088"/>
            <a:ext cx="8991295" cy="50292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6419088"/>
            <a:ext cx="8002253" cy="50292"/>
          </a:xfrm>
          <a:prstGeom prst="rect">
            <a:avLst/>
          </a:prstGeom>
          <a:solidFill>
            <a:srgbClr val="6E96C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59975" y="6309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6E9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SANITY  89%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32688"/>
            <a:ext cx="107286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20" kern="0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ghost games end in a guess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627632"/>
            <a:ext cx="9265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E9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played them. Here is the thing that always spoiled it for us.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286000"/>
            <a:ext cx="5074920" cy="2834640"/>
          </a:xfrm>
          <a:prstGeom prst="roundRect">
            <a:avLst>
              <a:gd name="adj" fmla="val 1613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15568" y="25237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saw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2889504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ghosts. 7 kinds of evidence. 40+ tools.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" y="320040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ghosts share the same clue sets.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3511296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you collect everything you can…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" y="3822192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then you still guess between two.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382512" y="2286000"/>
            <a:ext cx="5074920" cy="2834640"/>
          </a:xfrm>
          <a:prstGeom prst="roundRect">
            <a:avLst>
              <a:gd name="adj" fmla="val 1613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82512" y="2286000"/>
            <a:ext cx="41148" cy="2834640"/>
          </a:xfrm>
          <a:prstGeom prst="rect">
            <a:avLst/>
          </a:prstGeom>
          <a:solidFill>
            <a:srgbClr val="D89A4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766560" y="252374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wanted instead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871216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100" b="1" dirty="0">
                <a:solidFill>
                  <a:srgbClr val="F0C5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game where winning is never luck.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3803904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player names the right ghost, it should be because they worked it out.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because they picked the more likely of two.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504688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made the game smaller on purpose, until the guessing was gone.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2918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GAME · 03  ·  THE CENTRE OF THE DESIGN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31520" y="621792"/>
            <a:ext cx="10728655" cy="10973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6419088"/>
            <a:ext cx="8991295" cy="50292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6419088"/>
            <a:ext cx="7372862" cy="50292"/>
          </a:xfrm>
          <a:prstGeom prst="rect">
            <a:avLst/>
          </a:prstGeom>
          <a:solidFill>
            <a:srgbClr val="6E96C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59975" y="6309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6E9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SANITY  82%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32688"/>
            <a:ext cx="107286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20" kern="0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ghosts. Three clues. Two each.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627632"/>
            <a:ext cx="9265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E9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ghost holds exactly two kinds of evidence. Not one. Not three.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224528" y="230428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20" kern="0" dirty="0">
                <a:solidFill>
                  <a:srgbClr val="6E9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EMF-5 READING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702552" y="230428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20" kern="0" dirty="0">
                <a:solidFill>
                  <a:srgbClr val="6E9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FINGERPRINTS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180576" y="230428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20" kern="0" dirty="0">
                <a:solidFill>
                  <a:srgbClr val="6E9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GHOST WRITING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2688336"/>
            <a:ext cx="10728655" cy="10973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0" y="2834640"/>
            <a:ext cx="3291840" cy="713232"/>
          </a:xfrm>
          <a:prstGeom prst="roundRect">
            <a:avLst>
              <a:gd name="adj" fmla="val 6410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7552" y="290779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Spirit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2461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5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slow, stubborn, loud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24528" y="2834640"/>
            <a:ext cx="2240280" cy="713232"/>
          </a:xfrm>
          <a:prstGeom prst="roundRect">
            <a:avLst>
              <a:gd name="adj" fmla="val 6410"/>
            </a:avLst>
          </a:prstGeom>
          <a:solidFill>
            <a:srgbClr val="141C28"/>
          </a:solidFill>
          <a:ln w="12700">
            <a:solidFill>
              <a:srgbClr val="3A302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52644" y="2999232"/>
            <a:ext cx="384048" cy="384048"/>
          </a:xfrm>
          <a:prstGeom prst="ellipse">
            <a:avLst/>
          </a:prstGeom>
          <a:solidFill>
            <a:srgbClr val="D89A45"/>
          </a:solidFill>
          <a:ln/>
        </p:spPr>
      </p:sp>
      <p:sp>
        <p:nvSpPr>
          <p:cNvPr id="18" name="Shape 16"/>
          <p:cNvSpPr/>
          <p:nvPr/>
        </p:nvSpPr>
        <p:spPr>
          <a:xfrm>
            <a:off x="6702552" y="2834640"/>
            <a:ext cx="2240280" cy="713232"/>
          </a:xfrm>
          <a:prstGeom prst="roundRect">
            <a:avLst>
              <a:gd name="adj" fmla="val 6410"/>
            </a:avLst>
          </a:prstGeom>
          <a:solidFill>
            <a:srgbClr val="141C28"/>
          </a:solidFill>
          <a:ln w="12700">
            <a:solidFill>
              <a:srgbClr val="3A302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30668" y="2999232"/>
            <a:ext cx="384048" cy="384048"/>
          </a:xfrm>
          <a:prstGeom prst="ellipse">
            <a:avLst/>
          </a:prstGeom>
          <a:solidFill>
            <a:srgbClr val="D89A45"/>
          </a:solidFill>
          <a:ln/>
        </p:spPr>
      </p:sp>
      <p:sp>
        <p:nvSpPr>
          <p:cNvPr id="20" name="Shape 18"/>
          <p:cNvSpPr/>
          <p:nvPr/>
        </p:nvSpPr>
        <p:spPr>
          <a:xfrm>
            <a:off x="9180576" y="2834640"/>
            <a:ext cx="2240280" cy="713232"/>
          </a:xfrm>
          <a:prstGeom prst="roundRect">
            <a:avLst>
              <a:gd name="adj" fmla="val 6410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99548" y="3186684"/>
            <a:ext cx="402336" cy="22860"/>
          </a:xfrm>
          <a:prstGeom prst="rect">
            <a:avLst/>
          </a:prstGeom>
          <a:solidFill>
            <a:srgbClr val="4E5A6B"/>
          </a:solidFill>
          <a:ln/>
        </p:spPr>
      </p:sp>
      <p:sp>
        <p:nvSpPr>
          <p:cNvPr id="22" name="Shape 20"/>
          <p:cNvSpPr/>
          <p:nvPr/>
        </p:nvSpPr>
        <p:spPr>
          <a:xfrm>
            <a:off x="731520" y="3675888"/>
            <a:ext cx="3291840" cy="713232"/>
          </a:xfrm>
          <a:prstGeom prst="roundRect">
            <a:avLst>
              <a:gd name="adj" fmla="val 6410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87552" y="374904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Wraith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40873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5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silent, leaves no steps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24528" y="3675888"/>
            <a:ext cx="2240280" cy="713232"/>
          </a:xfrm>
          <a:prstGeom prst="roundRect">
            <a:avLst>
              <a:gd name="adj" fmla="val 6410"/>
            </a:avLst>
          </a:prstGeom>
          <a:solidFill>
            <a:srgbClr val="141C28"/>
          </a:solidFill>
          <a:ln w="12700">
            <a:solidFill>
              <a:srgbClr val="3A302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52644" y="3840480"/>
            <a:ext cx="384048" cy="384048"/>
          </a:xfrm>
          <a:prstGeom prst="ellipse">
            <a:avLst/>
          </a:prstGeom>
          <a:solidFill>
            <a:srgbClr val="D89A45"/>
          </a:solidFill>
          <a:ln/>
        </p:spPr>
      </p:sp>
      <p:sp>
        <p:nvSpPr>
          <p:cNvPr id="27" name="Shape 25"/>
          <p:cNvSpPr/>
          <p:nvPr/>
        </p:nvSpPr>
        <p:spPr>
          <a:xfrm>
            <a:off x="6702552" y="3675888"/>
            <a:ext cx="2240280" cy="713232"/>
          </a:xfrm>
          <a:prstGeom prst="roundRect">
            <a:avLst>
              <a:gd name="adj" fmla="val 6410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21524" y="4027932"/>
            <a:ext cx="402336" cy="22860"/>
          </a:xfrm>
          <a:prstGeom prst="rect">
            <a:avLst/>
          </a:prstGeom>
          <a:solidFill>
            <a:srgbClr val="4E5A6B"/>
          </a:solidFill>
          <a:ln/>
        </p:spPr>
      </p:sp>
      <p:sp>
        <p:nvSpPr>
          <p:cNvPr id="29" name="Shape 27"/>
          <p:cNvSpPr/>
          <p:nvPr/>
        </p:nvSpPr>
        <p:spPr>
          <a:xfrm>
            <a:off x="9180576" y="3675888"/>
            <a:ext cx="2240280" cy="713232"/>
          </a:xfrm>
          <a:prstGeom prst="roundRect">
            <a:avLst>
              <a:gd name="adj" fmla="val 6410"/>
            </a:avLst>
          </a:prstGeom>
          <a:solidFill>
            <a:srgbClr val="141C28"/>
          </a:solidFill>
          <a:ln w="12700">
            <a:solidFill>
              <a:srgbClr val="3A302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108692" y="3840480"/>
            <a:ext cx="384048" cy="384048"/>
          </a:xfrm>
          <a:prstGeom prst="ellipse">
            <a:avLst/>
          </a:prstGeom>
          <a:solidFill>
            <a:srgbClr val="D89A45"/>
          </a:solidFill>
          <a:ln/>
        </p:spPr>
      </p:sp>
      <p:sp>
        <p:nvSpPr>
          <p:cNvPr id="31" name="Shape 29"/>
          <p:cNvSpPr/>
          <p:nvPr/>
        </p:nvSpPr>
        <p:spPr>
          <a:xfrm>
            <a:off x="731520" y="4517136"/>
            <a:ext cx="3291840" cy="713232"/>
          </a:xfrm>
          <a:prstGeom prst="roundRect">
            <a:avLst>
              <a:gd name="adj" fmla="val 6410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87552" y="459028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Poltergeist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1005840" y="492861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5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throws things, faster than you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224528" y="4517136"/>
            <a:ext cx="2240280" cy="713232"/>
          </a:xfrm>
          <a:prstGeom prst="roundRect">
            <a:avLst>
              <a:gd name="adj" fmla="val 6410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43500" y="4869180"/>
            <a:ext cx="402336" cy="22860"/>
          </a:xfrm>
          <a:prstGeom prst="rect">
            <a:avLst/>
          </a:prstGeom>
          <a:solidFill>
            <a:srgbClr val="4E5A6B"/>
          </a:solidFill>
          <a:ln/>
        </p:spPr>
      </p:sp>
      <p:sp>
        <p:nvSpPr>
          <p:cNvPr id="36" name="Shape 34"/>
          <p:cNvSpPr/>
          <p:nvPr/>
        </p:nvSpPr>
        <p:spPr>
          <a:xfrm>
            <a:off x="6702552" y="4517136"/>
            <a:ext cx="2240280" cy="713232"/>
          </a:xfrm>
          <a:prstGeom prst="roundRect">
            <a:avLst>
              <a:gd name="adj" fmla="val 6410"/>
            </a:avLst>
          </a:prstGeom>
          <a:solidFill>
            <a:srgbClr val="141C28"/>
          </a:solidFill>
          <a:ln w="12700">
            <a:solidFill>
              <a:srgbClr val="3A302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630668" y="4681728"/>
            <a:ext cx="384048" cy="384048"/>
          </a:xfrm>
          <a:prstGeom prst="ellipse">
            <a:avLst/>
          </a:prstGeom>
          <a:solidFill>
            <a:srgbClr val="D89A45"/>
          </a:solidFill>
          <a:ln/>
        </p:spPr>
      </p:sp>
      <p:sp>
        <p:nvSpPr>
          <p:cNvPr id="38" name="Shape 36"/>
          <p:cNvSpPr/>
          <p:nvPr/>
        </p:nvSpPr>
        <p:spPr>
          <a:xfrm>
            <a:off x="9180576" y="4517136"/>
            <a:ext cx="2240280" cy="713232"/>
          </a:xfrm>
          <a:prstGeom prst="roundRect">
            <a:avLst>
              <a:gd name="adj" fmla="val 6410"/>
            </a:avLst>
          </a:prstGeom>
          <a:solidFill>
            <a:srgbClr val="141C28"/>
          </a:solidFill>
          <a:ln w="12700">
            <a:solidFill>
              <a:srgbClr val="3A302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108692" y="4681728"/>
            <a:ext cx="384048" cy="384048"/>
          </a:xfrm>
          <a:prstGeom prst="ellipse">
            <a:avLst/>
          </a:prstGeom>
          <a:solidFill>
            <a:srgbClr val="D89A4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31520" y="5504688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any row: two dots. Read any column: two ghosts.</a:t>
            </a:r>
            <a:endParaRPr lang="en-US" sz="1900" dirty="0"/>
          </a:p>
        </p:txBody>
      </p:sp>
      <p:sp>
        <p:nvSpPr>
          <p:cNvPr id="41" name="Text 39"/>
          <p:cNvSpPr txBox="1"/>
          <p:nvPr/>
        </p:nvSpPr>
        <p:spPr>
          <a:xfrm>
            <a:off x="731520" y="5907024"/>
            <a:ext cx="8899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one slide we would keep if we only had thirty seconds.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2918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GAME · 04  ·  WHY IT CANNOT FAIL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31520" y="621792"/>
            <a:ext cx="10728655" cy="10973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6419088"/>
            <a:ext cx="8991295" cy="50292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6419088"/>
            <a:ext cx="6653558" cy="50292"/>
          </a:xfrm>
          <a:prstGeom prst="rect">
            <a:avLst/>
          </a:prstGeom>
          <a:solidFill>
            <a:srgbClr val="6E96C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59975" y="6309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6E9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SANITY  74%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32688"/>
            <a:ext cx="107286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20" kern="0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2 out of 3. There are only 3 ways.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627632"/>
            <a:ext cx="9265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E9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ways, three ghosts, one each. Nothing repeated, nothing left over.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286000"/>
            <a:ext cx="3364992" cy="1133856"/>
          </a:xfrm>
          <a:prstGeom prst="roundRect">
            <a:avLst>
              <a:gd name="adj" fmla="val 4032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87552" y="24505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" kern="0" dirty="0">
                <a:solidFill>
                  <a:srgbClr val="A6C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EMF  +  FINGERPRINTS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79806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C5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  Spirit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389120" y="2286000"/>
            <a:ext cx="3364992" cy="1133856"/>
          </a:xfrm>
          <a:prstGeom prst="roundRect">
            <a:avLst>
              <a:gd name="adj" fmla="val 4032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45152" y="24505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" kern="0" dirty="0">
                <a:solidFill>
                  <a:srgbClr val="A6C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EMF  +  WRITING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626864" y="279806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C5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  Wraith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046720" y="2286000"/>
            <a:ext cx="3364992" cy="1133856"/>
          </a:xfrm>
          <a:prstGeom prst="roundRect">
            <a:avLst>
              <a:gd name="adj" fmla="val 4032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02752" y="24505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" kern="0" dirty="0">
                <a:solidFill>
                  <a:srgbClr val="A6C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FINGERPRINTS  +  WRITING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84464" y="279806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C5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  Poltergeist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712464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89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115568" y="369417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clue is never enough.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4937760" y="370332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clue is shared by two ghosts. One EMF reading only rules the Poltergeist out.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4334256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89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4315968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clues are always enough.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937760" y="4325112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never a second answer that fits. The table has no ties in it.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95604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89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1115568" y="493776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Proving a clue is absent counts too.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4937760" y="4946904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Ruling out is as strong as finding. A careful player can win without the third tool.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596128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20" kern="0" dirty="0">
                <a:solidFill>
                  <a:srgbClr val="F0C5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GUESSING.   NO LUCK.   JUST LOGIC.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2918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GAME · 05  ·  THE CLOCK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31520" y="621792"/>
            <a:ext cx="10728655" cy="10973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6419088"/>
            <a:ext cx="8991295" cy="50292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6419088"/>
            <a:ext cx="5844342" cy="50292"/>
          </a:xfrm>
          <a:prstGeom prst="rect">
            <a:avLst/>
          </a:prstGeom>
          <a:solidFill>
            <a:srgbClr val="6E96C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59975" y="6309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6E9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SANITY  65%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32688"/>
            <a:ext cx="107286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20" kern="0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why not just take your time?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627632"/>
            <a:ext cx="9265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E9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house is charging you for every second you stay in it.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286000"/>
            <a:ext cx="5074920" cy="3127248"/>
          </a:xfrm>
          <a:prstGeom prst="roundRect">
            <a:avLst>
              <a:gd name="adj" fmla="val 1462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15568" y="2487168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SANITY, PER SECOND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287121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in the dark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2871216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6C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−0.12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327355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room with the light 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3273552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6C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−0.06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15568" y="367588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a lit flashlight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297680" y="367588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0C5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0.5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407822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Seeing the ghost do something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297680" y="4078224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5A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−15  once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15568" y="448056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it is hunting you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448056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5A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−0.50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15568" y="488289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in the lobby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4882896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6C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+1.00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382512" y="2286000"/>
            <a:ext cx="5074920" cy="3127248"/>
          </a:xfrm>
          <a:prstGeom prst="roundRect">
            <a:avLst>
              <a:gd name="adj" fmla="val 1462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0" y="24871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BELOW 50%, EVERY 25 SECONDS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766560" y="2852928"/>
            <a:ext cx="4480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0C5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P(hunt)  =  ( 50 − sanity ) / 50</a:t>
            </a:r>
            <a:endParaRPr lang="en-US" sz="2300" dirty="0"/>
          </a:p>
        </p:txBody>
      </p:sp>
      <p:sp>
        <p:nvSpPr>
          <p:cNvPr id="26" name="Shape 24"/>
          <p:cNvSpPr/>
          <p:nvPr/>
        </p:nvSpPr>
        <p:spPr>
          <a:xfrm>
            <a:off x="6766560" y="3602736"/>
            <a:ext cx="1371600" cy="932688"/>
          </a:xfrm>
          <a:prstGeom prst="roundRect">
            <a:avLst>
              <a:gd name="adj" fmla="val 4902"/>
            </a:avLst>
          </a:prstGeom>
          <a:solidFill>
            <a:srgbClr val="141C28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0" y="371246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E96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0%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0" y="41422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sanity 50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302752" y="3602736"/>
            <a:ext cx="1371600" cy="932688"/>
          </a:xfrm>
          <a:prstGeom prst="roundRect">
            <a:avLst>
              <a:gd name="adj" fmla="val 4902"/>
            </a:avLst>
          </a:prstGeom>
          <a:solidFill>
            <a:srgbClr val="141C28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94192" y="371246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89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50%</a:t>
            </a:r>
            <a:endParaRPr lang="en-US" sz="1900" dirty="0"/>
          </a:p>
        </p:txBody>
      </p:sp>
      <p:sp>
        <p:nvSpPr>
          <p:cNvPr id="31" name="Text 29"/>
          <p:cNvSpPr txBox="1"/>
          <p:nvPr/>
        </p:nvSpPr>
        <p:spPr>
          <a:xfrm>
            <a:off x="8394192" y="41422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sanity 25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9838944" y="3602736"/>
            <a:ext cx="1371600" cy="932688"/>
          </a:xfrm>
          <a:prstGeom prst="roundRect">
            <a:avLst>
              <a:gd name="adj" fmla="val 4902"/>
            </a:avLst>
          </a:prstGeom>
          <a:solidFill>
            <a:srgbClr val="141C28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930384" y="371246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5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certain</a:t>
            </a:r>
            <a:endParaRPr lang="en-US" sz="1900" dirty="0"/>
          </a:p>
        </p:txBody>
      </p:sp>
      <p:sp>
        <p:nvSpPr>
          <p:cNvPr id="34" name="Text 32"/>
          <p:cNvSpPr txBox="1"/>
          <p:nvPr/>
        </p:nvSpPr>
        <p:spPr>
          <a:xfrm>
            <a:off x="9930384" y="41422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sanity 0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766560" y="46634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player is never asking "where is it?" for long.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asking "how much longer can I stay?"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731520" y="5614416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C5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Knowing more always costs you something. That trade is the game.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2918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GAME · 06  ·  THE HUNT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31520" y="621792"/>
            <a:ext cx="10728655" cy="10973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6419088"/>
            <a:ext cx="8991295" cy="50292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6419088"/>
            <a:ext cx="4945212" cy="50292"/>
          </a:xfrm>
          <a:prstGeom prst="rect">
            <a:avLst/>
          </a:prstGeom>
          <a:solidFill>
            <a:srgbClr val="6E96C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59975" y="6309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6E9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SANITY  55%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766560" y="1280160"/>
            <a:ext cx="5852160" cy="4754880"/>
          </a:xfrm>
          <a:prstGeom prst="ellipse">
            <a:avLst/>
          </a:prstGeom>
          <a:solidFill>
            <a:srgbClr val="B4232F">
              <a:alpha val="3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117690" y="1565453"/>
            <a:ext cx="5149901" cy="4184294"/>
          </a:xfrm>
          <a:prstGeom prst="ellipse">
            <a:avLst/>
          </a:prstGeom>
          <a:solidFill>
            <a:srgbClr val="B4232F">
              <a:alpha val="3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468819" y="1850746"/>
            <a:ext cx="4447642" cy="3613709"/>
          </a:xfrm>
          <a:prstGeom prst="ellipse">
            <a:avLst/>
          </a:prstGeom>
          <a:solidFill>
            <a:srgbClr val="B4232F">
              <a:alpha val="3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819949" y="2136038"/>
            <a:ext cx="3745382" cy="3043123"/>
          </a:xfrm>
          <a:prstGeom prst="ellipse">
            <a:avLst/>
          </a:prstGeom>
          <a:solidFill>
            <a:srgbClr val="B4232F">
              <a:alpha val="3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141818" y="2397557"/>
            <a:ext cx="3101645" cy="2520086"/>
          </a:xfrm>
          <a:prstGeom prst="ellipse">
            <a:avLst/>
          </a:prstGeom>
          <a:solidFill>
            <a:srgbClr val="B4232F">
              <a:alpha val="3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434426" y="2635301"/>
            <a:ext cx="2516429" cy="2044598"/>
          </a:xfrm>
          <a:prstGeom prst="ellipse">
            <a:avLst/>
          </a:prstGeom>
          <a:solidFill>
            <a:srgbClr val="B4232F">
              <a:alpha val="3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8697773" y="2849270"/>
            <a:ext cx="1989734" cy="1616659"/>
          </a:xfrm>
          <a:prstGeom prst="ellipse">
            <a:avLst/>
          </a:prstGeom>
          <a:solidFill>
            <a:srgbClr val="B4232F">
              <a:alpha val="3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931859" y="3039466"/>
            <a:ext cx="1521562" cy="1236269"/>
          </a:xfrm>
          <a:prstGeom prst="ellipse">
            <a:avLst/>
          </a:prstGeom>
          <a:solidFill>
            <a:srgbClr val="B4232F">
              <a:alpha val="3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136685" y="3205886"/>
            <a:ext cx="1111910" cy="903427"/>
          </a:xfrm>
          <a:prstGeom prst="ellipse">
            <a:avLst/>
          </a:prstGeom>
          <a:solidFill>
            <a:srgbClr val="B4232F">
              <a:alpha val="3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932688"/>
            <a:ext cx="107286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20" kern="0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it hunts, running does not save you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1627632"/>
            <a:ext cx="9265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tuned six numbers by hand until fleeing became a choice with a price.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236829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You, walking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108960" y="2432304"/>
            <a:ext cx="1828800" cy="237744"/>
          </a:xfrm>
          <a:prstGeom prst="rect">
            <a:avLst/>
          </a:prstGeom>
          <a:solidFill>
            <a:srgbClr val="6E96C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065776" y="23774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2.0 m/s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291693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You, sprinting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108960" y="2980944"/>
            <a:ext cx="3200400" cy="237744"/>
          </a:xfrm>
          <a:prstGeom prst="rect">
            <a:avLst/>
          </a:prstGeom>
          <a:solidFill>
            <a:srgbClr val="D89A4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37376" y="29260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D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3.5 m/s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346557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Spirit, hunting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108960" y="3529584"/>
            <a:ext cx="3017520" cy="237744"/>
          </a:xfrm>
          <a:prstGeom prst="rect">
            <a:avLst/>
          </a:prstGeom>
          <a:solidFill>
            <a:srgbClr val="7A303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54496" y="34747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3.3 m/s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401421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Wraith, hunting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108960" y="4078224"/>
            <a:ext cx="3108960" cy="237744"/>
          </a:xfrm>
          <a:prstGeom prst="rect">
            <a:avLst/>
          </a:prstGeom>
          <a:solidFill>
            <a:srgbClr val="9730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345936" y="40233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3.4 m/s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45628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Poltergeist, hunting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108960" y="4626864"/>
            <a:ext cx="3291840" cy="237744"/>
          </a:xfrm>
          <a:prstGeom prst="rect">
            <a:avLst/>
          </a:prstGeom>
          <a:solidFill>
            <a:srgbClr val="B4232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528816" y="45720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D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3.6 m/s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2340864"/>
            <a:ext cx="12802" cy="2926080"/>
          </a:xfrm>
          <a:prstGeom prst="rect">
            <a:avLst/>
          </a:prstGeom>
          <a:solidFill>
            <a:srgbClr val="F0C57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623560" y="5285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0C5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ceiling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955280" y="2286000"/>
            <a:ext cx="3502152" cy="2651760"/>
          </a:xfrm>
          <a:prstGeom prst="roundRect">
            <a:avLst>
              <a:gd name="adj" fmla="val 1724"/>
            </a:avLst>
          </a:prstGeom>
          <a:solidFill>
            <a:srgbClr val="0E141D"/>
          </a:solidFill>
          <a:ln w="12700">
            <a:solidFill>
              <a:srgbClr val="3A1A1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47888" y="248716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FF5A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THERE IS NO ADRENALINE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8247888" y="285292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 sprint is 3.5 — the same as any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sprint. No panic bonus.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8247888" y="356616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sprint lasts 4.2 seconds, then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seconds to recharge. You walk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all of it.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8247888" y="427939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only thing that works is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its line of sight. Turn a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corner, shut the door, and you are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rumour again.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5577840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5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ghosts you can just outrun. One of them you cannot.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2918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GAME · 07  ·  THE TOOLS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31520" y="621792"/>
            <a:ext cx="10728655" cy="10973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6419088"/>
            <a:ext cx="8991295" cy="50292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6419088"/>
            <a:ext cx="4315822" cy="50292"/>
          </a:xfrm>
          <a:prstGeom prst="rect">
            <a:avLst/>
          </a:prstGeom>
          <a:solidFill>
            <a:srgbClr val="D89A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59975" y="6309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D89A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SANITY  48%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32688"/>
            <a:ext cx="107286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20" kern="0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tools, three different fears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627632"/>
            <a:ext cx="9265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E9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not three ways to get the same thing. Each one pushes you somewhere you would rather not go.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304288"/>
            <a:ext cx="3364992" cy="2743200"/>
          </a:xfrm>
          <a:prstGeom prst="roundRect">
            <a:avLst>
              <a:gd name="adj" fmla="val 1667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304288"/>
            <a:ext cx="3364992" cy="32004"/>
          </a:xfrm>
          <a:prstGeom prst="rect">
            <a:avLst/>
          </a:prstGeom>
          <a:solidFill>
            <a:srgbClr val="D89A4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24128" y="25420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EMF READER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834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FOLLOW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3456432"/>
            <a:ext cx="2798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higher reading means it was standing here a moment ago.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4443984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C5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pulls you toward it.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389120" y="2304288"/>
            <a:ext cx="3364992" cy="2743200"/>
          </a:xfrm>
          <a:prstGeom prst="roundRect">
            <a:avLst>
              <a:gd name="adj" fmla="val 1667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89120" y="2304288"/>
            <a:ext cx="3364992" cy="32004"/>
          </a:xfrm>
          <a:prstGeom prst="rect">
            <a:avLst/>
          </a:prstGeom>
          <a:solidFill>
            <a:srgbClr val="D89A4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681728" y="25420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LIGHT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2834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SEARCH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4681728" y="3456432"/>
            <a:ext cx="2798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Fingerprints only glow in the dark, so holding UV kills your flashlight.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681728" y="4443984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C5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takes your light away.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046720" y="2304288"/>
            <a:ext cx="3364992" cy="2743200"/>
          </a:xfrm>
          <a:prstGeom prst="roundRect">
            <a:avLst>
              <a:gd name="adj" fmla="val 1667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46720" y="2304288"/>
            <a:ext cx="3364992" cy="32004"/>
          </a:xfrm>
          <a:prstGeom prst="rect">
            <a:avLst/>
          </a:prstGeom>
          <a:solidFill>
            <a:srgbClr val="D89A4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339328" y="25420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GHOST BOOK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321040" y="2834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WAIT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8339328" y="3456432"/>
            <a:ext cx="2798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put it on the floor, you leave, and the writing happens without you.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339328" y="4443984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C5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sends you back in.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31520" y="5230368"/>
            <a:ext cx="10728655" cy="621792"/>
          </a:xfrm>
          <a:prstGeom prst="roundRect">
            <a:avLst>
              <a:gd name="adj" fmla="val 7353"/>
            </a:avLst>
          </a:prstGeom>
          <a:solidFill>
            <a:srgbClr val="141C28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115568" y="5358384"/>
            <a:ext cx="9997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belt slots. The flashlight permanently owns one of them. So you leave one tool behind, every single round.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5961888"/>
            <a:ext cx="8899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wrong is not a bug. It is the round starting badly, and that is allowed.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2918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GAME · 08  ·  THE LOOK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31520" y="621792"/>
            <a:ext cx="10728655" cy="10973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6419088"/>
            <a:ext cx="8991295" cy="50292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6419088"/>
            <a:ext cx="3776344" cy="50292"/>
          </a:xfrm>
          <a:prstGeom prst="rect">
            <a:avLst/>
          </a:prstGeom>
          <a:solidFill>
            <a:srgbClr val="D89A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59975" y="6309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D89A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SANITY  42%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583680" y="1828800"/>
            <a:ext cx="4937760" cy="4023360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879946" y="2070202"/>
            <a:ext cx="4345229" cy="3540557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176211" y="2311603"/>
            <a:ext cx="3752698" cy="3057754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472477" y="2553005"/>
            <a:ext cx="3160166" cy="2574950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744054" y="2774290"/>
            <a:ext cx="2617013" cy="2132381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990942" y="2975458"/>
            <a:ext cx="2123237" cy="1730045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8213141" y="3156509"/>
            <a:ext cx="1678838" cy="1367942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410651" y="3317443"/>
            <a:ext cx="1283818" cy="1046074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583473" y="3458261"/>
            <a:ext cx="938174" cy="764438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932688"/>
            <a:ext cx="107286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20" kern="0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warm light in a cold house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1627632"/>
            <a:ext cx="9265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E9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direction is a budget decision that we are genuinely proud of.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23042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6E9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ONLY AMBIENT LIGHT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114800" y="2258568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blue moonlight through the windows. Indoors is close to black.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0906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6E9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ONLY WARM LIGHT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114800" y="3044952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flashlight in your hand. 12 metres, a 45° cone. Nothing else is warm.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8770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6E9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EIGHT AREAS, ONE HAUNTED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4114800" y="3831336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of them can hold the ghost. The game picks one at random each round.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663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6E9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 THE HUNT STARTS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114800" y="4617720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house goes red and flickers, your torch dies, and sometimes the power fails.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554126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C5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cheapest thing in a horror game is everything nobody can see.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943600"/>
            <a:ext cx="8899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ghost is invisible most of the round. That was an art decision before it was a design one.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2918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BUILT IT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31520" y="621792"/>
            <a:ext cx="10728655" cy="10973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6419088"/>
            <a:ext cx="8991295" cy="50292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6419088"/>
            <a:ext cx="3326779" cy="50292"/>
          </a:xfrm>
          <a:prstGeom prst="rect">
            <a:avLst/>
          </a:prstGeom>
          <a:solidFill>
            <a:srgbClr val="D89A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59975" y="6309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D89A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SANITY  37%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914400" y="1463040"/>
            <a:ext cx="9144000" cy="4206240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63040" y="1715414"/>
            <a:ext cx="8046720" cy="3701491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011680" y="1967789"/>
            <a:ext cx="6949440" cy="3196742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560320" y="2220163"/>
            <a:ext cx="5852160" cy="2691994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3063240" y="2451506"/>
            <a:ext cx="4846320" cy="2229307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3520440" y="2661818"/>
            <a:ext cx="3931920" cy="1808683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3931920" y="2851099"/>
            <a:ext cx="3108960" cy="1430122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4297680" y="3019349"/>
            <a:ext cx="2377440" cy="1093622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4617720" y="3166567"/>
            <a:ext cx="1737360" cy="799186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22860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had never made a 3D game.</a:t>
            </a:r>
            <a:endParaRPr lang="en-US" sz="4600" dirty="0"/>
          </a:p>
        </p:txBody>
      </p:sp>
      <p:sp>
        <p:nvSpPr>
          <p:cNvPr id="17" name="Shape 15"/>
          <p:cNvSpPr/>
          <p:nvPr/>
        </p:nvSpPr>
        <p:spPr>
          <a:xfrm>
            <a:off x="731520" y="3310128"/>
            <a:ext cx="1920240" cy="27432"/>
          </a:xfrm>
          <a:prstGeom prst="rect">
            <a:avLst/>
          </a:prstGeom>
          <a:solidFill>
            <a:srgbClr val="D89A4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3584448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700" dirty="0">
                <a:solidFill>
                  <a:srgbClr val="A6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us. Not one shipped scene between us. So we did the only thing that</a:t>
            </a:r>
            <a:endParaRPr lang="en-US" sz="17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700" dirty="0">
                <a:solidFill>
                  <a:srgbClr val="A6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seemed safe: before we wrote a single line of game code, we wrote the rules</a:t>
            </a:r>
            <a:endParaRPr lang="en-US" sz="17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700" dirty="0">
                <a:solidFill>
                  <a:srgbClr val="A6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the code would have to obey.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120640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after this slide comes out of that one decision.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2918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BUILT IT · 01  ·  THE CONTRACT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31520" y="621792"/>
            <a:ext cx="10728655" cy="10973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6419088"/>
            <a:ext cx="8991295" cy="50292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6419088"/>
            <a:ext cx="2877214" cy="50292"/>
          </a:xfrm>
          <a:prstGeom prst="rect">
            <a:avLst/>
          </a:prstGeom>
          <a:solidFill>
            <a:srgbClr val="D89A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59975" y="6309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D89A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SANITY  32%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32688"/>
            <a:ext cx="107286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20" kern="0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Nothing talks to anything directly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627632"/>
            <a:ext cx="9265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E9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systems. None of them knows the other five exist. Everything goes through one noticeboard.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3364992" cy="585216"/>
          </a:xfrm>
          <a:prstGeom prst="roundRect">
            <a:avLst>
              <a:gd name="adj" fmla="val 7813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542032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160" kern="0" dirty="0">
                <a:solidFill>
                  <a:srgbClr val="A6C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404872" y="2980944"/>
            <a:ext cx="12802" cy="786384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12" name="Shape 10"/>
          <p:cNvSpPr/>
          <p:nvPr/>
        </p:nvSpPr>
        <p:spPr>
          <a:xfrm>
            <a:off x="4389120" y="2395728"/>
            <a:ext cx="3364992" cy="585216"/>
          </a:xfrm>
          <a:prstGeom prst="roundRect">
            <a:avLst>
              <a:gd name="adj" fmla="val 7813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80560" y="2542032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160" kern="0" dirty="0">
                <a:solidFill>
                  <a:srgbClr val="A6C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GHOST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062472" y="2980944"/>
            <a:ext cx="12802" cy="786384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15" name="Shape 13"/>
          <p:cNvSpPr/>
          <p:nvPr/>
        </p:nvSpPr>
        <p:spPr>
          <a:xfrm>
            <a:off x="8046720" y="2395728"/>
            <a:ext cx="3364992" cy="585216"/>
          </a:xfrm>
          <a:prstGeom prst="roundRect">
            <a:avLst>
              <a:gd name="adj" fmla="val 7813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138160" y="2542032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160" kern="0" dirty="0">
                <a:solidFill>
                  <a:srgbClr val="A6C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720072" y="2980944"/>
            <a:ext cx="12802" cy="786384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" y="4626864"/>
            <a:ext cx="3364992" cy="585216"/>
          </a:xfrm>
          <a:prstGeom prst="roundRect">
            <a:avLst>
              <a:gd name="adj" fmla="val 7813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77316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160" kern="0" dirty="0">
                <a:solidFill>
                  <a:srgbClr val="A6C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2404872" y="4334256"/>
            <a:ext cx="12802" cy="292608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21" name="Shape 19"/>
          <p:cNvSpPr/>
          <p:nvPr/>
        </p:nvSpPr>
        <p:spPr>
          <a:xfrm>
            <a:off x="4389120" y="4626864"/>
            <a:ext cx="3364992" cy="585216"/>
          </a:xfrm>
          <a:prstGeom prst="roundRect">
            <a:avLst>
              <a:gd name="adj" fmla="val 7813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80560" y="477316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160" kern="0" dirty="0">
                <a:solidFill>
                  <a:srgbClr val="A6C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WORLD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062472" y="4334256"/>
            <a:ext cx="12802" cy="292608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24" name="Shape 22"/>
          <p:cNvSpPr/>
          <p:nvPr/>
        </p:nvSpPr>
        <p:spPr>
          <a:xfrm>
            <a:off x="8046720" y="4626864"/>
            <a:ext cx="3364992" cy="585216"/>
          </a:xfrm>
          <a:prstGeom prst="roundRect">
            <a:avLst>
              <a:gd name="adj" fmla="val 7813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38160" y="477316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160" kern="0" dirty="0">
                <a:solidFill>
                  <a:srgbClr val="A6C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9720072" y="4334256"/>
            <a:ext cx="12802" cy="292608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520" y="3767328"/>
            <a:ext cx="10728655" cy="566928"/>
          </a:xfrm>
          <a:prstGeom prst="roundRect">
            <a:avLst>
              <a:gd name="adj" fmla="val 8065"/>
            </a:avLst>
          </a:prstGeom>
          <a:solidFill>
            <a:srgbClr val="141C28"/>
          </a:solidFill>
          <a:ln w="12700">
            <a:solidFill>
              <a:srgbClr val="3A302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520" y="3904488"/>
            <a:ext cx="107286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120" kern="0" dirty="0">
                <a:solidFill>
                  <a:srgbClr val="F0C5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GameEvents  ·  the static event bus  ·  23 messages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5449824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89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1280160" y="552297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agreed before day one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4389120" y="5449824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89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4937760" y="552297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files only one person may edit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8046720" y="5449824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89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8595360" y="552297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references between systems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731520" y="5943600"/>
            <a:ext cx="8899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6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people can build two systems at the same time, never read each other's code, and it still compiles.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2918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BUILT IT · 02  ·  THE PRODUCTION LINE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31520" y="621792"/>
            <a:ext cx="10728655" cy="10973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6419088"/>
            <a:ext cx="8991295" cy="50292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6419088"/>
            <a:ext cx="2337737" cy="50292"/>
          </a:xfrm>
          <a:prstGeom prst="rect">
            <a:avLst/>
          </a:prstGeom>
          <a:solidFill>
            <a:srgbClr val="D89A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59975" y="6309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D89A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SANITY  26%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32688"/>
            <a:ext cx="107286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20" kern="0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a feature actually got made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627632"/>
            <a:ext cx="9265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E9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six steps, every single task. The AI writes the code. It never decides what the code is for.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286000"/>
            <a:ext cx="1627632" cy="2212848"/>
          </a:xfrm>
          <a:prstGeom prst="roundRect">
            <a:avLst>
              <a:gd name="adj" fmla="val 2809"/>
            </a:avLst>
          </a:prstGeom>
          <a:solidFill>
            <a:srgbClr val="0E141D"/>
          </a:solidFill>
          <a:ln w="12700">
            <a:solidFill>
              <a:srgbClr val="3A302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286000"/>
            <a:ext cx="1627632" cy="32004"/>
          </a:xfrm>
          <a:prstGeom prst="rect">
            <a:avLst/>
          </a:prstGeom>
          <a:solidFill>
            <a:srgbClr val="D89A4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4505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724912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89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127248"/>
            <a:ext cx="1335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the task spec: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files, which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numbers, what is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340864" y="312724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E5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551176" y="2286000"/>
            <a:ext cx="1627632" cy="2212848"/>
          </a:xfrm>
          <a:prstGeom prst="roundRect">
            <a:avLst>
              <a:gd name="adj" fmla="val 2809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715768" y="24505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715768" y="2724912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E96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715768" y="3127248"/>
            <a:ext cx="1335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the code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those walls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160520" y="312724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E5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70832" y="2286000"/>
            <a:ext cx="1627632" cy="2212848"/>
          </a:xfrm>
          <a:prstGeom prst="roundRect">
            <a:avLst>
              <a:gd name="adj" fmla="val 2809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35424" y="24505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535424" y="2724912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35424" y="3127248"/>
            <a:ext cx="1335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text rules run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the diff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980176" y="312724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E5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190488" y="2286000"/>
            <a:ext cx="1627632" cy="2212848"/>
          </a:xfrm>
          <a:prstGeom prst="roundRect">
            <a:avLst>
              <a:gd name="adj" fmla="val 2809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55080" y="24505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355080" y="2724912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355080" y="3127248"/>
            <a:ext cx="1335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compiles it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no window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799832" y="312724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E5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010144" y="2286000"/>
            <a:ext cx="1627632" cy="2212848"/>
          </a:xfrm>
          <a:prstGeom prst="roundRect">
            <a:avLst>
              <a:gd name="adj" fmla="val 2809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74736" y="24505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8174736" y="2724912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E96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174736" y="3127248"/>
            <a:ext cx="1335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18 fixed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about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work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9619488" y="312724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E5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9829800" y="2286000"/>
            <a:ext cx="1627632" cy="2212848"/>
          </a:xfrm>
          <a:prstGeom prst="roundRect">
            <a:avLst>
              <a:gd name="adj" fmla="val 2809"/>
            </a:avLst>
          </a:prstGeom>
          <a:solidFill>
            <a:srgbClr val="0E141D"/>
          </a:solidFill>
          <a:ln w="12700">
            <a:solidFill>
              <a:srgbClr val="3A302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829800" y="2286000"/>
            <a:ext cx="1627632" cy="32004"/>
          </a:xfrm>
          <a:prstGeom prst="rect">
            <a:avLst/>
          </a:prstGeom>
          <a:solidFill>
            <a:srgbClr val="D89A4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994392" y="24505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9994392" y="2724912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89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9994392" y="3127248"/>
            <a:ext cx="1335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diff and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yes or no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364992" y="4498848"/>
            <a:ext cx="14630" cy="256032"/>
          </a:xfrm>
          <a:prstGeom prst="rect">
            <a:avLst/>
          </a:prstGeom>
          <a:solidFill>
            <a:srgbClr val="B4232F"/>
          </a:solidFill>
          <a:ln/>
        </p:spPr>
      </p:sp>
      <p:sp>
        <p:nvSpPr>
          <p:cNvPr id="41" name="Shape 39"/>
          <p:cNvSpPr/>
          <p:nvPr/>
        </p:nvSpPr>
        <p:spPr>
          <a:xfrm>
            <a:off x="7004304" y="4498848"/>
            <a:ext cx="14630" cy="256032"/>
          </a:xfrm>
          <a:prstGeom prst="rect">
            <a:avLst/>
          </a:prstGeom>
          <a:solidFill>
            <a:srgbClr val="B4232F"/>
          </a:solidFill>
          <a:ln/>
        </p:spPr>
      </p:sp>
      <p:sp>
        <p:nvSpPr>
          <p:cNvPr id="42" name="Shape 40"/>
          <p:cNvSpPr/>
          <p:nvPr/>
        </p:nvSpPr>
        <p:spPr>
          <a:xfrm>
            <a:off x="3364992" y="4754880"/>
            <a:ext cx="3639312" cy="14630"/>
          </a:xfrm>
          <a:prstGeom prst="rect">
            <a:avLst/>
          </a:prstGeom>
          <a:solidFill>
            <a:srgbClr val="B4232F"/>
          </a:solidFill>
          <a:ln/>
        </p:spPr>
      </p:sp>
      <p:sp>
        <p:nvSpPr>
          <p:cNvPr id="43" name="Shape 41"/>
          <p:cNvSpPr/>
          <p:nvPr/>
        </p:nvSpPr>
        <p:spPr>
          <a:xfrm>
            <a:off x="3282696" y="4443984"/>
            <a:ext cx="173736" cy="137160"/>
          </a:xfrm>
          <a:prstGeom prst="triangle">
            <a:avLst/>
          </a:prstGeom>
          <a:solidFill>
            <a:srgbClr val="B423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955280" y="4443984"/>
            <a:ext cx="3502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 →  back to step 02, with the error text pasted in.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attempts, then it stops and a human looks.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731520" y="5230368"/>
            <a:ext cx="10728655" cy="658368"/>
          </a:xfrm>
          <a:prstGeom prst="roundRect">
            <a:avLst>
              <a:gd name="adj" fmla="val 6944"/>
            </a:avLst>
          </a:prstGeom>
          <a:solidFill>
            <a:srgbClr val="141C28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115568" y="5376672"/>
            <a:ext cx="99971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C5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one who writes the code and the one who checks it are never the same. That was the point of the whole machine.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5998464"/>
            <a:ext cx="8899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can write every script in this project in a day. Only a person can tell you whether the game feels right.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2918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BUILT IT · 03  ·  WHAT THE MACHINE GETS WRONG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31520" y="621792"/>
            <a:ext cx="10728655" cy="10973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6419088"/>
            <a:ext cx="8991295" cy="50292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6419088"/>
            <a:ext cx="1888172" cy="50292"/>
          </a:xfrm>
          <a:prstGeom prst="rect">
            <a:avLst/>
          </a:prstGeom>
          <a:solidFill>
            <a:srgbClr val="D89A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59975" y="6309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D89A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SANITY  21%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32688"/>
            <a:ext cx="107286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20" kern="0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never gets tired, and it never learns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627632"/>
            <a:ext cx="9265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E9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text rules over every diff. Five reject the work outright; three raise a flag.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286000"/>
            <a:ext cx="5074920" cy="3072384"/>
          </a:xfrm>
          <a:prstGeom prst="roundRect">
            <a:avLst>
              <a:gd name="adj" fmla="val 1488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15568" y="2487168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THE RULES ACTUALLY CATCH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285292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function names Unity 6 deleted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" y="307238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rule, four spellings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332841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physics property that was renamed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" y="354787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velocity → linearVelocity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115568" y="38039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input system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115568" y="402336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banned project-wide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427939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system importing another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115568" y="449884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contract, enforced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1115568" y="47548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Tunable numbers hard-coded in C#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" y="497433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flagged, not rejected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382512" y="2286000"/>
            <a:ext cx="5074920" cy="3072384"/>
          </a:xfrm>
          <a:prstGeom prst="roundRect">
            <a:avLst>
              <a:gd name="adj" fmla="val 1488"/>
            </a:avLst>
          </a:prstGeom>
          <a:solidFill>
            <a:srgbClr val="0E141D"/>
          </a:solidFill>
          <a:ln w="12700">
            <a:solidFill>
              <a:srgbClr val="3A1A1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82512" y="2286000"/>
            <a:ext cx="41148" cy="3072384"/>
          </a:xfrm>
          <a:prstGeom prst="rect">
            <a:avLst/>
          </a:prstGeom>
          <a:solidFill>
            <a:srgbClr val="B423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766560" y="24871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FF5A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ONE WE LEARNED THE HARD WAY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2798064"/>
            <a:ext cx="4480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check must never blame good code.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6766560" y="367588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first version of these rules ran on a clean repository.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reported 2 errors and 15 warnings. All seventeen were wrong.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4315968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false alarm is worse than silence: it burns both retries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the AI "fix" code that was never broken. Every new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is now tested on clean code before it may reject anything.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54126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instruction can be ignored. A text search cannot.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943600"/>
            <a:ext cx="8899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6 deleted a whole family of functions. You can ban them ten times in the prompt and they still come back — and a regex catches every one, for free.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2918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CAME OUT OF IT · 01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31520" y="621792"/>
            <a:ext cx="10728655" cy="10973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6419088"/>
            <a:ext cx="8991295" cy="50292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6419088"/>
            <a:ext cx="1528520" cy="50292"/>
          </a:xfrm>
          <a:prstGeom prst="rect">
            <a:avLst/>
          </a:prstGeom>
          <a:solidFill>
            <a:srgbClr val="B4232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59975" y="6309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B423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SANITY  17%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32688"/>
            <a:ext cx="107286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20" kern="0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Eight days, counted honestly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627632"/>
            <a:ext cx="9265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E9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it is in one repository. Every number here is something you can go and check.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304288"/>
            <a:ext cx="2487168" cy="1298448"/>
          </a:xfrm>
          <a:prstGeom prst="roundRect">
            <a:avLst>
              <a:gd name="adj" fmla="val 3521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9264" y="2450592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0C5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090672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days, day zero to hand-in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74720" y="2304288"/>
            <a:ext cx="2487168" cy="1298448"/>
          </a:xfrm>
          <a:prstGeom prst="roundRect">
            <a:avLst>
              <a:gd name="adj" fmla="val 3521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12464" y="2450592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0C5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3730752" y="3090672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specs, written before the code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2304288"/>
            <a:ext cx="2487168" cy="1298448"/>
          </a:xfrm>
          <a:prstGeom prst="roundRect">
            <a:avLst>
              <a:gd name="adj" fmla="val 3521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55664" y="2450592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6C6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</a:t>
            </a:r>
            <a:endParaRPr lang="en-US" sz="38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3090672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scripts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961120" y="2304288"/>
            <a:ext cx="2487168" cy="1298448"/>
          </a:xfrm>
          <a:prstGeom prst="roundRect">
            <a:avLst>
              <a:gd name="adj" fmla="val 3521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98864" y="2450592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6C6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17,406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9217152" y="3090672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C#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31520" y="3785616"/>
            <a:ext cx="2487168" cy="1298448"/>
          </a:xfrm>
          <a:prstGeom prst="roundRect">
            <a:avLst>
              <a:gd name="adj" fmla="val 3521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9264" y="393192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6C6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38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457200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on the event bus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474720" y="3785616"/>
            <a:ext cx="2487168" cy="1298448"/>
          </a:xfrm>
          <a:prstGeom prst="roundRect">
            <a:avLst>
              <a:gd name="adj" fmla="val 3521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712464" y="393192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6C6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800" dirty="0"/>
          </a:p>
        </p:txBody>
      </p:sp>
      <p:sp>
        <p:nvSpPr>
          <p:cNvPr id="26" name="Text 24"/>
          <p:cNvSpPr txBox="1"/>
          <p:nvPr/>
        </p:nvSpPr>
        <p:spPr>
          <a:xfrm>
            <a:off x="3730752" y="457200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rules per diff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217920" y="3785616"/>
            <a:ext cx="2487168" cy="1298448"/>
          </a:xfrm>
          <a:prstGeom prst="roundRect">
            <a:avLst>
              <a:gd name="adj" fmla="val 3521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55664" y="393192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6C6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3800" dirty="0"/>
          </a:p>
        </p:txBody>
      </p:sp>
      <p:sp>
        <p:nvSpPr>
          <p:cNvPr id="29" name="Text 27"/>
          <p:cNvSpPr txBox="1"/>
          <p:nvPr/>
        </p:nvSpPr>
        <p:spPr>
          <a:xfrm>
            <a:off x="6473952" y="457200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self-audit questions per task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961120" y="3785616"/>
            <a:ext cx="2487168" cy="1298448"/>
          </a:xfrm>
          <a:prstGeom prst="roundRect">
            <a:avLst>
              <a:gd name="adj" fmla="val 3521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98864" y="393192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6C6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206</a:t>
            </a:r>
            <a:endParaRPr lang="en-US" sz="3800" dirty="0"/>
          </a:p>
        </p:txBody>
      </p:sp>
      <p:sp>
        <p:nvSpPr>
          <p:cNvPr id="32" name="Text 30"/>
          <p:cNvSpPr txBox="1"/>
          <p:nvPr/>
        </p:nvSpPr>
        <p:spPr>
          <a:xfrm>
            <a:off x="9217152" y="457200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413248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 of those scripts are editor tools we wrote to build the scene itself.</a:t>
            </a:r>
            <a:endParaRPr lang="en-US" sz="19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5797296"/>
            <a:ext cx="8899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5,298 lines that never ship to a player — they exist so the level can be rebuilt from a menu instead of by hand.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2918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CAME OUT OF IT · 02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31520" y="621792"/>
            <a:ext cx="10728655" cy="10973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6419088"/>
            <a:ext cx="8991295" cy="50292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6419088"/>
            <a:ext cx="1258781" cy="50292"/>
          </a:xfrm>
          <a:prstGeom prst="rect">
            <a:avLst/>
          </a:prstGeom>
          <a:solidFill>
            <a:srgbClr val="B4232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59975" y="6309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B423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SANITY  14%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32688"/>
            <a:ext cx="107286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20" kern="0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list we are proudest of is the one we cut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627632"/>
            <a:ext cx="9265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E9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of these were decided on day zero, in writing, before anyone could fall in love with them.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286000"/>
            <a:ext cx="5239512" cy="1188720"/>
          </a:xfrm>
          <a:prstGeom prst="roundRect">
            <a:avLst>
              <a:gd name="adj" fmla="val 3846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60704" y="24323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multiplayer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285292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code costs three days minimum. In a one-week project, that is the project.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2286000"/>
            <a:ext cx="5239512" cy="1188720"/>
          </a:xfrm>
          <a:prstGeom prst="roundRect">
            <a:avLst>
              <a:gd name="adj" fmla="val 3846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47104" y="24323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second map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565392" y="285292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map that is properly lit beats three that are empty.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639312"/>
            <a:ext cx="5239512" cy="1188720"/>
          </a:xfrm>
          <a:prstGeom prst="roundRect">
            <a:avLst>
              <a:gd name="adj" fmla="val 3846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60704" y="378561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fourth ghost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1078992" y="420624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Choose-2-of-3 stops being exact. The table is the game; we do not break the table.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3639312"/>
            <a:ext cx="5239512" cy="1188720"/>
          </a:xfrm>
          <a:prstGeom prst="roundRect">
            <a:avLst>
              <a:gd name="adj" fmla="val 3846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47104" y="378561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jumping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6565392" y="420624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would climb the furniture, and that breaks both the level and the paths the ghost walks.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" y="5029200"/>
            <a:ext cx="10728655" cy="786384"/>
          </a:xfrm>
          <a:prstGeom prst="roundRect">
            <a:avLst>
              <a:gd name="adj" fmla="val 5814"/>
            </a:avLst>
          </a:prstGeom>
          <a:solidFill>
            <a:srgbClr val="141C28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15568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CUT-OFF DATES, ALSO WRITTEN ON DAY ZERO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" y="5376672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evidence did not work by end of day 3, ghost writing was to be dropped. If the ghost AI failed by day 4, the art day moved.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8442655" y="535838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0C5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Neither was needed.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5943600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C5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team that can tell you what it is not building is easier to believe.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2918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4E5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31520" y="621792"/>
            <a:ext cx="10728655" cy="10973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6419088"/>
            <a:ext cx="8991295" cy="50292"/>
          </a:xfrm>
          <a:prstGeom prst="rect">
            <a:avLst/>
          </a:prstGeom>
          <a:solidFill>
            <a:srgbClr val="1E283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6419088"/>
            <a:ext cx="989042" cy="50292"/>
          </a:xfrm>
          <a:prstGeom prst="rect">
            <a:avLst/>
          </a:prstGeom>
          <a:solidFill>
            <a:srgbClr val="B4232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59975" y="6309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B423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SANITY  11%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8595360" cy="4023360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55802" y="1613002"/>
            <a:ext cx="7563917" cy="3540557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671523" y="1854403"/>
            <a:ext cx="6532474" cy="3057754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187245" y="2095805"/>
            <a:ext cx="5501030" cy="2574950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659990" y="2317090"/>
            <a:ext cx="4555541" cy="2132381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3089758" y="2518258"/>
            <a:ext cx="3696005" cy="1730045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3476549" y="2699309"/>
            <a:ext cx="2922422" cy="1367942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3820363" y="2860243"/>
            <a:ext cx="2234794" cy="1046074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4121201" y="3001061"/>
            <a:ext cx="1633118" cy="764438"/>
          </a:xfrm>
          <a:prstGeom prst="ellipse">
            <a:avLst/>
          </a:prstGeom>
          <a:solidFill>
            <a:srgbClr val="D89A45">
              <a:alpha val="3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1737360"/>
            <a:ext cx="9509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000" b="1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did not build a bigger game.</a:t>
            </a:r>
            <a:endParaRPr lang="en-US" sz="40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000" b="1" dirty="0">
                <a:solidFill>
                  <a:srgbClr val="EDF1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built one that finishes.</a:t>
            </a:r>
            <a:endParaRPr lang="en-US" sz="4000" dirty="0"/>
          </a:p>
        </p:txBody>
      </p:sp>
      <p:sp>
        <p:nvSpPr>
          <p:cNvPr id="17" name="Shape 15"/>
          <p:cNvSpPr/>
          <p:nvPr/>
        </p:nvSpPr>
        <p:spPr>
          <a:xfrm>
            <a:off x="731520" y="3675888"/>
            <a:ext cx="3364992" cy="1335024"/>
          </a:xfrm>
          <a:prstGeom prst="roundRect">
            <a:avLst>
              <a:gd name="adj" fmla="val 3425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" y="3675888"/>
            <a:ext cx="3364992" cy="32004"/>
          </a:xfrm>
          <a:prstGeom prst="rect">
            <a:avLst/>
          </a:prstGeom>
          <a:solidFill>
            <a:srgbClr val="D89A4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05840" y="385876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 that cannot lie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4224528"/>
            <a:ext cx="28712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clues, one answer, every round. No luck anywhere in it.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389120" y="3675888"/>
            <a:ext cx="3364992" cy="1335024"/>
          </a:xfrm>
          <a:prstGeom prst="roundRect">
            <a:avLst>
              <a:gd name="adj" fmla="val 3425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89120" y="3675888"/>
            <a:ext cx="3364992" cy="32004"/>
          </a:xfrm>
          <a:prstGeom prst="rect">
            <a:avLst/>
          </a:prstGeom>
          <a:solidFill>
            <a:srgbClr val="D89A4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663440" y="385876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way of working we can reuse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681728" y="4224528"/>
            <a:ext cx="28712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Python file. Point it at the next project and change three things.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046720" y="3675888"/>
            <a:ext cx="3364992" cy="1335024"/>
          </a:xfrm>
          <a:prstGeom prst="roundRect">
            <a:avLst>
              <a:gd name="adj" fmla="val 3425"/>
            </a:avLst>
          </a:prstGeom>
          <a:solidFill>
            <a:srgbClr val="0E141D"/>
          </a:solidFill>
          <a:ln w="12700">
            <a:solidFill>
              <a:srgbClr val="1E283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46720" y="3675888"/>
            <a:ext cx="3364992" cy="32004"/>
          </a:xfrm>
          <a:prstGeom prst="rect">
            <a:avLst/>
          </a:prstGeom>
          <a:solidFill>
            <a:srgbClr val="D89A4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321040" y="385876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agreed before line one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39328" y="4224528"/>
            <a:ext cx="28712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E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the only reason four people could build six systems at once.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5212080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6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Next, if there is a next: a thermometer as a fourth clue. Choose two from four is six ghosts, and a ghost here is a data file, not a class. That is one afternoon, not one week.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587044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C5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RESIDUUM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RESIDUUM — Final Presentation</dc:title>
  <dc:subject>A first-person horror deduction game, and how we built it in one week.</dc:subject>
  <dc:creator>Henry</dc:creator>
  <cp:lastModifiedBy>Henry</cp:lastModifiedBy>
  <cp:revision>1</cp:revision>
  <dcterms:created xsi:type="dcterms:W3CDTF">2026-08-28T14:19:17Z</dcterms:created>
  <dcterms:modified xsi:type="dcterms:W3CDTF">2026-08-28T14:19:17Z</dcterms:modified>
</cp:coreProperties>
</file>