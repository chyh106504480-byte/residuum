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Movement speed (m/s)</c:v>
                </c:pt>
              </c:strCache>
            </c:strRef>
          </c:tx>
          <c:spPr>
            <a:solidFill>
              <a:srgbClr val="7FA6CC"/>
            </a:solidFill>
            <a:effectLst/>
          </c:spPr>
          <c:invertIfNegative val="0"/>
          <c:dLbls>
            <c:numFmt formatCode="#,##0" sourceLinked="0"/>
            <c:txPr>
              <a:bodyPr/>
              <a:lstStyle/>
              <a:p>
                <a:pPr>
                  <a:defRPr b="0" i="0" strike="noStrike" sz="1200" u="none">
                    <a:solidFill>
                      <a:srgbClr val="E9EDF3"/>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7FA6CC"/>
              </a:solidFill>
              <a:effectLst/>
            </c:spPr>
          </c:dPt>
          <c:dPt>
            <c:idx val="1"/>
            <c:invertIfNegative val="0"/>
            <c:bubble3D val="0"/>
            <c:spPr>
              <a:solidFill>
                <a:srgbClr val="7FA6CC"/>
              </a:solidFill>
              <a:effectLst/>
            </c:spPr>
          </c:dPt>
          <c:dPt>
            <c:idx val="2"/>
            <c:invertIfNegative val="0"/>
            <c:bubble3D val="0"/>
            <c:spPr>
              <a:solidFill>
                <a:srgbClr val="B3202E"/>
              </a:solidFill>
              <a:effectLst/>
            </c:spPr>
          </c:dPt>
          <c:dPt>
            <c:idx val="3"/>
            <c:invertIfNegative val="0"/>
            <c:bubble3D val="0"/>
            <c:spPr>
              <a:solidFill>
                <a:srgbClr val="B3202E"/>
              </a:solidFill>
              <a:effectLst/>
            </c:spPr>
          </c:dPt>
          <c:dPt>
            <c:idx val="4"/>
            <c:invertIfNegative val="0"/>
            <c:bubble3D val="0"/>
            <c:spPr>
              <a:solidFill>
                <a:srgbClr val="A9C6E4"/>
              </a:solidFill>
              <a:effectLst/>
            </c:spPr>
          </c:dPt>
          <c:dPt>
            <c:idx val="5"/>
            <c:invertIfNegative val="0"/>
            <c:bubble3D val="0"/>
            <c:spPr>
              <a:solidFill>
                <a:srgbClr val="E0505E"/>
              </a:solidFill>
              <a:effectLst/>
            </c:spPr>
          </c:dPt>
          <c:cat>
            <c:multiLvlStrRef>
              <c:f>Sheet1!$A$2:$A$7</c:f>
              <c:multiLvlStrCache>
                <c:ptCount val="6"/>
                <c:lvl>
                  <c:pt idx="0">
                    <c:v>Player crouch</c:v>
                  </c:pt>
                  <c:pt idx="1">
                    <c:v>Player walk</c:v>
                  </c:pt>
                  <c:pt idx="2">
                    <c:v>Spirit hunt</c:v>
                  </c:pt>
                  <c:pt idx="3">
                    <c:v>Wraith hunt</c:v>
                  </c:pt>
                  <c:pt idx="4">
                    <c:v>Player sprint</c:v>
                  </c:pt>
                  <c:pt idx="5">
                    <c:v>Poltergeist hunt</c:v>
                  </c:pt>
                </c:lvl>
              </c:multiLvlStrCache>
            </c:multiLvlStrRef>
          </c:cat>
          <c:val>
            <c:numRef>
              <c:f>Sheet1!$B$2:$B$7</c:f>
              <c:numCache>
                <c:formatCode>General</c:formatCode>
                <c:ptCount val="6"/>
                <c:pt idx="0">
                  <c:v>1.4</c:v>
                </c:pt>
                <c:pt idx="1">
                  <c:v>2</c:v>
                </c:pt>
                <c:pt idx="2">
                  <c:v>3.3</c:v>
                </c:pt>
                <c:pt idx="3">
                  <c:v>3.4</c:v>
                </c:pt>
                <c:pt idx="4">
                  <c:v>3.5</c:v>
                </c:pt>
                <c:pt idx="5">
                  <c:v>3.6</c:v>
                </c:pt>
              </c:numCache>
            </c:numRef>
          </c:val>
        </c:ser>
        <c:dLbls>
          <c:numFmt formatCode="#,##0" sourceLinked="0"/>
          <c:txPr>
            <a:bodyPr/>
            <a:lstStyle/>
            <a:p>
              <a:pPr>
                <a:defRPr b="0" i="0" strike="noStrike" sz="1200" u="none">
                  <a:solidFill>
                    <a:srgbClr val="E9EDF3"/>
                  </a:solidFill>
                  <a:latin typeface="Courier New"/>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8D9AAD"/>
                </a:solidFill>
                <a:latin typeface="Calibri"/>
              </a:defRPr>
            </a:pPr>
            <a:endParaRPr lang="en-US"/>
          </a:p>
        </c:txPr>
        <c:crossAx val="2094734552"/>
        <c:crosses val="autoZero"/>
        <c:auto val="1"/>
        <c:lblAlgn val="ctr"/>
        <c:noMultiLvlLbl val="1"/>
      </c:catAx>
      <c:valAx>
        <c:axId val="2094734552"/>
        <c:scaling>
          <c:orientation val="minMax"/>
          <c:max val="4.2"/>
        </c:scaling>
        <c:delete val="0"/>
        <c:axPos val="l"/>
        <c:majorGridlines>
          <c:spPr>
            <a:ln w="9525" cap="flat">
              <a:solidFill>
                <a:srgbClr val="222C3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B7E"/>
                </a:solidFill>
                <a:latin typeface="Arial"/>
              </a:defRPr>
            </a:pPr>
            <a:endParaRPr lang="en-US"/>
          </a:p>
        </c:txPr>
        <c:crossAx val="2094734554"/>
        <c:crosses val="autoZero"/>
        <c:crossBetween val="between"/>
      </c:valAx>
      <c:spPr>
        <a:solidFill>
          <a:srgbClr val="0A0D13"/>
        </a:solidFill>
        <a:ln>
          <a:noFill/>
        </a:ln>
        <a:effectLst/>
      </c:spPr>
    </c:plotArea>
    <c:plotVisOnly val="1"/>
    <c:dispBlanksAs val="span"/>
  </c:chart>
  <c:spPr>
    <a:solidFill>
      <a:srgbClr val="0A0D13"/>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seconds. Do not stop here. Say the name and the one-line idea,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numbers are the easiest thing to remember. Say them one at a time and stop between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we did not make it small because we ran out of time. We made it small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a whiteboard, draw this instead of showing it. Three rows, three columns, one tick at a time. People trust something they watch you build. Stop for a second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after 'Just logic.' Count two seconds before you move on. Do not fill the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extra clue costs you' slowly. That one line is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how the game feels, not what it has. We re-tested all six numbers on day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search, wait. Three different things to do. That is why these three tools and not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says three ghosts is too few, use this slide. Four kinds of clue would give six ghosts. We just chose not to do it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room volumes in the scene, seven of them can be the ghost room. The cheapest part of a horror game: you do not have to build what nobody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two parts of the game can be written at the same time by people who never talk to each other, and it still builds.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us different. Other teams hand in a game. We hand in a game and a way of working we can use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whether the work is really ours, the answer is on this slide and the one before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all six out loud. Say 59 task specs and 16,467 lines. Let people read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one-week project, saying when you would give up on something is worth more than saying what you want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here to build trust. Stop for a second after 'jumping'. People never expect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you switch to Unity. While you play, only say what is happening. Do not explain the rules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thank you and stop talking. Do not add anything after it. Wait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1737360"/>
            <a:ext cx="6583680" cy="1188720"/>
          </a:xfrm>
          <a:prstGeom prst="rect">
            <a:avLst/>
          </a:prstGeom>
          <a:noFill/>
          <a:ln/>
        </p:spPr>
        <p:txBody>
          <a:bodyPr wrap="square" lIns="0" tIns="0" rIns="0" bIns="0" rtlCol="0" anchor="ctr"/>
          <a:lstStyle/>
          <a:p>
            <a:pPr indent="0" marL="0">
              <a:buNone/>
            </a:pPr>
            <a:r>
              <a:rPr lang="en-US" sz="6600" b="1" spc="600" kern="0" dirty="0">
                <a:solidFill>
                  <a:srgbClr val="E9EDF3"/>
                </a:solidFill>
                <a:latin typeface="Cambria" pitchFamily="34" charset="0"/>
                <a:ea typeface="Cambria" pitchFamily="34" charset="-122"/>
                <a:cs typeface="Cambria" pitchFamily="34" charset="-120"/>
              </a:rPr>
              <a:t>RESIDUUM</a:t>
            </a:r>
            <a:endParaRPr lang="en-US" sz="6600" dirty="0"/>
          </a:p>
        </p:txBody>
      </p:sp>
      <p:sp>
        <p:nvSpPr>
          <p:cNvPr id="3" name="Text 1"/>
          <p:cNvSpPr txBox="1"/>
          <p:nvPr/>
        </p:nvSpPr>
        <p:spPr>
          <a:xfrm>
            <a:off x="685800" y="3017520"/>
            <a:ext cx="6583680" cy="402336"/>
          </a:xfrm>
          <a:prstGeom prst="rect">
            <a:avLst/>
          </a:prstGeom>
          <a:noFill/>
          <a:ln/>
        </p:spPr>
        <p:txBody>
          <a:bodyPr wrap="square" lIns="0" tIns="0" rIns="0" bIns="0" rtlCol="0" anchor="ctr"/>
          <a:lstStyle/>
          <a:p>
            <a:pPr indent="0" marL="0">
              <a:buNone/>
            </a:pPr>
            <a:r>
              <a:rPr lang="en-US" sz="1700" dirty="0">
                <a:solidFill>
                  <a:srgbClr val="8D9AAD"/>
                </a:solidFill>
                <a:latin typeface="Calibri" pitchFamily="34" charset="0"/>
                <a:ea typeface="Calibri" pitchFamily="34" charset="-122"/>
                <a:cs typeface="Calibri" pitchFamily="34" charset="-120"/>
              </a:rPr>
              <a:t>A first-person horror game about what is in the house</a:t>
            </a:r>
            <a:endParaRPr lang="en-US" sz="1700" dirty="0"/>
          </a:p>
        </p:txBody>
      </p:sp>
      <p:sp>
        <p:nvSpPr>
          <p:cNvPr id="4" name="Text 2"/>
          <p:cNvSpPr txBox="1"/>
          <p:nvPr/>
        </p:nvSpPr>
        <p:spPr>
          <a:xfrm>
            <a:off x="685800" y="3602736"/>
            <a:ext cx="6583680" cy="402336"/>
          </a:xfrm>
          <a:prstGeom prst="rect">
            <a:avLst/>
          </a:prstGeom>
          <a:noFill/>
          <a:ln/>
        </p:spPr>
        <p:txBody>
          <a:bodyPr wrap="square" lIns="0" tIns="0" rIns="0" bIns="0" rtlCol="0" anchor="ctr"/>
          <a:lstStyle/>
          <a:p>
            <a:pPr indent="0" marL="0">
              <a:buNone/>
            </a:pPr>
            <a:r>
              <a:rPr lang="en-US" sz="1700" i="1" dirty="0">
                <a:solidFill>
                  <a:srgbClr val="A9C6E4"/>
                </a:solidFill>
                <a:latin typeface="Calibri" pitchFamily="34" charset="0"/>
                <a:ea typeface="Calibri" pitchFamily="34" charset="-122"/>
                <a:cs typeface="Calibri" pitchFamily="34" charset="-120"/>
              </a:rPr>
              <a:t>You don't know what it is. That is the whole game.</a:t>
            </a:r>
            <a:endParaRPr lang="en-US" sz="1700" dirty="0"/>
          </a:p>
        </p:txBody>
      </p:sp>
      <p:sp>
        <p:nvSpPr>
          <p:cNvPr id="5" name="Text 3"/>
          <p:cNvSpPr txBox="1"/>
          <p:nvPr/>
        </p:nvSpPr>
        <p:spPr>
          <a:xfrm>
            <a:off x="685800" y="5358384"/>
            <a:ext cx="7315200" cy="292608"/>
          </a:xfrm>
          <a:prstGeom prst="rect">
            <a:avLst/>
          </a:prstGeom>
          <a:noFill/>
          <a:ln/>
        </p:spPr>
        <p:txBody>
          <a:bodyPr wrap="square" lIns="0" tIns="0" rIns="0" bIns="0" rtlCol="0" anchor="ctr"/>
          <a:lstStyle/>
          <a:p>
            <a:pPr indent="0" marL="0">
              <a:buNone/>
            </a:pPr>
            <a:r>
              <a:rPr lang="en-US" sz="1150" dirty="0">
                <a:solidFill>
                  <a:srgbClr val="5E6B7E"/>
                </a:solidFill>
                <a:latin typeface="Courier New" pitchFamily="34" charset="0"/>
                <a:ea typeface="Courier New" pitchFamily="34" charset="-122"/>
                <a:cs typeface="Courier New" pitchFamily="34" charset="-120"/>
              </a:rPr>
              <a:t>Unity 6   ·   Single player   ·   A playable build made in 8 days</a:t>
            </a:r>
            <a:endParaRPr lang="en-US" sz="1150" dirty="0"/>
          </a:p>
        </p:txBody>
      </p:sp>
      <p:sp>
        <p:nvSpPr>
          <p:cNvPr id="6" name="Text 4"/>
          <p:cNvSpPr txBox="1"/>
          <p:nvPr/>
        </p:nvSpPr>
        <p:spPr>
          <a:xfrm>
            <a:off x="685800" y="5705856"/>
            <a:ext cx="7315200" cy="292608"/>
          </a:xfrm>
          <a:prstGeom prst="rect">
            <a:avLst/>
          </a:prstGeom>
          <a:noFill/>
          <a:ln/>
        </p:spPr>
        <p:txBody>
          <a:bodyPr wrap="square" lIns="0" tIns="0" rIns="0" bIns="0" rtlCol="0" anchor="ctr"/>
          <a:lstStyle/>
          <a:p>
            <a:pPr indent="0" marL="0">
              <a:buNone/>
            </a:pPr>
            <a:r>
              <a:rPr lang="en-US" sz="1150" dirty="0">
                <a:solidFill>
                  <a:srgbClr val="5E6B7E"/>
                </a:solidFill>
                <a:latin typeface="Courier New" pitchFamily="34" charset="0"/>
                <a:ea typeface="Courier New" pitchFamily="34" charset="-122"/>
                <a:cs typeface="Courier New" pitchFamily="34" charset="-120"/>
              </a:rPr>
              <a:t>Made by 2 students   ·   Our first 3D game   ·   August 2026</a:t>
            </a:r>
            <a:endParaRPr lang="en-US" sz="1150" dirty="0"/>
          </a:p>
        </p:txBody>
      </p:sp>
      <p:sp>
        <p:nvSpPr>
          <p:cNvPr id="7" name="Shape 5"/>
          <p:cNvSpPr/>
          <p:nvPr/>
        </p:nvSpPr>
        <p:spPr>
          <a:xfrm>
            <a:off x="7863840" y="1874520"/>
            <a:ext cx="768096" cy="768096"/>
          </a:xfrm>
          <a:prstGeom prst="roundRect">
            <a:avLst>
              <a:gd name="adj" fmla="val 9524"/>
            </a:avLst>
          </a:prstGeom>
          <a:solidFill>
            <a:srgbClr val="7FA6CC"/>
          </a:solidFill>
          <a:ln w="12700">
            <a:solidFill>
              <a:srgbClr val="7FA6CC"/>
            </a:solidFill>
            <a:prstDash val="solid"/>
          </a:ln>
        </p:spPr>
      </p:sp>
      <p:sp>
        <p:nvSpPr>
          <p:cNvPr id="8" name="Shape 6"/>
          <p:cNvSpPr/>
          <p:nvPr/>
        </p:nvSpPr>
        <p:spPr>
          <a:xfrm>
            <a:off x="8778240" y="1874520"/>
            <a:ext cx="768096" cy="768096"/>
          </a:xfrm>
          <a:prstGeom prst="roundRect">
            <a:avLst>
              <a:gd name="adj" fmla="val 9524"/>
            </a:avLst>
          </a:prstGeom>
          <a:solidFill>
            <a:srgbClr val="7FA6CC"/>
          </a:solidFill>
          <a:ln w="12700">
            <a:solidFill>
              <a:srgbClr val="7FA6CC"/>
            </a:solidFill>
            <a:prstDash val="solid"/>
          </a:ln>
        </p:spPr>
      </p:sp>
      <p:sp>
        <p:nvSpPr>
          <p:cNvPr id="9" name="Shape 7"/>
          <p:cNvSpPr/>
          <p:nvPr/>
        </p:nvSpPr>
        <p:spPr>
          <a:xfrm>
            <a:off x="9692640" y="1874520"/>
            <a:ext cx="768096" cy="768096"/>
          </a:xfrm>
          <a:prstGeom prst="roundRect">
            <a:avLst>
              <a:gd name="adj" fmla="val 9524"/>
            </a:avLst>
          </a:prstGeom>
          <a:solidFill>
            <a:srgbClr val="0A0D13"/>
          </a:solidFill>
          <a:ln w="12700">
            <a:solidFill>
              <a:srgbClr val="222C3E"/>
            </a:solidFill>
            <a:prstDash val="solid"/>
          </a:ln>
        </p:spPr>
      </p:sp>
      <p:sp>
        <p:nvSpPr>
          <p:cNvPr id="10" name="Shape 8"/>
          <p:cNvSpPr/>
          <p:nvPr/>
        </p:nvSpPr>
        <p:spPr>
          <a:xfrm>
            <a:off x="7863840" y="2788920"/>
            <a:ext cx="768096" cy="768096"/>
          </a:xfrm>
          <a:prstGeom prst="roundRect">
            <a:avLst>
              <a:gd name="adj" fmla="val 9524"/>
            </a:avLst>
          </a:prstGeom>
          <a:solidFill>
            <a:srgbClr val="7FA6CC"/>
          </a:solidFill>
          <a:ln w="12700">
            <a:solidFill>
              <a:srgbClr val="7FA6CC"/>
            </a:solidFill>
            <a:prstDash val="solid"/>
          </a:ln>
        </p:spPr>
      </p:sp>
      <p:sp>
        <p:nvSpPr>
          <p:cNvPr id="11" name="Shape 9"/>
          <p:cNvSpPr/>
          <p:nvPr/>
        </p:nvSpPr>
        <p:spPr>
          <a:xfrm>
            <a:off x="8778240" y="2788920"/>
            <a:ext cx="768096" cy="768096"/>
          </a:xfrm>
          <a:prstGeom prst="roundRect">
            <a:avLst>
              <a:gd name="adj" fmla="val 9524"/>
            </a:avLst>
          </a:prstGeom>
          <a:solidFill>
            <a:srgbClr val="0A0D13"/>
          </a:solidFill>
          <a:ln w="12700">
            <a:solidFill>
              <a:srgbClr val="222C3E"/>
            </a:solidFill>
            <a:prstDash val="solid"/>
          </a:ln>
        </p:spPr>
      </p:sp>
      <p:sp>
        <p:nvSpPr>
          <p:cNvPr id="12" name="Shape 10"/>
          <p:cNvSpPr/>
          <p:nvPr/>
        </p:nvSpPr>
        <p:spPr>
          <a:xfrm>
            <a:off x="9692640" y="2788920"/>
            <a:ext cx="768096" cy="768096"/>
          </a:xfrm>
          <a:prstGeom prst="roundRect">
            <a:avLst>
              <a:gd name="adj" fmla="val 9524"/>
            </a:avLst>
          </a:prstGeom>
          <a:solidFill>
            <a:srgbClr val="7FA6CC"/>
          </a:solidFill>
          <a:ln w="12700">
            <a:solidFill>
              <a:srgbClr val="7FA6CC"/>
            </a:solidFill>
            <a:prstDash val="solid"/>
          </a:ln>
        </p:spPr>
      </p:sp>
      <p:sp>
        <p:nvSpPr>
          <p:cNvPr id="13" name="Shape 11"/>
          <p:cNvSpPr/>
          <p:nvPr/>
        </p:nvSpPr>
        <p:spPr>
          <a:xfrm>
            <a:off x="7863840" y="3703320"/>
            <a:ext cx="768096" cy="768096"/>
          </a:xfrm>
          <a:prstGeom prst="roundRect">
            <a:avLst>
              <a:gd name="adj" fmla="val 9524"/>
            </a:avLst>
          </a:prstGeom>
          <a:solidFill>
            <a:srgbClr val="0A0D13"/>
          </a:solidFill>
          <a:ln w="12700">
            <a:solidFill>
              <a:srgbClr val="222C3E"/>
            </a:solidFill>
            <a:prstDash val="solid"/>
          </a:ln>
        </p:spPr>
      </p:sp>
      <p:sp>
        <p:nvSpPr>
          <p:cNvPr id="14" name="Shape 12"/>
          <p:cNvSpPr/>
          <p:nvPr/>
        </p:nvSpPr>
        <p:spPr>
          <a:xfrm>
            <a:off x="8778240" y="3703320"/>
            <a:ext cx="768096" cy="768096"/>
          </a:xfrm>
          <a:prstGeom prst="roundRect">
            <a:avLst>
              <a:gd name="adj" fmla="val 9524"/>
            </a:avLst>
          </a:prstGeom>
          <a:solidFill>
            <a:srgbClr val="7FA6CC"/>
          </a:solidFill>
          <a:ln w="12700">
            <a:solidFill>
              <a:srgbClr val="7FA6CC"/>
            </a:solidFill>
            <a:prstDash val="solid"/>
          </a:ln>
        </p:spPr>
      </p:sp>
      <p:sp>
        <p:nvSpPr>
          <p:cNvPr id="15" name="Shape 13"/>
          <p:cNvSpPr/>
          <p:nvPr/>
        </p:nvSpPr>
        <p:spPr>
          <a:xfrm>
            <a:off x="9692640" y="3703320"/>
            <a:ext cx="768096" cy="768096"/>
          </a:xfrm>
          <a:prstGeom prst="roundRect">
            <a:avLst>
              <a:gd name="adj" fmla="val 9524"/>
            </a:avLst>
          </a:prstGeom>
          <a:solidFill>
            <a:srgbClr val="7FA6CC"/>
          </a:solidFill>
          <a:ln w="12700">
            <a:solidFill>
              <a:srgbClr val="7FA6CC"/>
            </a:solidFill>
            <a:prstDash val="solid"/>
          </a:ln>
        </p:spPr>
      </p:sp>
      <p:sp>
        <p:nvSpPr>
          <p:cNvPr id="16" name="Text 14"/>
          <p:cNvSpPr txBox="1"/>
          <p:nvPr/>
        </p:nvSpPr>
        <p:spPr>
          <a:xfrm>
            <a:off x="7589520" y="4690872"/>
            <a:ext cx="3840480" cy="658368"/>
          </a:xfrm>
          <a:prstGeom prst="rect">
            <a:avLst/>
          </a:prstGeom>
          <a:noFill/>
          <a:ln/>
        </p:spPr>
        <p:txBody>
          <a:bodyPr wrap="square" lIns="0" tIns="0" rIns="0" bIns="0" rtlCol="0" anchor="ctr"/>
          <a:lstStyle/>
          <a:p>
            <a:pPr algn="ctr" indent="0" marL="0">
              <a:lnSpc>
                <a:spcPts val="1900"/>
              </a:lnSpc>
              <a:buNone/>
            </a:pPr>
            <a:r>
              <a:rPr lang="en-US" sz="1250" dirty="0">
                <a:solidFill>
                  <a:srgbClr val="8D9AAD"/>
                </a:solidFill>
                <a:latin typeface="Calibri" pitchFamily="34" charset="0"/>
                <a:ea typeface="Calibri" pitchFamily="34" charset="-122"/>
                <a:cs typeface="Calibri" pitchFamily="34" charset="-120"/>
              </a:rPr>
              <a:t>3 ghosts  ×  3 kinds of evidence</a:t>
            </a:r>
            <a:endParaRPr lang="en-US" sz="1250" dirty="0"/>
          </a:p>
          <a:p>
            <a:pPr algn="ctr" indent="0" marL="0">
              <a:lnSpc>
                <a:spcPts val="1900"/>
              </a:lnSpc>
              <a:buNone/>
            </a:pPr>
            <a:r>
              <a:rPr lang="en-US" sz="1250" dirty="0">
                <a:solidFill>
                  <a:srgbClr val="8D9AAD"/>
                </a:solidFill>
                <a:latin typeface="Calibri" pitchFamily="34" charset="0"/>
                <a:ea typeface="Calibri" pitchFamily="34" charset="-122"/>
                <a:cs typeface="Calibri" pitchFamily="34" charset="-120"/>
              </a:rPr>
              <a:t>Every ghost has exactly two</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02 — PREMISE</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02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The game in one sentence</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If we only get to say one thing, this is it</a:t>
            </a:r>
            <a:endParaRPr lang="en-US" sz="1450" dirty="0"/>
          </a:p>
        </p:txBody>
      </p:sp>
      <p:sp>
        <p:nvSpPr>
          <p:cNvPr id="6" name="Shape 4"/>
          <p:cNvSpPr/>
          <p:nvPr/>
        </p:nvSpPr>
        <p:spPr>
          <a:xfrm>
            <a:off x="685800" y="1847088"/>
            <a:ext cx="10820095" cy="1371600"/>
          </a:xfrm>
          <a:prstGeom prst="roundRect">
            <a:avLst>
              <a:gd name="adj" fmla="val 4000"/>
            </a:avLst>
          </a:prstGeom>
          <a:solidFill>
            <a:srgbClr val="161D2A"/>
          </a:solidFill>
          <a:ln w="9525">
            <a:solidFill>
              <a:srgbClr val="222C3E"/>
            </a:solidFill>
            <a:prstDash val="solid"/>
          </a:ln>
        </p:spPr>
      </p:sp>
      <p:sp>
        <p:nvSpPr>
          <p:cNvPr id="7" name="Text 5"/>
          <p:cNvSpPr txBox="1"/>
          <p:nvPr/>
        </p:nvSpPr>
        <p:spPr>
          <a:xfrm>
            <a:off x="1143000" y="2121408"/>
            <a:ext cx="9905695" cy="914400"/>
          </a:xfrm>
          <a:prstGeom prst="rect">
            <a:avLst/>
          </a:prstGeom>
          <a:noFill/>
          <a:ln/>
        </p:spPr>
        <p:txBody>
          <a:bodyPr wrap="square" lIns="0" tIns="0" rIns="0" bIns="0" rtlCol="0" anchor="ctr"/>
          <a:lstStyle/>
          <a:p>
            <a:pPr indent="0" marL="0">
              <a:lnSpc>
                <a:spcPts val="3000"/>
              </a:lnSpc>
              <a:buNone/>
            </a:pPr>
            <a:r>
              <a:rPr lang="en-US" sz="1900" dirty="0">
                <a:solidFill>
                  <a:srgbClr val="E9EDF3"/>
                </a:solidFill>
                <a:latin typeface="Calibri" pitchFamily="34" charset="0"/>
                <a:ea typeface="Calibri" pitchFamily="34" charset="-122"/>
                <a:cs typeface="Calibri" pitchFamily="34" charset="-120"/>
              </a:rPr>
              <a:t>You go into a house you should not be in, carrying three tools. Before your sanity runs out, you have to work out what is haunting it and get back out alive.</a:t>
            </a:r>
            <a:endParaRPr lang="en-US" sz="1900" dirty="0"/>
          </a:p>
        </p:txBody>
      </p:sp>
      <p:sp>
        <p:nvSpPr>
          <p:cNvPr id="8" name="Shape 6"/>
          <p:cNvSpPr/>
          <p:nvPr/>
        </p:nvSpPr>
        <p:spPr>
          <a:xfrm>
            <a:off x="685800" y="3584448"/>
            <a:ext cx="2485568" cy="1572768"/>
          </a:xfrm>
          <a:prstGeom prst="roundRect">
            <a:avLst>
              <a:gd name="adj" fmla="val 3488"/>
            </a:avLst>
          </a:prstGeom>
          <a:solidFill>
            <a:srgbClr val="161D2A"/>
          </a:solidFill>
          <a:ln w="9525">
            <a:solidFill>
              <a:srgbClr val="222C3E"/>
            </a:solidFill>
            <a:prstDash val="solid"/>
          </a:ln>
        </p:spPr>
      </p:sp>
      <p:sp>
        <p:nvSpPr>
          <p:cNvPr id="9" name="Text 7"/>
          <p:cNvSpPr txBox="1"/>
          <p:nvPr/>
        </p:nvSpPr>
        <p:spPr>
          <a:xfrm>
            <a:off x="685800" y="3712464"/>
            <a:ext cx="2485568" cy="786384"/>
          </a:xfrm>
          <a:prstGeom prst="rect">
            <a:avLst/>
          </a:prstGeom>
          <a:noFill/>
          <a:ln/>
        </p:spPr>
        <p:txBody>
          <a:bodyPr wrap="square" lIns="0" tIns="0" rIns="0" bIns="0" rtlCol="0" anchor="ctr"/>
          <a:lstStyle/>
          <a:p>
            <a:pPr algn="ctr" indent="0" marL="0">
              <a:buNone/>
            </a:pPr>
            <a:r>
              <a:rPr lang="en-US" sz="4600" b="1" dirty="0">
                <a:solidFill>
                  <a:srgbClr val="A9C6E4"/>
                </a:solidFill>
                <a:latin typeface="Cambria" pitchFamily="34" charset="0"/>
                <a:ea typeface="Cambria" pitchFamily="34" charset="-122"/>
                <a:cs typeface="Cambria" pitchFamily="34" charset="-120"/>
              </a:rPr>
              <a:t>8–12</a:t>
            </a:r>
            <a:endParaRPr lang="en-US" sz="4600" dirty="0"/>
          </a:p>
        </p:txBody>
      </p:sp>
      <p:sp>
        <p:nvSpPr>
          <p:cNvPr id="10" name="Text 8"/>
          <p:cNvSpPr txBox="1"/>
          <p:nvPr/>
        </p:nvSpPr>
        <p:spPr>
          <a:xfrm>
            <a:off x="832104" y="4517136"/>
            <a:ext cx="2192960" cy="548640"/>
          </a:xfrm>
          <a:prstGeom prst="rect">
            <a:avLst/>
          </a:prstGeom>
          <a:noFill/>
          <a:ln/>
        </p:spPr>
        <p:txBody>
          <a:bodyPr wrap="square" lIns="0" tIns="0" rIns="0" bIns="0" rtlCol="0" anchor="ctr"/>
          <a:lstStyle/>
          <a:p>
            <a:pPr algn="ctr" indent="0" marL="0">
              <a:buNone/>
            </a:pPr>
            <a:r>
              <a:rPr lang="en-US" sz="1300" dirty="0">
                <a:solidFill>
                  <a:srgbClr val="8D9AAD"/>
                </a:solidFill>
                <a:latin typeface="Calibri" pitchFamily="34" charset="0"/>
                <a:ea typeface="Calibri" pitchFamily="34" charset="-122"/>
                <a:cs typeface="Calibri" pitchFamily="34" charset="-120"/>
              </a:rPr>
              <a:t>minutes per game</a:t>
            </a:r>
            <a:endParaRPr lang="en-US" sz="1300" dirty="0"/>
          </a:p>
        </p:txBody>
      </p:sp>
      <p:sp>
        <p:nvSpPr>
          <p:cNvPr id="11" name="Shape 9"/>
          <p:cNvSpPr/>
          <p:nvPr/>
        </p:nvSpPr>
        <p:spPr>
          <a:xfrm>
            <a:off x="3463976" y="3584448"/>
            <a:ext cx="2485568" cy="1572768"/>
          </a:xfrm>
          <a:prstGeom prst="roundRect">
            <a:avLst>
              <a:gd name="adj" fmla="val 3488"/>
            </a:avLst>
          </a:prstGeom>
          <a:solidFill>
            <a:srgbClr val="161D2A"/>
          </a:solidFill>
          <a:ln w="9525">
            <a:solidFill>
              <a:srgbClr val="222C3E"/>
            </a:solidFill>
            <a:prstDash val="solid"/>
          </a:ln>
        </p:spPr>
      </p:sp>
      <p:sp>
        <p:nvSpPr>
          <p:cNvPr id="12" name="Text 10"/>
          <p:cNvSpPr txBox="1"/>
          <p:nvPr/>
        </p:nvSpPr>
        <p:spPr>
          <a:xfrm>
            <a:off x="3463976" y="3712464"/>
            <a:ext cx="2485568" cy="786384"/>
          </a:xfrm>
          <a:prstGeom prst="rect">
            <a:avLst/>
          </a:prstGeom>
          <a:noFill/>
          <a:ln/>
        </p:spPr>
        <p:txBody>
          <a:bodyPr wrap="square" lIns="0" tIns="0" rIns="0" bIns="0" rtlCol="0" anchor="ctr"/>
          <a:lstStyle/>
          <a:p>
            <a:pPr algn="ctr" indent="0" marL="0">
              <a:buNone/>
            </a:pPr>
            <a:r>
              <a:rPr lang="en-US" sz="4600" b="1" dirty="0">
                <a:solidFill>
                  <a:srgbClr val="A9C6E4"/>
                </a:solidFill>
                <a:latin typeface="Cambria" pitchFamily="34" charset="0"/>
                <a:ea typeface="Cambria" pitchFamily="34" charset="-122"/>
                <a:cs typeface="Cambria" pitchFamily="34" charset="-120"/>
              </a:rPr>
              <a:t>3</a:t>
            </a:r>
            <a:endParaRPr lang="en-US" sz="4600" dirty="0"/>
          </a:p>
        </p:txBody>
      </p:sp>
      <p:sp>
        <p:nvSpPr>
          <p:cNvPr id="13" name="Text 11"/>
          <p:cNvSpPr txBox="1"/>
          <p:nvPr/>
        </p:nvSpPr>
        <p:spPr>
          <a:xfrm>
            <a:off x="3610280" y="4517136"/>
            <a:ext cx="2192960" cy="548640"/>
          </a:xfrm>
          <a:prstGeom prst="rect">
            <a:avLst/>
          </a:prstGeom>
          <a:noFill/>
          <a:ln/>
        </p:spPr>
        <p:txBody>
          <a:bodyPr wrap="square" lIns="0" tIns="0" rIns="0" bIns="0" rtlCol="0" anchor="ctr"/>
          <a:lstStyle/>
          <a:p>
            <a:pPr algn="ctr" indent="0" marL="0">
              <a:buNone/>
            </a:pPr>
            <a:r>
              <a:rPr lang="en-US" sz="1300" dirty="0">
                <a:solidFill>
                  <a:srgbClr val="8D9AAD"/>
                </a:solidFill>
                <a:latin typeface="Calibri" pitchFamily="34" charset="0"/>
                <a:ea typeface="Calibri" pitchFamily="34" charset="-122"/>
                <a:cs typeface="Calibri" pitchFamily="34" charset="-120"/>
              </a:rPr>
              <a:t>ghosts</a:t>
            </a:r>
            <a:endParaRPr lang="en-US" sz="1300" dirty="0"/>
          </a:p>
        </p:txBody>
      </p:sp>
      <p:sp>
        <p:nvSpPr>
          <p:cNvPr id="14" name="Shape 12"/>
          <p:cNvSpPr/>
          <p:nvPr/>
        </p:nvSpPr>
        <p:spPr>
          <a:xfrm>
            <a:off x="6242152" y="3584448"/>
            <a:ext cx="2485568" cy="1572768"/>
          </a:xfrm>
          <a:prstGeom prst="roundRect">
            <a:avLst>
              <a:gd name="adj" fmla="val 3488"/>
            </a:avLst>
          </a:prstGeom>
          <a:solidFill>
            <a:srgbClr val="161D2A"/>
          </a:solidFill>
          <a:ln w="9525">
            <a:solidFill>
              <a:srgbClr val="222C3E"/>
            </a:solidFill>
            <a:prstDash val="solid"/>
          </a:ln>
        </p:spPr>
      </p:sp>
      <p:sp>
        <p:nvSpPr>
          <p:cNvPr id="15" name="Text 13"/>
          <p:cNvSpPr txBox="1"/>
          <p:nvPr/>
        </p:nvSpPr>
        <p:spPr>
          <a:xfrm>
            <a:off x="6242152" y="3712464"/>
            <a:ext cx="2485568" cy="786384"/>
          </a:xfrm>
          <a:prstGeom prst="rect">
            <a:avLst/>
          </a:prstGeom>
          <a:noFill/>
          <a:ln/>
        </p:spPr>
        <p:txBody>
          <a:bodyPr wrap="square" lIns="0" tIns="0" rIns="0" bIns="0" rtlCol="0" anchor="ctr"/>
          <a:lstStyle/>
          <a:p>
            <a:pPr algn="ctr" indent="0" marL="0">
              <a:buNone/>
            </a:pPr>
            <a:r>
              <a:rPr lang="en-US" sz="4600" b="1" dirty="0">
                <a:solidFill>
                  <a:srgbClr val="A9C6E4"/>
                </a:solidFill>
                <a:latin typeface="Cambria" pitchFamily="34" charset="0"/>
                <a:ea typeface="Cambria" pitchFamily="34" charset="-122"/>
                <a:cs typeface="Cambria" pitchFamily="34" charset="-120"/>
              </a:rPr>
              <a:t>3</a:t>
            </a:r>
            <a:endParaRPr lang="en-US" sz="4600" dirty="0"/>
          </a:p>
        </p:txBody>
      </p:sp>
      <p:sp>
        <p:nvSpPr>
          <p:cNvPr id="16" name="Text 14"/>
          <p:cNvSpPr txBox="1"/>
          <p:nvPr/>
        </p:nvSpPr>
        <p:spPr>
          <a:xfrm>
            <a:off x="6388456" y="4517136"/>
            <a:ext cx="2192960" cy="548640"/>
          </a:xfrm>
          <a:prstGeom prst="rect">
            <a:avLst/>
          </a:prstGeom>
          <a:noFill/>
          <a:ln/>
        </p:spPr>
        <p:txBody>
          <a:bodyPr wrap="square" lIns="0" tIns="0" rIns="0" bIns="0" rtlCol="0" anchor="ctr"/>
          <a:lstStyle/>
          <a:p>
            <a:pPr algn="ctr" indent="0" marL="0">
              <a:buNone/>
            </a:pPr>
            <a:r>
              <a:rPr lang="en-US" sz="1300" dirty="0">
                <a:solidFill>
                  <a:srgbClr val="8D9AAD"/>
                </a:solidFill>
                <a:latin typeface="Calibri" pitchFamily="34" charset="0"/>
                <a:ea typeface="Calibri" pitchFamily="34" charset="-122"/>
                <a:cs typeface="Calibri" pitchFamily="34" charset="-120"/>
              </a:rPr>
              <a:t>kinds of evidence</a:t>
            </a:r>
            <a:endParaRPr lang="en-US" sz="1300" dirty="0"/>
          </a:p>
        </p:txBody>
      </p:sp>
      <p:sp>
        <p:nvSpPr>
          <p:cNvPr id="17" name="Shape 15"/>
          <p:cNvSpPr/>
          <p:nvPr/>
        </p:nvSpPr>
        <p:spPr>
          <a:xfrm>
            <a:off x="9020327" y="3584448"/>
            <a:ext cx="2485568" cy="1572768"/>
          </a:xfrm>
          <a:prstGeom prst="roundRect">
            <a:avLst>
              <a:gd name="adj" fmla="val 3488"/>
            </a:avLst>
          </a:prstGeom>
          <a:solidFill>
            <a:srgbClr val="161D2A"/>
          </a:solidFill>
          <a:ln w="9525">
            <a:solidFill>
              <a:srgbClr val="222C3E"/>
            </a:solidFill>
            <a:prstDash val="solid"/>
          </a:ln>
        </p:spPr>
      </p:sp>
      <p:sp>
        <p:nvSpPr>
          <p:cNvPr id="18" name="Text 16"/>
          <p:cNvSpPr txBox="1"/>
          <p:nvPr/>
        </p:nvSpPr>
        <p:spPr>
          <a:xfrm>
            <a:off x="9020327" y="3712464"/>
            <a:ext cx="2485568" cy="786384"/>
          </a:xfrm>
          <a:prstGeom prst="rect">
            <a:avLst/>
          </a:prstGeom>
          <a:noFill/>
          <a:ln/>
        </p:spPr>
        <p:txBody>
          <a:bodyPr wrap="square" lIns="0" tIns="0" rIns="0" bIns="0" rtlCol="0" anchor="ctr"/>
          <a:lstStyle/>
          <a:p>
            <a:pPr algn="ctr" indent="0" marL="0">
              <a:buNone/>
            </a:pPr>
            <a:r>
              <a:rPr lang="en-US" sz="4600" b="1" dirty="0">
                <a:solidFill>
                  <a:srgbClr val="A9C6E4"/>
                </a:solidFill>
                <a:latin typeface="Cambria" pitchFamily="34" charset="0"/>
                <a:ea typeface="Cambria" pitchFamily="34" charset="-122"/>
                <a:cs typeface="Cambria" pitchFamily="34" charset="-120"/>
              </a:rPr>
              <a:t>2</a:t>
            </a:r>
            <a:endParaRPr lang="en-US" sz="4600" dirty="0"/>
          </a:p>
        </p:txBody>
      </p:sp>
      <p:sp>
        <p:nvSpPr>
          <p:cNvPr id="19" name="Text 17"/>
          <p:cNvSpPr txBox="1"/>
          <p:nvPr/>
        </p:nvSpPr>
        <p:spPr>
          <a:xfrm>
            <a:off x="9166631" y="4517136"/>
            <a:ext cx="2192960" cy="548640"/>
          </a:xfrm>
          <a:prstGeom prst="rect">
            <a:avLst/>
          </a:prstGeom>
          <a:noFill/>
          <a:ln/>
        </p:spPr>
        <p:txBody>
          <a:bodyPr wrap="square" lIns="0" tIns="0" rIns="0" bIns="0" rtlCol="0" anchor="ctr"/>
          <a:lstStyle/>
          <a:p>
            <a:pPr algn="ctr" indent="0" marL="0">
              <a:buNone/>
            </a:pPr>
            <a:r>
              <a:rPr lang="en-US" sz="1300" dirty="0">
                <a:solidFill>
                  <a:srgbClr val="8D9AAD"/>
                </a:solidFill>
                <a:latin typeface="Calibri" pitchFamily="34" charset="0"/>
                <a:ea typeface="Calibri" pitchFamily="34" charset="-122"/>
                <a:cs typeface="Calibri" pitchFamily="34" charset="-120"/>
              </a:rPr>
              <a:t>clues give you the answer</a:t>
            </a:r>
            <a:endParaRPr lang="en-US" sz="1300" dirty="0"/>
          </a:p>
        </p:txBody>
      </p:sp>
      <p:sp>
        <p:nvSpPr>
          <p:cNvPr id="20" name="Text 18"/>
          <p:cNvSpPr txBox="1"/>
          <p:nvPr/>
        </p:nvSpPr>
        <p:spPr>
          <a:xfrm>
            <a:off x="685800" y="6126480"/>
            <a:ext cx="9265615" cy="384048"/>
          </a:xfrm>
          <a:prstGeom prst="rect">
            <a:avLst/>
          </a:prstGeom>
          <a:noFill/>
          <a:ln/>
        </p:spPr>
        <p:txBody>
          <a:bodyPr wrap="square" lIns="0" tIns="0" rIns="0" bIns="0" rtlCol="0" anchor="ctr"/>
          <a:lstStyle/>
          <a:p>
            <a:pPr indent="0" marL="0">
              <a:buNone/>
            </a:pPr>
            <a:r>
              <a:rPr lang="en-US" sz="1300" i="1" dirty="0">
                <a:solidFill>
                  <a:srgbClr val="8D9AAD"/>
                </a:solidFill>
                <a:latin typeface="Calibri" pitchFamily="34" charset="0"/>
                <a:ea typeface="Calibri" pitchFamily="34" charset="-122"/>
                <a:cs typeface="Calibri" pitchFamily="34" charset="-120"/>
              </a:rPr>
              <a:t>We looked at Phasmophobia. We copied the way it makes you think, not the amount of stuff in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03 — SCOPE</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03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Choice one: keep it small on purpose</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More content does not mean more fun</a:t>
            </a:r>
            <a:endParaRPr lang="en-US" sz="1450" dirty="0"/>
          </a:p>
        </p:txBody>
      </p:sp>
      <p:sp>
        <p:nvSpPr>
          <p:cNvPr id="6" name="Shape 4"/>
          <p:cNvSpPr/>
          <p:nvPr/>
        </p:nvSpPr>
        <p:spPr>
          <a:xfrm>
            <a:off x="685800" y="1883664"/>
            <a:ext cx="5181448" cy="2148840"/>
          </a:xfrm>
          <a:prstGeom prst="roundRect">
            <a:avLst>
              <a:gd name="adj" fmla="val 2553"/>
            </a:avLst>
          </a:prstGeom>
          <a:solidFill>
            <a:srgbClr val="161D2A"/>
          </a:solidFill>
          <a:ln w="9525">
            <a:solidFill>
              <a:srgbClr val="222C3E"/>
            </a:solidFill>
            <a:prstDash val="solid"/>
          </a:ln>
        </p:spPr>
      </p:sp>
      <p:sp>
        <p:nvSpPr>
          <p:cNvPr id="7" name="Text 5"/>
          <p:cNvSpPr txBox="1"/>
          <p:nvPr/>
        </p:nvSpPr>
        <p:spPr>
          <a:xfrm>
            <a:off x="996696" y="2066544"/>
            <a:ext cx="4559656" cy="329184"/>
          </a:xfrm>
          <a:prstGeom prst="rect">
            <a:avLst/>
          </a:prstGeom>
          <a:noFill/>
          <a:ln/>
        </p:spPr>
        <p:txBody>
          <a:bodyPr wrap="square" lIns="0" tIns="0" rIns="0" bIns="0" rtlCol="0" anchor="ctr"/>
          <a:lstStyle/>
          <a:p>
            <a:pPr indent="0" marL="0">
              <a:buNone/>
            </a:pPr>
            <a:r>
              <a:rPr lang="en-US" sz="1800" b="1" dirty="0">
                <a:solidFill>
                  <a:srgbClr val="8D9AAD"/>
                </a:solidFill>
                <a:latin typeface="Cambria" pitchFamily="34" charset="0"/>
                <a:ea typeface="Cambria" pitchFamily="34" charset="-122"/>
                <a:cs typeface="Cambria" pitchFamily="34" charset="-120"/>
              </a:rPr>
              <a:t>Phasmophobia</a:t>
            </a:r>
            <a:endParaRPr lang="en-US" sz="1800" dirty="0"/>
          </a:p>
        </p:txBody>
      </p:sp>
      <p:sp>
        <p:nvSpPr>
          <p:cNvPr id="8" name="Text 6"/>
          <p:cNvSpPr txBox="1"/>
          <p:nvPr/>
        </p:nvSpPr>
        <p:spPr>
          <a:xfrm>
            <a:off x="996696" y="2523744"/>
            <a:ext cx="4559656" cy="1371600"/>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E6B7E"/>
                </a:solidFill>
                <a:latin typeface="Calibri" pitchFamily="34" charset="0"/>
                <a:ea typeface="Calibri" pitchFamily="34" charset="-122"/>
                <a:cs typeface="Calibri" pitchFamily="34" charset="-120"/>
              </a:rPr>
              <a:t>24 ghosts</a:t>
            </a:r>
            <a:endParaRPr lang="en-US" sz="1400" dirty="0"/>
          </a:p>
          <a:p>
            <a:pPr marL="342900" indent="-342900">
              <a:spcAft>
                <a:spcPts val="700"/>
              </a:spcAft>
              <a:buSzPct val="100000"/>
              <a:buChar char="•"/>
            </a:pPr>
            <a:r>
              <a:rPr lang="en-US" sz="1400" dirty="0">
                <a:solidFill>
                  <a:srgbClr val="5E6B7E"/>
                </a:solidFill>
                <a:latin typeface="Calibri" pitchFamily="34" charset="0"/>
                <a:ea typeface="Calibri" pitchFamily="34" charset="-122"/>
                <a:cs typeface="Calibri" pitchFamily="34" charset="-120"/>
              </a:rPr>
              <a:t>7 kinds of evidence</a:t>
            </a:r>
            <a:endParaRPr lang="en-US" sz="1400" dirty="0"/>
          </a:p>
          <a:p>
            <a:pPr marL="342900" indent="-342900">
              <a:spcAft>
                <a:spcPts val="700"/>
              </a:spcAft>
              <a:buSzPct val="100000"/>
              <a:buChar char="•"/>
            </a:pPr>
            <a:r>
              <a:rPr lang="en-US" sz="1400" dirty="0">
                <a:solidFill>
                  <a:srgbClr val="5E6B7E"/>
                </a:solidFill>
                <a:latin typeface="Calibri" pitchFamily="34" charset="0"/>
                <a:ea typeface="Calibri" pitchFamily="34" charset="-122"/>
                <a:cs typeface="Calibri" pitchFamily="34" charset="-120"/>
              </a:rPr>
              <a:t>More than 40 tools</a:t>
            </a:r>
            <a:endParaRPr lang="en-US" sz="1400" dirty="0"/>
          </a:p>
          <a:p>
            <a:pPr marL="342900" indent="-342900">
              <a:spcAft>
                <a:spcPts val="700"/>
              </a:spcAft>
              <a:buSzPct val="100000"/>
              <a:buChar char="•"/>
            </a:pPr>
            <a:r>
              <a:rPr lang="en-US" sz="1400" dirty="0">
                <a:solidFill>
                  <a:srgbClr val="5E6B7E"/>
                </a:solidFill>
                <a:latin typeface="Calibri" pitchFamily="34" charset="0"/>
                <a:ea typeface="Calibri" pitchFamily="34" charset="-122"/>
                <a:cs typeface="Calibri" pitchFamily="34" charset="-120"/>
              </a:rPr>
              <a:t>Ghosts share clues, so players still guess</a:t>
            </a:r>
            <a:endParaRPr lang="en-US" sz="1400" dirty="0"/>
          </a:p>
        </p:txBody>
      </p:sp>
      <p:sp>
        <p:nvSpPr>
          <p:cNvPr id="9" name="Shape 7"/>
          <p:cNvSpPr/>
          <p:nvPr/>
        </p:nvSpPr>
        <p:spPr>
          <a:xfrm>
            <a:off x="6324448" y="1883664"/>
            <a:ext cx="5181448" cy="2148840"/>
          </a:xfrm>
          <a:prstGeom prst="roundRect">
            <a:avLst>
              <a:gd name="adj" fmla="val 2553"/>
            </a:avLst>
          </a:prstGeom>
          <a:solidFill>
            <a:srgbClr val="222C3E"/>
          </a:solidFill>
          <a:ln w="9525">
            <a:solidFill>
              <a:srgbClr val="222C3E"/>
            </a:solidFill>
            <a:prstDash val="solid"/>
          </a:ln>
        </p:spPr>
      </p:sp>
      <p:sp>
        <p:nvSpPr>
          <p:cNvPr id="10" name="Text 8"/>
          <p:cNvSpPr txBox="1"/>
          <p:nvPr/>
        </p:nvSpPr>
        <p:spPr>
          <a:xfrm>
            <a:off x="6635344" y="2066544"/>
            <a:ext cx="4559656" cy="329184"/>
          </a:xfrm>
          <a:prstGeom prst="rect">
            <a:avLst/>
          </a:prstGeom>
          <a:noFill/>
          <a:ln/>
        </p:spPr>
        <p:txBody>
          <a:bodyPr wrap="square" lIns="0" tIns="0" rIns="0" bIns="0" rtlCol="0" anchor="ctr"/>
          <a:lstStyle/>
          <a:p>
            <a:pPr indent="0" marL="0">
              <a:buNone/>
            </a:pPr>
            <a:r>
              <a:rPr lang="en-US" sz="1800" b="1" dirty="0">
                <a:solidFill>
                  <a:srgbClr val="A9C6E4"/>
                </a:solidFill>
                <a:latin typeface="Cambria" pitchFamily="34" charset="0"/>
                <a:ea typeface="Cambria" pitchFamily="34" charset="-122"/>
                <a:cs typeface="Cambria" pitchFamily="34" charset="-120"/>
              </a:rPr>
              <a:t>Residuum</a:t>
            </a:r>
            <a:endParaRPr lang="en-US" sz="1800" dirty="0"/>
          </a:p>
        </p:txBody>
      </p:sp>
      <p:sp>
        <p:nvSpPr>
          <p:cNvPr id="11" name="Text 9"/>
          <p:cNvSpPr txBox="1"/>
          <p:nvPr/>
        </p:nvSpPr>
        <p:spPr>
          <a:xfrm>
            <a:off x="6635344" y="2523744"/>
            <a:ext cx="4559656" cy="1371600"/>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E9EDF3"/>
                </a:solidFill>
                <a:latin typeface="Calibri" pitchFamily="34" charset="0"/>
                <a:ea typeface="Calibri" pitchFamily="34" charset="-122"/>
                <a:cs typeface="Calibri" pitchFamily="34" charset="-120"/>
              </a:rPr>
              <a:t>3 ghosts</a:t>
            </a:r>
            <a:endParaRPr lang="en-US" sz="1400" dirty="0"/>
          </a:p>
          <a:p>
            <a:pPr marL="342900" indent="-342900">
              <a:spcAft>
                <a:spcPts val="700"/>
              </a:spcAft>
              <a:buSzPct val="100000"/>
              <a:buChar char="•"/>
            </a:pPr>
            <a:r>
              <a:rPr lang="en-US" sz="1400" dirty="0">
                <a:solidFill>
                  <a:srgbClr val="E9EDF3"/>
                </a:solidFill>
                <a:latin typeface="Calibri" pitchFamily="34" charset="0"/>
                <a:ea typeface="Calibri" pitchFamily="34" charset="-122"/>
                <a:cs typeface="Calibri" pitchFamily="34" charset="-120"/>
              </a:rPr>
              <a:t>3 kinds of evidence</a:t>
            </a:r>
            <a:endParaRPr lang="en-US" sz="1400" dirty="0"/>
          </a:p>
          <a:p>
            <a:pPr marL="342900" indent="-342900">
              <a:spcAft>
                <a:spcPts val="700"/>
              </a:spcAft>
              <a:buSzPct val="100000"/>
              <a:buChar char="•"/>
            </a:pPr>
            <a:r>
              <a:rPr lang="en-US" sz="1400" dirty="0">
                <a:solidFill>
                  <a:srgbClr val="E9EDF3"/>
                </a:solidFill>
                <a:latin typeface="Calibri" pitchFamily="34" charset="0"/>
                <a:ea typeface="Calibri" pitchFamily="34" charset="-122"/>
                <a:cs typeface="Calibri" pitchFamily="34" charset="-120"/>
              </a:rPr>
              <a:t>4 tools and one notebook</a:t>
            </a:r>
            <a:endParaRPr lang="en-US" sz="1400" dirty="0"/>
          </a:p>
          <a:p>
            <a:pPr marL="342900" indent="-342900">
              <a:spcAft>
                <a:spcPts val="700"/>
              </a:spcAft>
              <a:buSzPct val="100000"/>
              <a:buChar char="•"/>
            </a:pPr>
            <a:r>
              <a:rPr lang="en-US" sz="1400" dirty="0">
                <a:solidFill>
                  <a:srgbClr val="E9EDF3"/>
                </a:solidFill>
                <a:latin typeface="Calibri" pitchFamily="34" charset="0"/>
                <a:ea typeface="Calibri" pitchFamily="34" charset="-122"/>
                <a:cs typeface="Calibri" pitchFamily="34" charset="-120"/>
              </a:rPr>
              <a:t>No sharing problem. Two clues, one answer</a:t>
            </a:r>
            <a:endParaRPr lang="en-US" sz="1400" dirty="0"/>
          </a:p>
        </p:txBody>
      </p:sp>
      <p:sp>
        <p:nvSpPr>
          <p:cNvPr id="12" name="Text 10"/>
          <p:cNvSpPr txBox="1"/>
          <p:nvPr/>
        </p:nvSpPr>
        <p:spPr>
          <a:xfrm>
            <a:off x="685800" y="4315968"/>
            <a:ext cx="10820095" cy="310896"/>
          </a:xfrm>
          <a:prstGeom prst="rect">
            <a:avLst/>
          </a:prstGeom>
          <a:noFill/>
          <a:ln/>
        </p:spPr>
        <p:txBody>
          <a:bodyPr wrap="square" lIns="0" tIns="0" rIns="0" bIns="0" rtlCol="0" anchor="ctr"/>
          <a:lstStyle/>
          <a:p>
            <a:pPr indent="0" marL="0">
              <a:buNone/>
            </a:pPr>
            <a:r>
              <a:rPr lang="en-US" sz="1500" dirty="0">
                <a:solidFill>
                  <a:srgbClr val="E9EDF3"/>
                </a:solidFill>
                <a:latin typeface="Calibri" pitchFamily="34" charset="0"/>
                <a:ea typeface="Calibri" pitchFamily="34" charset="-122"/>
                <a:cs typeface="Calibri" pitchFamily="34" charset="-120"/>
              </a:rPr>
              <a:t>We think that game is fun for three reasons. All three still work when the game is small:</a:t>
            </a:r>
            <a:endParaRPr lang="en-US" sz="1500" dirty="0"/>
          </a:p>
        </p:txBody>
      </p:sp>
      <p:sp>
        <p:nvSpPr>
          <p:cNvPr id="13" name="Shape 11"/>
          <p:cNvSpPr/>
          <p:nvPr/>
        </p:nvSpPr>
        <p:spPr>
          <a:xfrm>
            <a:off x="685800" y="4754880"/>
            <a:ext cx="3411626" cy="1207008"/>
          </a:xfrm>
          <a:prstGeom prst="roundRect">
            <a:avLst>
              <a:gd name="adj" fmla="val 4545"/>
            </a:avLst>
          </a:prstGeom>
          <a:solidFill>
            <a:srgbClr val="161D2A"/>
          </a:solidFill>
          <a:ln w="9525">
            <a:solidFill>
              <a:srgbClr val="222C3E"/>
            </a:solidFill>
            <a:prstDash val="solid"/>
          </a:ln>
        </p:spPr>
      </p:sp>
      <p:sp>
        <p:nvSpPr>
          <p:cNvPr id="14" name="Text 12"/>
          <p:cNvSpPr txBox="1"/>
          <p:nvPr/>
        </p:nvSpPr>
        <p:spPr>
          <a:xfrm>
            <a:off x="923544" y="4882896"/>
            <a:ext cx="2936138" cy="292608"/>
          </a:xfrm>
          <a:prstGeom prst="rect">
            <a:avLst/>
          </a:prstGeom>
          <a:noFill/>
          <a:ln/>
        </p:spPr>
        <p:txBody>
          <a:bodyPr wrap="square" lIns="0" tIns="0" rIns="0" bIns="0" rtlCol="0" anchor="ctr"/>
          <a:lstStyle/>
          <a:p>
            <a:pPr indent="0" marL="0">
              <a:buNone/>
            </a:pPr>
            <a:r>
              <a:rPr lang="en-US" sz="1550" b="1" dirty="0">
                <a:solidFill>
                  <a:srgbClr val="A9C6E4"/>
                </a:solidFill>
                <a:latin typeface="Calibri" pitchFamily="34" charset="0"/>
                <a:ea typeface="Calibri" pitchFamily="34" charset="-122"/>
                <a:cs typeface="Calibri" pitchFamily="34" charset="-120"/>
              </a:rPr>
              <a:t>You don't know what it is</a:t>
            </a:r>
            <a:endParaRPr lang="en-US" sz="1550" dirty="0"/>
          </a:p>
        </p:txBody>
      </p:sp>
      <p:sp>
        <p:nvSpPr>
          <p:cNvPr id="15" name="Text 13"/>
          <p:cNvSpPr txBox="1"/>
          <p:nvPr/>
        </p:nvSpPr>
        <p:spPr>
          <a:xfrm>
            <a:off x="923544" y="5230368"/>
            <a:ext cx="2936138" cy="603504"/>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You know something is in the house. You just don't know what, or where.</a:t>
            </a:r>
            <a:endParaRPr lang="en-US" sz="1250" dirty="0"/>
          </a:p>
        </p:txBody>
      </p:sp>
      <p:sp>
        <p:nvSpPr>
          <p:cNvPr id="16" name="Shape 14"/>
          <p:cNvSpPr/>
          <p:nvPr/>
        </p:nvSpPr>
        <p:spPr>
          <a:xfrm>
            <a:off x="4390034" y="4754880"/>
            <a:ext cx="3411626" cy="1207008"/>
          </a:xfrm>
          <a:prstGeom prst="roundRect">
            <a:avLst>
              <a:gd name="adj" fmla="val 4545"/>
            </a:avLst>
          </a:prstGeom>
          <a:solidFill>
            <a:srgbClr val="161D2A"/>
          </a:solidFill>
          <a:ln w="9525">
            <a:solidFill>
              <a:srgbClr val="222C3E"/>
            </a:solidFill>
            <a:prstDash val="solid"/>
          </a:ln>
        </p:spPr>
      </p:sp>
      <p:sp>
        <p:nvSpPr>
          <p:cNvPr id="17" name="Text 15"/>
          <p:cNvSpPr txBox="1"/>
          <p:nvPr/>
        </p:nvSpPr>
        <p:spPr>
          <a:xfrm>
            <a:off x="4627778" y="4882896"/>
            <a:ext cx="2936138" cy="292608"/>
          </a:xfrm>
          <a:prstGeom prst="rect">
            <a:avLst/>
          </a:prstGeom>
          <a:noFill/>
          <a:ln/>
        </p:spPr>
        <p:txBody>
          <a:bodyPr wrap="square" lIns="0" tIns="0" rIns="0" bIns="0" rtlCol="0" anchor="ctr"/>
          <a:lstStyle/>
          <a:p>
            <a:pPr indent="0" marL="0">
              <a:buNone/>
            </a:pPr>
            <a:r>
              <a:rPr lang="en-US" sz="1550" b="1" dirty="0">
                <a:solidFill>
                  <a:srgbClr val="A9C6E4"/>
                </a:solidFill>
                <a:latin typeface="Calibri" pitchFamily="34" charset="0"/>
                <a:ea typeface="Calibri" pitchFamily="34" charset="-122"/>
                <a:cs typeface="Calibri" pitchFamily="34" charset="-120"/>
              </a:rPr>
              <a:t>You have to work it out</a:t>
            </a:r>
            <a:endParaRPr lang="en-US" sz="1550" dirty="0"/>
          </a:p>
        </p:txBody>
      </p:sp>
      <p:sp>
        <p:nvSpPr>
          <p:cNvPr id="18" name="Text 16"/>
          <p:cNvSpPr txBox="1"/>
          <p:nvPr/>
        </p:nvSpPr>
        <p:spPr>
          <a:xfrm>
            <a:off x="4627778" y="5230368"/>
            <a:ext cx="2936138" cy="603504"/>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You use clues to rule ghosts out, one at a time.</a:t>
            </a:r>
            <a:endParaRPr lang="en-US" sz="1250" dirty="0"/>
          </a:p>
        </p:txBody>
      </p:sp>
      <p:sp>
        <p:nvSpPr>
          <p:cNvPr id="19" name="Shape 17"/>
          <p:cNvSpPr/>
          <p:nvPr/>
        </p:nvSpPr>
        <p:spPr>
          <a:xfrm>
            <a:off x="8094269" y="4754880"/>
            <a:ext cx="3411626" cy="1207008"/>
          </a:xfrm>
          <a:prstGeom prst="roundRect">
            <a:avLst>
              <a:gd name="adj" fmla="val 4545"/>
            </a:avLst>
          </a:prstGeom>
          <a:solidFill>
            <a:srgbClr val="161D2A"/>
          </a:solidFill>
          <a:ln w="9525">
            <a:solidFill>
              <a:srgbClr val="222C3E"/>
            </a:solidFill>
            <a:prstDash val="solid"/>
          </a:ln>
        </p:spPr>
      </p:sp>
      <p:sp>
        <p:nvSpPr>
          <p:cNvPr id="20" name="Text 18"/>
          <p:cNvSpPr txBox="1"/>
          <p:nvPr/>
        </p:nvSpPr>
        <p:spPr>
          <a:xfrm>
            <a:off x="8332013" y="4882896"/>
            <a:ext cx="2936138" cy="292608"/>
          </a:xfrm>
          <a:prstGeom prst="rect">
            <a:avLst/>
          </a:prstGeom>
          <a:noFill/>
          <a:ln/>
        </p:spPr>
        <p:txBody>
          <a:bodyPr wrap="square" lIns="0" tIns="0" rIns="0" bIns="0" rtlCol="0" anchor="ctr"/>
          <a:lstStyle/>
          <a:p>
            <a:pPr indent="0" marL="0">
              <a:buNone/>
            </a:pPr>
            <a:r>
              <a:rPr lang="en-US" sz="1550" b="1" dirty="0">
                <a:solidFill>
                  <a:srgbClr val="A9C6E4"/>
                </a:solidFill>
                <a:latin typeface="Calibri" pitchFamily="34" charset="0"/>
                <a:ea typeface="Calibri" pitchFamily="34" charset="-122"/>
                <a:cs typeface="Calibri" pitchFamily="34" charset="-120"/>
              </a:rPr>
              <a:t>Staying is dangerous</a:t>
            </a:r>
            <a:endParaRPr lang="en-US" sz="1550" dirty="0"/>
          </a:p>
        </p:txBody>
      </p:sp>
      <p:sp>
        <p:nvSpPr>
          <p:cNvPr id="21" name="Text 19"/>
          <p:cNvSpPr txBox="1"/>
          <p:nvPr/>
        </p:nvSpPr>
        <p:spPr>
          <a:xfrm>
            <a:off x="8332013" y="5230368"/>
            <a:ext cx="2936138" cy="603504"/>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One more second is one more clue — and one more chance to die.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04 — THE TABLE</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04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The heart of the game: a 3 × 3 table</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 The most important slide</a:t>
            </a:r>
            <a:endParaRPr lang="en-US" sz="1450" dirty="0"/>
          </a:p>
        </p:txBody>
      </p:sp>
      <p:sp>
        <p:nvSpPr>
          <p:cNvPr id="6" name="Text 4"/>
          <p:cNvSpPr txBox="1"/>
          <p:nvPr/>
        </p:nvSpPr>
        <p:spPr>
          <a:xfrm>
            <a:off x="4206240" y="1965960"/>
            <a:ext cx="2148840" cy="566928"/>
          </a:xfrm>
          <a:prstGeom prst="rect">
            <a:avLst/>
          </a:prstGeom>
          <a:noFill/>
          <a:ln/>
        </p:spPr>
        <p:txBody>
          <a:bodyPr wrap="square" lIns="0" tIns="0" rIns="0" bIns="0" rtlCol="0" anchor="ctr"/>
          <a:lstStyle/>
          <a:p>
            <a:pPr algn="ctr" indent="0" marL="0">
              <a:buNone/>
            </a:pPr>
            <a:r>
              <a:rPr lang="en-US" sz="1450" b="1" dirty="0">
                <a:solidFill>
                  <a:srgbClr val="7FA6CC"/>
                </a:solidFill>
                <a:latin typeface="Calibri" pitchFamily="34" charset="0"/>
                <a:ea typeface="Calibri" pitchFamily="34" charset="-122"/>
                <a:cs typeface="Calibri" pitchFamily="34" charset="-120"/>
              </a:rPr>
              <a:t>EMF reading</a:t>
            </a:r>
            <a:endParaRPr lang="en-US" sz="1450" dirty="0"/>
          </a:p>
        </p:txBody>
      </p:sp>
      <p:sp>
        <p:nvSpPr>
          <p:cNvPr id="7" name="Text 5"/>
          <p:cNvSpPr txBox="1"/>
          <p:nvPr/>
        </p:nvSpPr>
        <p:spPr>
          <a:xfrm>
            <a:off x="6355080" y="1965960"/>
            <a:ext cx="2148840" cy="566928"/>
          </a:xfrm>
          <a:prstGeom prst="rect">
            <a:avLst/>
          </a:prstGeom>
          <a:noFill/>
          <a:ln/>
        </p:spPr>
        <p:txBody>
          <a:bodyPr wrap="square" lIns="0" tIns="0" rIns="0" bIns="0" rtlCol="0" anchor="ctr"/>
          <a:lstStyle/>
          <a:p>
            <a:pPr algn="ctr" indent="0" marL="0">
              <a:buNone/>
            </a:pPr>
            <a:r>
              <a:rPr lang="en-US" sz="1450" b="1" dirty="0">
                <a:solidFill>
                  <a:srgbClr val="7FA6CC"/>
                </a:solidFill>
                <a:latin typeface="Calibri" pitchFamily="34" charset="0"/>
                <a:ea typeface="Calibri" pitchFamily="34" charset="-122"/>
                <a:cs typeface="Calibri" pitchFamily="34" charset="-120"/>
              </a:rPr>
              <a:t>UV fingerprints</a:t>
            </a:r>
            <a:endParaRPr lang="en-US" sz="1450" dirty="0"/>
          </a:p>
        </p:txBody>
      </p:sp>
      <p:sp>
        <p:nvSpPr>
          <p:cNvPr id="8" name="Text 6"/>
          <p:cNvSpPr txBox="1"/>
          <p:nvPr/>
        </p:nvSpPr>
        <p:spPr>
          <a:xfrm>
            <a:off x="8503920" y="1965960"/>
            <a:ext cx="2148840" cy="566928"/>
          </a:xfrm>
          <a:prstGeom prst="rect">
            <a:avLst/>
          </a:prstGeom>
          <a:noFill/>
          <a:ln/>
        </p:spPr>
        <p:txBody>
          <a:bodyPr wrap="square" lIns="0" tIns="0" rIns="0" bIns="0" rtlCol="0" anchor="ctr"/>
          <a:lstStyle/>
          <a:p>
            <a:pPr algn="ctr" indent="0" marL="0">
              <a:buNone/>
            </a:pPr>
            <a:r>
              <a:rPr lang="en-US" sz="1450" b="1" dirty="0">
                <a:solidFill>
                  <a:srgbClr val="7FA6CC"/>
                </a:solidFill>
                <a:latin typeface="Calibri" pitchFamily="34" charset="0"/>
                <a:ea typeface="Calibri" pitchFamily="34" charset="-122"/>
                <a:cs typeface="Calibri" pitchFamily="34" charset="-120"/>
              </a:rPr>
              <a:t>Ghost writing</a:t>
            </a:r>
            <a:endParaRPr lang="en-US" sz="1450" dirty="0"/>
          </a:p>
        </p:txBody>
      </p:sp>
      <p:sp>
        <p:nvSpPr>
          <p:cNvPr id="9" name="Shape 7"/>
          <p:cNvSpPr/>
          <p:nvPr/>
        </p:nvSpPr>
        <p:spPr>
          <a:xfrm>
            <a:off x="1463040" y="2532888"/>
            <a:ext cx="9189720" cy="658368"/>
          </a:xfrm>
          <a:prstGeom prst="roundRect">
            <a:avLst>
              <a:gd name="adj" fmla="val 6944"/>
            </a:avLst>
          </a:prstGeom>
          <a:solidFill>
            <a:srgbClr val="161D2A"/>
          </a:solidFill>
          <a:ln w="9525">
            <a:solidFill>
              <a:srgbClr val="222C3E"/>
            </a:solidFill>
            <a:prstDash val="solid"/>
          </a:ln>
        </p:spPr>
      </p:sp>
      <p:sp>
        <p:nvSpPr>
          <p:cNvPr id="10" name="Text 8"/>
          <p:cNvSpPr txBox="1"/>
          <p:nvPr/>
        </p:nvSpPr>
        <p:spPr>
          <a:xfrm>
            <a:off x="1737360" y="2532888"/>
            <a:ext cx="2468880" cy="658368"/>
          </a:xfrm>
          <a:prstGeom prst="rect">
            <a:avLst/>
          </a:prstGeom>
          <a:noFill/>
          <a:ln/>
        </p:spPr>
        <p:txBody>
          <a:bodyPr wrap="square" lIns="0" tIns="0" rIns="0" bIns="0" rtlCol="0" anchor="ctr"/>
          <a:lstStyle/>
          <a:p>
            <a:pPr indent="0" marL="0">
              <a:buNone/>
            </a:pPr>
            <a:r>
              <a:rPr lang="en-US" sz="1900" b="1" dirty="0">
                <a:solidFill>
                  <a:srgbClr val="E9EDF3"/>
                </a:solidFill>
                <a:latin typeface="Cambria" pitchFamily="34" charset="0"/>
                <a:ea typeface="Cambria" pitchFamily="34" charset="-122"/>
                <a:cs typeface="Cambria" pitchFamily="34" charset="-120"/>
              </a:rPr>
              <a:t>Spirit</a:t>
            </a:r>
            <a:endParaRPr lang="en-US" sz="1900" dirty="0"/>
          </a:p>
        </p:txBody>
      </p:sp>
      <p:sp>
        <p:nvSpPr>
          <p:cNvPr id="11" name="Text 9"/>
          <p:cNvSpPr txBox="1"/>
          <p:nvPr/>
        </p:nvSpPr>
        <p:spPr>
          <a:xfrm>
            <a:off x="4206240" y="2532888"/>
            <a:ext cx="2148840" cy="658368"/>
          </a:xfrm>
          <a:prstGeom prst="rect">
            <a:avLst/>
          </a:prstGeom>
          <a:noFill/>
          <a:ln/>
        </p:spPr>
        <p:txBody>
          <a:bodyPr wrap="square" lIns="0" tIns="0" rIns="0" bIns="0" rtlCol="0" anchor="ctr"/>
          <a:lstStyle/>
          <a:p>
            <a:pPr algn="ctr" indent="0" marL="0">
              <a:buNone/>
            </a:pPr>
            <a:r>
              <a:rPr lang="en-US" sz="2600" b="1" dirty="0">
                <a:solidFill>
                  <a:srgbClr val="A9C6E4"/>
                </a:solidFill>
                <a:latin typeface="Calibri" pitchFamily="34" charset="0"/>
                <a:ea typeface="Calibri" pitchFamily="34" charset="-122"/>
                <a:cs typeface="Calibri" pitchFamily="34" charset="-120"/>
              </a:rPr>
              <a:t>✓</a:t>
            </a:r>
            <a:endParaRPr lang="en-US" sz="2600" dirty="0"/>
          </a:p>
        </p:txBody>
      </p:sp>
      <p:sp>
        <p:nvSpPr>
          <p:cNvPr id="12" name="Text 10"/>
          <p:cNvSpPr txBox="1"/>
          <p:nvPr/>
        </p:nvSpPr>
        <p:spPr>
          <a:xfrm>
            <a:off x="6355080" y="2532888"/>
            <a:ext cx="2148840" cy="658368"/>
          </a:xfrm>
          <a:prstGeom prst="rect">
            <a:avLst/>
          </a:prstGeom>
          <a:noFill/>
          <a:ln/>
        </p:spPr>
        <p:txBody>
          <a:bodyPr wrap="square" lIns="0" tIns="0" rIns="0" bIns="0" rtlCol="0" anchor="ctr"/>
          <a:lstStyle/>
          <a:p>
            <a:pPr algn="ctr" indent="0" marL="0">
              <a:buNone/>
            </a:pPr>
            <a:r>
              <a:rPr lang="en-US" sz="2600" b="1" dirty="0">
                <a:solidFill>
                  <a:srgbClr val="A9C6E4"/>
                </a:solidFill>
                <a:latin typeface="Calibri" pitchFamily="34" charset="0"/>
                <a:ea typeface="Calibri" pitchFamily="34" charset="-122"/>
                <a:cs typeface="Calibri" pitchFamily="34" charset="-120"/>
              </a:rPr>
              <a:t>✓</a:t>
            </a:r>
            <a:endParaRPr lang="en-US" sz="2600" dirty="0"/>
          </a:p>
        </p:txBody>
      </p:sp>
      <p:sp>
        <p:nvSpPr>
          <p:cNvPr id="13" name="Text 11"/>
          <p:cNvSpPr txBox="1"/>
          <p:nvPr/>
        </p:nvSpPr>
        <p:spPr>
          <a:xfrm>
            <a:off x="8503920" y="2532888"/>
            <a:ext cx="2148840" cy="658368"/>
          </a:xfrm>
          <a:prstGeom prst="rect">
            <a:avLst/>
          </a:prstGeom>
          <a:noFill/>
          <a:ln/>
        </p:spPr>
        <p:txBody>
          <a:bodyPr wrap="square" lIns="0" tIns="0" rIns="0" bIns="0" rtlCol="0" anchor="ctr"/>
          <a:lstStyle/>
          <a:p>
            <a:pPr algn="ctr" indent="0" marL="0">
              <a:buNone/>
            </a:pPr>
            <a:r>
              <a:rPr lang="en-US" sz="2000" dirty="0">
                <a:solidFill>
                  <a:srgbClr val="5E6B7E"/>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1463040" y="3282696"/>
            <a:ext cx="9189720" cy="658368"/>
          </a:xfrm>
          <a:prstGeom prst="roundRect">
            <a:avLst>
              <a:gd name="adj" fmla="val 6944"/>
            </a:avLst>
          </a:prstGeom>
          <a:solidFill>
            <a:srgbClr val="121926"/>
          </a:solidFill>
          <a:ln w="9525">
            <a:solidFill>
              <a:srgbClr val="222C3E"/>
            </a:solidFill>
            <a:prstDash val="solid"/>
          </a:ln>
        </p:spPr>
      </p:sp>
      <p:sp>
        <p:nvSpPr>
          <p:cNvPr id="15" name="Text 13"/>
          <p:cNvSpPr txBox="1"/>
          <p:nvPr/>
        </p:nvSpPr>
        <p:spPr>
          <a:xfrm>
            <a:off x="1737360" y="3282696"/>
            <a:ext cx="2468880" cy="658368"/>
          </a:xfrm>
          <a:prstGeom prst="rect">
            <a:avLst/>
          </a:prstGeom>
          <a:noFill/>
          <a:ln/>
        </p:spPr>
        <p:txBody>
          <a:bodyPr wrap="square" lIns="0" tIns="0" rIns="0" bIns="0" rtlCol="0" anchor="ctr"/>
          <a:lstStyle/>
          <a:p>
            <a:pPr indent="0" marL="0">
              <a:buNone/>
            </a:pPr>
            <a:r>
              <a:rPr lang="en-US" sz="1900" b="1" dirty="0">
                <a:solidFill>
                  <a:srgbClr val="E9EDF3"/>
                </a:solidFill>
                <a:latin typeface="Cambria" pitchFamily="34" charset="0"/>
                <a:ea typeface="Cambria" pitchFamily="34" charset="-122"/>
                <a:cs typeface="Cambria" pitchFamily="34" charset="-120"/>
              </a:rPr>
              <a:t>Wraith</a:t>
            </a:r>
            <a:endParaRPr lang="en-US" sz="1900" dirty="0"/>
          </a:p>
        </p:txBody>
      </p:sp>
      <p:sp>
        <p:nvSpPr>
          <p:cNvPr id="16" name="Text 14"/>
          <p:cNvSpPr txBox="1"/>
          <p:nvPr/>
        </p:nvSpPr>
        <p:spPr>
          <a:xfrm>
            <a:off x="4206240" y="3282696"/>
            <a:ext cx="2148840" cy="658368"/>
          </a:xfrm>
          <a:prstGeom prst="rect">
            <a:avLst/>
          </a:prstGeom>
          <a:noFill/>
          <a:ln/>
        </p:spPr>
        <p:txBody>
          <a:bodyPr wrap="square" lIns="0" tIns="0" rIns="0" bIns="0" rtlCol="0" anchor="ctr"/>
          <a:lstStyle/>
          <a:p>
            <a:pPr algn="ctr" indent="0" marL="0">
              <a:buNone/>
            </a:pPr>
            <a:r>
              <a:rPr lang="en-US" sz="2600" b="1" dirty="0">
                <a:solidFill>
                  <a:srgbClr val="A9C6E4"/>
                </a:solidFill>
                <a:latin typeface="Calibri" pitchFamily="34" charset="0"/>
                <a:ea typeface="Calibri" pitchFamily="34" charset="-122"/>
                <a:cs typeface="Calibri" pitchFamily="34" charset="-120"/>
              </a:rPr>
              <a:t>✓</a:t>
            </a:r>
            <a:endParaRPr lang="en-US" sz="2600" dirty="0"/>
          </a:p>
        </p:txBody>
      </p:sp>
      <p:sp>
        <p:nvSpPr>
          <p:cNvPr id="17" name="Text 15"/>
          <p:cNvSpPr txBox="1"/>
          <p:nvPr/>
        </p:nvSpPr>
        <p:spPr>
          <a:xfrm>
            <a:off x="6355080" y="3282696"/>
            <a:ext cx="2148840" cy="658368"/>
          </a:xfrm>
          <a:prstGeom prst="rect">
            <a:avLst/>
          </a:prstGeom>
          <a:noFill/>
          <a:ln/>
        </p:spPr>
        <p:txBody>
          <a:bodyPr wrap="square" lIns="0" tIns="0" rIns="0" bIns="0" rtlCol="0" anchor="ctr"/>
          <a:lstStyle/>
          <a:p>
            <a:pPr algn="ctr" indent="0" marL="0">
              <a:buNone/>
            </a:pPr>
            <a:r>
              <a:rPr lang="en-US" sz="2000" dirty="0">
                <a:solidFill>
                  <a:srgbClr val="5E6B7E"/>
                </a:solidFill>
                <a:latin typeface="Calibri" pitchFamily="34" charset="0"/>
                <a:ea typeface="Calibri" pitchFamily="34" charset="-122"/>
                <a:cs typeface="Calibri" pitchFamily="34" charset="-120"/>
              </a:rPr>
              <a:t>—</a:t>
            </a:r>
            <a:endParaRPr lang="en-US" sz="2000" dirty="0"/>
          </a:p>
        </p:txBody>
      </p:sp>
      <p:sp>
        <p:nvSpPr>
          <p:cNvPr id="18" name="Text 16"/>
          <p:cNvSpPr txBox="1"/>
          <p:nvPr/>
        </p:nvSpPr>
        <p:spPr>
          <a:xfrm>
            <a:off x="8503920" y="3282696"/>
            <a:ext cx="2148840" cy="658368"/>
          </a:xfrm>
          <a:prstGeom prst="rect">
            <a:avLst/>
          </a:prstGeom>
          <a:noFill/>
          <a:ln/>
        </p:spPr>
        <p:txBody>
          <a:bodyPr wrap="square" lIns="0" tIns="0" rIns="0" bIns="0" rtlCol="0" anchor="ctr"/>
          <a:lstStyle/>
          <a:p>
            <a:pPr algn="ctr" indent="0" marL="0">
              <a:buNone/>
            </a:pPr>
            <a:r>
              <a:rPr lang="en-US" sz="2600" b="1" dirty="0">
                <a:solidFill>
                  <a:srgbClr val="A9C6E4"/>
                </a:solidFill>
                <a:latin typeface="Calibri" pitchFamily="34" charset="0"/>
                <a:ea typeface="Calibri" pitchFamily="34" charset="-122"/>
                <a:cs typeface="Calibri" pitchFamily="34" charset="-120"/>
              </a:rPr>
              <a:t>✓</a:t>
            </a:r>
            <a:endParaRPr lang="en-US" sz="2600" dirty="0"/>
          </a:p>
        </p:txBody>
      </p:sp>
      <p:sp>
        <p:nvSpPr>
          <p:cNvPr id="19" name="Shape 17"/>
          <p:cNvSpPr/>
          <p:nvPr/>
        </p:nvSpPr>
        <p:spPr>
          <a:xfrm>
            <a:off x="1463040" y="4032504"/>
            <a:ext cx="9189720" cy="658368"/>
          </a:xfrm>
          <a:prstGeom prst="roundRect">
            <a:avLst>
              <a:gd name="adj" fmla="val 6944"/>
            </a:avLst>
          </a:prstGeom>
          <a:solidFill>
            <a:srgbClr val="161D2A"/>
          </a:solidFill>
          <a:ln w="9525">
            <a:solidFill>
              <a:srgbClr val="222C3E"/>
            </a:solidFill>
            <a:prstDash val="solid"/>
          </a:ln>
        </p:spPr>
      </p:sp>
      <p:sp>
        <p:nvSpPr>
          <p:cNvPr id="20" name="Text 18"/>
          <p:cNvSpPr txBox="1"/>
          <p:nvPr/>
        </p:nvSpPr>
        <p:spPr>
          <a:xfrm>
            <a:off x="1737360" y="4032504"/>
            <a:ext cx="2468880" cy="658368"/>
          </a:xfrm>
          <a:prstGeom prst="rect">
            <a:avLst/>
          </a:prstGeom>
          <a:noFill/>
          <a:ln/>
        </p:spPr>
        <p:txBody>
          <a:bodyPr wrap="square" lIns="0" tIns="0" rIns="0" bIns="0" rtlCol="0" anchor="ctr"/>
          <a:lstStyle/>
          <a:p>
            <a:pPr indent="0" marL="0">
              <a:buNone/>
            </a:pPr>
            <a:r>
              <a:rPr lang="en-US" sz="1900" b="1" dirty="0">
                <a:solidFill>
                  <a:srgbClr val="E9EDF3"/>
                </a:solidFill>
                <a:latin typeface="Cambria" pitchFamily="34" charset="0"/>
                <a:ea typeface="Cambria" pitchFamily="34" charset="-122"/>
                <a:cs typeface="Cambria" pitchFamily="34" charset="-120"/>
              </a:rPr>
              <a:t>Poltergeist</a:t>
            </a:r>
            <a:endParaRPr lang="en-US" sz="1900" dirty="0"/>
          </a:p>
        </p:txBody>
      </p:sp>
      <p:sp>
        <p:nvSpPr>
          <p:cNvPr id="21" name="Text 19"/>
          <p:cNvSpPr txBox="1"/>
          <p:nvPr/>
        </p:nvSpPr>
        <p:spPr>
          <a:xfrm>
            <a:off x="4206240" y="4032504"/>
            <a:ext cx="2148840" cy="658368"/>
          </a:xfrm>
          <a:prstGeom prst="rect">
            <a:avLst/>
          </a:prstGeom>
          <a:noFill/>
          <a:ln/>
        </p:spPr>
        <p:txBody>
          <a:bodyPr wrap="square" lIns="0" tIns="0" rIns="0" bIns="0" rtlCol="0" anchor="ctr"/>
          <a:lstStyle/>
          <a:p>
            <a:pPr algn="ctr" indent="0" marL="0">
              <a:buNone/>
            </a:pPr>
            <a:r>
              <a:rPr lang="en-US" sz="2000" dirty="0">
                <a:solidFill>
                  <a:srgbClr val="5E6B7E"/>
                </a:solidFill>
                <a:latin typeface="Calibri" pitchFamily="34" charset="0"/>
                <a:ea typeface="Calibri" pitchFamily="34" charset="-122"/>
                <a:cs typeface="Calibri" pitchFamily="34" charset="-120"/>
              </a:rPr>
              <a:t>—</a:t>
            </a:r>
            <a:endParaRPr lang="en-US" sz="2000" dirty="0"/>
          </a:p>
        </p:txBody>
      </p:sp>
      <p:sp>
        <p:nvSpPr>
          <p:cNvPr id="22" name="Text 20"/>
          <p:cNvSpPr txBox="1"/>
          <p:nvPr/>
        </p:nvSpPr>
        <p:spPr>
          <a:xfrm>
            <a:off x="6355080" y="4032504"/>
            <a:ext cx="2148840" cy="658368"/>
          </a:xfrm>
          <a:prstGeom prst="rect">
            <a:avLst/>
          </a:prstGeom>
          <a:noFill/>
          <a:ln/>
        </p:spPr>
        <p:txBody>
          <a:bodyPr wrap="square" lIns="0" tIns="0" rIns="0" bIns="0" rtlCol="0" anchor="ctr"/>
          <a:lstStyle/>
          <a:p>
            <a:pPr algn="ctr" indent="0" marL="0">
              <a:buNone/>
            </a:pPr>
            <a:r>
              <a:rPr lang="en-US" sz="2600" b="1" dirty="0">
                <a:solidFill>
                  <a:srgbClr val="A9C6E4"/>
                </a:solidFill>
                <a:latin typeface="Calibri" pitchFamily="34" charset="0"/>
                <a:ea typeface="Calibri" pitchFamily="34" charset="-122"/>
                <a:cs typeface="Calibri" pitchFamily="34" charset="-120"/>
              </a:rPr>
              <a:t>✓</a:t>
            </a:r>
            <a:endParaRPr lang="en-US" sz="2600" dirty="0"/>
          </a:p>
        </p:txBody>
      </p:sp>
      <p:sp>
        <p:nvSpPr>
          <p:cNvPr id="23" name="Text 21"/>
          <p:cNvSpPr txBox="1"/>
          <p:nvPr/>
        </p:nvSpPr>
        <p:spPr>
          <a:xfrm>
            <a:off x="8503920" y="4032504"/>
            <a:ext cx="2148840" cy="658368"/>
          </a:xfrm>
          <a:prstGeom prst="rect">
            <a:avLst/>
          </a:prstGeom>
          <a:noFill/>
          <a:ln/>
        </p:spPr>
        <p:txBody>
          <a:bodyPr wrap="square" lIns="0" tIns="0" rIns="0" bIns="0" rtlCol="0" anchor="ctr"/>
          <a:lstStyle/>
          <a:p>
            <a:pPr algn="ctr" indent="0" marL="0">
              <a:buNone/>
            </a:pPr>
            <a:r>
              <a:rPr lang="en-US" sz="2600" b="1" dirty="0">
                <a:solidFill>
                  <a:srgbClr val="A9C6E4"/>
                </a:solidFill>
                <a:latin typeface="Calibri" pitchFamily="34" charset="0"/>
                <a:ea typeface="Calibri" pitchFamily="34" charset="-122"/>
                <a:cs typeface="Calibri" pitchFamily="34" charset="-120"/>
              </a:rPr>
              <a:t>✓</a:t>
            </a:r>
            <a:endParaRPr lang="en-US" sz="2600" dirty="0"/>
          </a:p>
        </p:txBody>
      </p:sp>
      <p:sp>
        <p:nvSpPr>
          <p:cNvPr id="24" name="Shape 22"/>
          <p:cNvSpPr/>
          <p:nvPr/>
        </p:nvSpPr>
        <p:spPr>
          <a:xfrm>
            <a:off x="685800" y="4828032"/>
            <a:ext cx="10820095" cy="1060704"/>
          </a:xfrm>
          <a:prstGeom prst="roundRect">
            <a:avLst>
              <a:gd name="adj" fmla="val 5172"/>
            </a:avLst>
          </a:prstGeom>
          <a:solidFill>
            <a:srgbClr val="222C3E"/>
          </a:solidFill>
          <a:ln w="9525">
            <a:solidFill>
              <a:srgbClr val="222C3E"/>
            </a:solidFill>
            <a:prstDash val="solid"/>
          </a:ln>
        </p:spPr>
      </p:sp>
      <p:sp>
        <p:nvSpPr>
          <p:cNvPr id="25" name="Text 23"/>
          <p:cNvSpPr txBox="1"/>
          <p:nvPr/>
        </p:nvSpPr>
        <p:spPr>
          <a:xfrm>
            <a:off x="1051560" y="5010912"/>
            <a:ext cx="10088575" cy="384048"/>
          </a:xfrm>
          <a:prstGeom prst="rect">
            <a:avLst/>
          </a:prstGeom>
          <a:noFill/>
          <a:ln/>
        </p:spPr>
        <p:txBody>
          <a:bodyPr wrap="square" lIns="0" tIns="0" rIns="0" bIns="0" rtlCol="0" anchor="ctr"/>
          <a:lstStyle/>
          <a:p>
            <a:pPr algn="ctr" indent="0" marL="0">
              <a:buNone/>
            </a:pPr>
            <a:r>
              <a:rPr lang="en-US" sz="1900" b="1" dirty="0">
                <a:solidFill>
                  <a:srgbClr val="A9C6E4"/>
                </a:solidFill>
                <a:latin typeface="Calibri" pitchFamily="34" charset="0"/>
                <a:ea typeface="Calibri" pitchFamily="34" charset="-122"/>
                <a:cs typeface="Calibri" pitchFamily="34" charset="-120"/>
              </a:rPr>
              <a:t>Every ghost has exactly two. The three ghosts use up all three pairs.</a:t>
            </a:r>
            <a:endParaRPr lang="en-US" sz="1900" dirty="0"/>
          </a:p>
        </p:txBody>
      </p:sp>
      <p:sp>
        <p:nvSpPr>
          <p:cNvPr id="26" name="Text 24"/>
          <p:cNvSpPr txBox="1"/>
          <p:nvPr/>
        </p:nvSpPr>
        <p:spPr>
          <a:xfrm>
            <a:off x="1051560" y="5431536"/>
            <a:ext cx="10088575" cy="310896"/>
          </a:xfrm>
          <a:prstGeom prst="rect">
            <a:avLst/>
          </a:prstGeom>
          <a:noFill/>
          <a:ln/>
        </p:spPr>
        <p:txBody>
          <a:bodyPr wrap="square" lIns="0" tIns="0" rIns="0" bIns="0" rtlCol="0" anchor="ctr"/>
          <a:lstStyle/>
          <a:p>
            <a:pPr algn="ctr" indent="0" marL="0">
              <a:buNone/>
            </a:pPr>
            <a:r>
              <a:rPr lang="en-US" sz="1300" dirty="0">
                <a:solidFill>
                  <a:srgbClr val="8D9AAD"/>
                </a:solidFill>
                <a:latin typeface="Calibri" pitchFamily="34" charset="0"/>
                <a:ea typeface="Calibri" pitchFamily="34" charset="-122"/>
                <a:cs typeface="Calibri" pitchFamily="34" charset="-120"/>
              </a:rPr>
              <a:t>This small table is the best idea in our project. Everything else is built around it.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05 — PROOF</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05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Why this table always works</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 The best moment in the talk</a:t>
            </a:r>
            <a:endParaRPr lang="en-US" sz="1450" dirty="0"/>
          </a:p>
        </p:txBody>
      </p:sp>
      <p:sp>
        <p:nvSpPr>
          <p:cNvPr id="6" name="Shape 4"/>
          <p:cNvSpPr/>
          <p:nvPr/>
        </p:nvSpPr>
        <p:spPr>
          <a:xfrm>
            <a:off x="685800" y="1883664"/>
            <a:ext cx="3566160" cy="2286000"/>
          </a:xfrm>
          <a:prstGeom prst="roundRect">
            <a:avLst>
              <a:gd name="adj" fmla="val 2400"/>
            </a:avLst>
          </a:prstGeom>
          <a:solidFill>
            <a:srgbClr val="222C3E"/>
          </a:solidFill>
          <a:ln w="9525">
            <a:solidFill>
              <a:srgbClr val="222C3E"/>
            </a:solidFill>
            <a:prstDash val="solid"/>
          </a:ln>
        </p:spPr>
      </p:sp>
      <p:sp>
        <p:nvSpPr>
          <p:cNvPr id="7" name="Text 5"/>
          <p:cNvSpPr txBox="1"/>
          <p:nvPr/>
        </p:nvSpPr>
        <p:spPr>
          <a:xfrm>
            <a:off x="685800" y="2286000"/>
            <a:ext cx="3566160" cy="731520"/>
          </a:xfrm>
          <a:prstGeom prst="rect">
            <a:avLst/>
          </a:prstGeom>
          <a:noFill/>
          <a:ln/>
        </p:spPr>
        <p:txBody>
          <a:bodyPr wrap="square" lIns="0" tIns="0" rIns="0" bIns="0" rtlCol="0" anchor="ctr"/>
          <a:lstStyle/>
          <a:p>
            <a:pPr algn="ctr" indent="0" marL="0">
              <a:buNone/>
            </a:pPr>
            <a:r>
              <a:rPr lang="en-US" sz="4400" b="1" dirty="0">
                <a:solidFill>
                  <a:srgbClr val="A9C6E4"/>
                </a:solidFill>
                <a:latin typeface="Cambria" pitchFamily="34" charset="0"/>
                <a:ea typeface="Cambria" pitchFamily="34" charset="-122"/>
                <a:cs typeface="Cambria" pitchFamily="34" charset="-120"/>
              </a:rPr>
              <a:t>C(3, 2)  =  3</a:t>
            </a:r>
            <a:endParaRPr lang="en-US" sz="4400" dirty="0"/>
          </a:p>
        </p:txBody>
      </p:sp>
      <p:sp>
        <p:nvSpPr>
          <p:cNvPr id="8" name="Text 6"/>
          <p:cNvSpPr txBox="1"/>
          <p:nvPr/>
        </p:nvSpPr>
        <p:spPr>
          <a:xfrm>
            <a:off x="960120" y="3054096"/>
            <a:ext cx="3017520" cy="914400"/>
          </a:xfrm>
          <a:prstGeom prst="rect">
            <a:avLst/>
          </a:prstGeom>
          <a:noFill/>
          <a:ln/>
        </p:spPr>
        <p:txBody>
          <a:bodyPr wrap="square" lIns="0" tIns="0" rIns="0" bIns="0" rtlCol="0" anchor="ctr"/>
          <a:lstStyle/>
          <a:p>
            <a:pPr algn="ctr" indent="0" marL="0">
              <a:lnSpc>
                <a:spcPts val="2200"/>
              </a:lnSpc>
              <a:buNone/>
            </a:pPr>
            <a:r>
              <a:rPr lang="en-US" sz="1350" dirty="0">
                <a:solidFill>
                  <a:srgbClr val="8D9AAD"/>
                </a:solidFill>
                <a:latin typeface="Calibri" pitchFamily="34" charset="0"/>
                <a:ea typeface="Calibri" pitchFamily="34" charset="-122"/>
                <a:cs typeface="Calibri" pitchFamily="34" charset="-120"/>
              </a:rPr>
              <a:t>Pick 2 things out of 3.</a:t>
            </a:r>
            <a:endParaRPr lang="en-US" sz="1350" dirty="0"/>
          </a:p>
          <a:p>
            <a:pPr algn="ctr" indent="0" marL="0">
              <a:lnSpc>
                <a:spcPts val="2200"/>
              </a:lnSpc>
              <a:buNone/>
            </a:pPr>
            <a:r>
              <a:rPr lang="en-US" sz="1350" dirty="0">
                <a:solidFill>
                  <a:srgbClr val="8D9AAD"/>
                </a:solidFill>
                <a:latin typeface="Calibri" pitchFamily="34" charset="0"/>
                <a:ea typeface="Calibri" pitchFamily="34" charset="-122"/>
                <a:cs typeface="Calibri" pitchFamily="34" charset="-120"/>
              </a:rPr>
              <a:t>There are only 3 ways to do it.</a:t>
            </a:r>
            <a:endParaRPr lang="en-US" sz="1350" dirty="0"/>
          </a:p>
          <a:p>
            <a:pPr algn="ctr" indent="0" marL="0">
              <a:lnSpc>
                <a:spcPts val="2200"/>
              </a:lnSpc>
              <a:buNone/>
            </a:pPr>
            <a:r>
              <a:rPr lang="en-US" sz="1350" dirty="0">
                <a:solidFill>
                  <a:srgbClr val="8D9AAD"/>
                </a:solidFill>
                <a:latin typeface="Calibri" pitchFamily="34" charset="0"/>
                <a:ea typeface="Calibri" pitchFamily="34" charset="-122"/>
                <a:cs typeface="Calibri" pitchFamily="34" charset="-120"/>
              </a:rPr>
              <a:t>One way for each ghost.</a:t>
            </a:r>
            <a:endParaRPr lang="en-US" sz="1350" dirty="0"/>
          </a:p>
        </p:txBody>
      </p:sp>
      <p:sp>
        <p:nvSpPr>
          <p:cNvPr id="9" name="Shape 7"/>
          <p:cNvSpPr/>
          <p:nvPr/>
        </p:nvSpPr>
        <p:spPr>
          <a:xfrm>
            <a:off x="4617720" y="1883664"/>
            <a:ext cx="6888175" cy="694944"/>
          </a:xfrm>
          <a:prstGeom prst="roundRect">
            <a:avLst>
              <a:gd name="adj" fmla="val 7895"/>
            </a:avLst>
          </a:prstGeom>
          <a:solidFill>
            <a:srgbClr val="161D2A"/>
          </a:solidFill>
          <a:ln w="9525">
            <a:solidFill>
              <a:srgbClr val="222C3E"/>
            </a:solidFill>
            <a:prstDash val="solid"/>
          </a:ln>
        </p:spPr>
      </p:sp>
      <p:sp>
        <p:nvSpPr>
          <p:cNvPr id="10" name="Shape 8"/>
          <p:cNvSpPr/>
          <p:nvPr/>
        </p:nvSpPr>
        <p:spPr>
          <a:xfrm>
            <a:off x="4837176" y="2066544"/>
            <a:ext cx="329184" cy="329184"/>
          </a:xfrm>
          <a:prstGeom prst="ellipse">
            <a:avLst/>
          </a:prstGeom>
          <a:solidFill>
            <a:srgbClr val="7FA6CC"/>
          </a:solidFill>
          <a:ln w="12700">
            <a:solidFill>
              <a:srgbClr val="7FA6CC"/>
            </a:solidFill>
            <a:prstDash val="solid"/>
          </a:ln>
        </p:spPr>
      </p:sp>
      <p:sp>
        <p:nvSpPr>
          <p:cNvPr id="11" name="Text 9"/>
          <p:cNvSpPr txBox="1"/>
          <p:nvPr/>
        </p:nvSpPr>
        <p:spPr>
          <a:xfrm>
            <a:off x="4837176" y="2066544"/>
            <a:ext cx="329184" cy="329184"/>
          </a:xfrm>
          <a:prstGeom prst="rect">
            <a:avLst/>
          </a:prstGeom>
          <a:noFill/>
          <a:ln/>
        </p:spPr>
        <p:txBody>
          <a:bodyPr wrap="square" lIns="0" tIns="0" rIns="0" bIns="0" rtlCol="0" anchor="ctr"/>
          <a:lstStyle/>
          <a:p>
            <a:pPr algn="ctr" indent="0" marL="0">
              <a:buNone/>
            </a:pPr>
            <a:r>
              <a:rPr lang="en-US" sz="1400" b="1" dirty="0">
                <a:solidFill>
                  <a:srgbClr val="0A0D13"/>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5312664" y="1975104"/>
            <a:ext cx="5973775"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One clue is never enough</a:t>
            </a:r>
            <a:endParaRPr lang="en-US" sz="1550" dirty="0"/>
          </a:p>
        </p:txBody>
      </p:sp>
      <p:sp>
        <p:nvSpPr>
          <p:cNvPr id="13" name="Text 11"/>
          <p:cNvSpPr txBox="1"/>
          <p:nvPr/>
        </p:nvSpPr>
        <p:spPr>
          <a:xfrm>
            <a:off x="5312664" y="2249424"/>
            <a:ext cx="5973775" cy="274320"/>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Two ghosts share every clue, so one clue only rules out one ghost</a:t>
            </a:r>
            <a:endParaRPr lang="en-US" sz="1200" dirty="0"/>
          </a:p>
        </p:txBody>
      </p:sp>
      <p:sp>
        <p:nvSpPr>
          <p:cNvPr id="14" name="Shape 12"/>
          <p:cNvSpPr/>
          <p:nvPr/>
        </p:nvSpPr>
        <p:spPr>
          <a:xfrm>
            <a:off x="4617720" y="2688336"/>
            <a:ext cx="6888175" cy="694944"/>
          </a:xfrm>
          <a:prstGeom prst="roundRect">
            <a:avLst>
              <a:gd name="adj" fmla="val 7895"/>
            </a:avLst>
          </a:prstGeom>
          <a:solidFill>
            <a:srgbClr val="161D2A"/>
          </a:solidFill>
          <a:ln w="9525">
            <a:solidFill>
              <a:srgbClr val="222C3E"/>
            </a:solidFill>
            <a:prstDash val="solid"/>
          </a:ln>
        </p:spPr>
      </p:sp>
      <p:sp>
        <p:nvSpPr>
          <p:cNvPr id="15" name="Shape 13"/>
          <p:cNvSpPr/>
          <p:nvPr/>
        </p:nvSpPr>
        <p:spPr>
          <a:xfrm>
            <a:off x="4837176" y="2871216"/>
            <a:ext cx="329184" cy="329184"/>
          </a:xfrm>
          <a:prstGeom prst="ellipse">
            <a:avLst/>
          </a:prstGeom>
          <a:solidFill>
            <a:srgbClr val="7FA6CC"/>
          </a:solidFill>
          <a:ln w="12700">
            <a:solidFill>
              <a:srgbClr val="7FA6CC"/>
            </a:solidFill>
            <a:prstDash val="solid"/>
          </a:ln>
        </p:spPr>
      </p:sp>
      <p:sp>
        <p:nvSpPr>
          <p:cNvPr id="16" name="Text 14"/>
          <p:cNvSpPr txBox="1"/>
          <p:nvPr/>
        </p:nvSpPr>
        <p:spPr>
          <a:xfrm>
            <a:off x="4837176" y="2871216"/>
            <a:ext cx="329184" cy="329184"/>
          </a:xfrm>
          <a:prstGeom prst="rect">
            <a:avLst/>
          </a:prstGeom>
          <a:noFill/>
          <a:ln/>
        </p:spPr>
        <p:txBody>
          <a:bodyPr wrap="square" lIns="0" tIns="0" rIns="0" bIns="0" rtlCol="0" anchor="ctr"/>
          <a:lstStyle/>
          <a:p>
            <a:pPr algn="ctr" indent="0" marL="0">
              <a:buNone/>
            </a:pPr>
            <a:r>
              <a:rPr lang="en-US" sz="1400" b="1" dirty="0">
                <a:solidFill>
                  <a:srgbClr val="0A0D13"/>
                </a:solidFill>
                <a:latin typeface="Cambria" pitchFamily="34" charset="0"/>
                <a:ea typeface="Cambria" pitchFamily="34" charset="-122"/>
                <a:cs typeface="Cambria" pitchFamily="34" charset="-120"/>
              </a:rPr>
              <a:t>2</a:t>
            </a:r>
            <a:endParaRPr lang="en-US" sz="1400" dirty="0"/>
          </a:p>
        </p:txBody>
      </p:sp>
      <p:sp>
        <p:nvSpPr>
          <p:cNvPr id="17" name="Text 15"/>
          <p:cNvSpPr txBox="1"/>
          <p:nvPr/>
        </p:nvSpPr>
        <p:spPr>
          <a:xfrm>
            <a:off x="5312664" y="2779776"/>
            <a:ext cx="5973775"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Two clues always give the answer</a:t>
            </a:r>
            <a:endParaRPr lang="en-US" sz="1550" dirty="0"/>
          </a:p>
        </p:txBody>
      </p:sp>
      <p:sp>
        <p:nvSpPr>
          <p:cNvPr id="18" name="Text 16"/>
          <p:cNvSpPr txBox="1"/>
          <p:nvPr/>
        </p:nvSpPr>
        <p:spPr>
          <a:xfrm>
            <a:off x="5312664" y="3054096"/>
            <a:ext cx="5973775" cy="274320"/>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Each pair belongs to one ghost only. There is no second answer</a:t>
            </a:r>
            <a:endParaRPr lang="en-US" sz="1200" dirty="0"/>
          </a:p>
        </p:txBody>
      </p:sp>
      <p:sp>
        <p:nvSpPr>
          <p:cNvPr id="19" name="Shape 17"/>
          <p:cNvSpPr/>
          <p:nvPr/>
        </p:nvSpPr>
        <p:spPr>
          <a:xfrm>
            <a:off x="4617720" y="3493008"/>
            <a:ext cx="6888175" cy="694944"/>
          </a:xfrm>
          <a:prstGeom prst="roundRect">
            <a:avLst>
              <a:gd name="adj" fmla="val 7895"/>
            </a:avLst>
          </a:prstGeom>
          <a:solidFill>
            <a:srgbClr val="161D2A"/>
          </a:solidFill>
          <a:ln w="9525">
            <a:solidFill>
              <a:srgbClr val="222C3E"/>
            </a:solidFill>
            <a:prstDash val="solid"/>
          </a:ln>
        </p:spPr>
      </p:sp>
      <p:sp>
        <p:nvSpPr>
          <p:cNvPr id="20" name="Shape 18"/>
          <p:cNvSpPr/>
          <p:nvPr/>
        </p:nvSpPr>
        <p:spPr>
          <a:xfrm>
            <a:off x="4837176" y="3675888"/>
            <a:ext cx="329184" cy="329184"/>
          </a:xfrm>
          <a:prstGeom prst="ellipse">
            <a:avLst/>
          </a:prstGeom>
          <a:solidFill>
            <a:srgbClr val="7FA6CC"/>
          </a:solidFill>
          <a:ln w="12700">
            <a:solidFill>
              <a:srgbClr val="7FA6CC"/>
            </a:solidFill>
            <a:prstDash val="solid"/>
          </a:ln>
        </p:spPr>
      </p:sp>
      <p:sp>
        <p:nvSpPr>
          <p:cNvPr id="21" name="Text 19"/>
          <p:cNvSpPr txBox="1"/>
          <p:nvPr/>
        </p:nvSpPr>
        <p:spPr>
          <a:xfrm>
            <a:off x="4837176" y="3675888"/>
            <a:ext cx="329184" cy="329184"/>
          </a:xfrm>
          <a:prstGeom prst="rect">
            <a:avLst/>
          </a:prstGeom>
          <a:noFill/>
          <a:ln/>
        </p:spPr>
        <p:txBody>
          <a:bodyPr wrap="square" lIns="0" tIns="0" rIns="0" bIns="0" rtlCol="0" anchor="ctr"/>
          <a:lstStyle/>
          <a:p>
            <a:pPr algn="ctr" indent="0" marL="0">
              <a:buNone/>
            </a:pPr>
            <a:r>
              <a:rPr lang="en-US" sz="1400" b="1" dirty="0">
                <a:solidFill>
                  <a:srgbClr val="0A0D13"/>
                </a:solidFill>
                <a:latin typeface="Cambria" pitchFamily="34" charset="0"/>
                <a:ea typeface="Cambria" pitchFamily="34" charset="-122"/>
                <a:cs typeface="Cambria" pitchFamily="34" charset="-120"/>
              </a:rPr>
              <a:t>3</a:t>
            </a:r>
            <a:endParaRPr lang="en-US" sz="1400" dirty="0"/>
          </a:p>
        </p:txBody>
      </p:sp>
      <p:sp>
        <p:nvSpPr>
          <p:cNvPr id="22" name="Text 20"/>
          <p:cNvSpPr txBox="1"/>
          <p:nvPr/>
        </p:nvSpPr>
        <p:spPr>
          <a:xfrm>
            <a:off x="5312664" y="3584448"/>
            <a:ext cx="5973775"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Ruling things out works too</a:t>
            </a:r>
            <a:endParaRPr lang="en-US" sz="1550" dirty="0"/>
          </a:p>
        </p:txBody>
      </p:sp>
      <p:sp>
        <p:nvSpPr>
          <p:cNvPr id="23" name="Text 21"/>
          <p:cNvSpPr txBox="1"/>
          <p:nvPr/>
        </p:nvSpPr>
        <p:spPr>
          <a:xfrm>
            <a:off x="5312664" y="3858768"/>
            <a:ext cx="5973775" cy="274320"/>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Showing that a clue is NOT there also helps you</a:t>
            </a:r>
            <a:endParaRPr lang="en-US" sz="1200" dirty="0"/>
          </a:p>
        </p:txBody>
      </p:sp>
      <p:sp>
        <p:nvSpPr>
          <p:cNvPr id="24" name="Text 22"/>
          <p:cNvSpPr txBox="1"/>
          <p:nvPr/>
        </p:nvSpPr>
        <p:spPr>
          <a:xfrm>
            <a:off x="685800" y="4663440"/>
            <a:ext cx="10820095" cy="566928"/>
          </a:xfrm>
          <a:prstGeom prst="rect">
            <a:avLst/>
          </a:prstGeom>
          <a:noFill/>
          <a:ln/>
        </p:spPr>
        <p:txBody>
          <a:bodyPr wrap="square" lIns="0" tIns="0" rIns="0" bIns="0" rtlCol="0" anchor="ctr"/>
          <a:lstStyle/>
          <a:p>
            <a:pPr algn="ctr" indent="0" marL="0">
              <a:buNone/>
            </a:pPr>
            <a:r>
              <a:rPr lang="en-US" sz="3000" b="1" spc="200" kern="0" dirty="0">
                <a:solidFill>
                  <a:srgbClr val="A9C6E4"/>
                </a:solidFill>
                <a:latin typeface="Cambria" pitchFamily="34" charset="0"/>
                <a:ea typeface="Cambria" pitchFamily="34" charset="-122"/>
                <a:cs typeface="Cambria" pitchFamily="34" charset="-120"/>
              </a:rPr>
              <a:t>No guessing.    No luck.    Just logic.</a:t>
            </a:r>
            <a:endParaRPr lang="en-US" sz="3000" dirty="0"/>
          </a:p>
        </p:txBody>
      </p:sp>
      <p:sp>
        <p:nvSpPr>
          <p:cNvPr id="25" name="Text 23"/>
          <p:cNvSpPr txBox="1"/>
          <p:nvPr/>
        </p:nvSpPr>
        <p:spPr>
          <a:xfrm>
            <a:off x="685800" y="5321808"/>
            <a:ext cx="10820095" cy="365760"/>
          </a:xfrm>
          <a:prstGeom prst="rect">
            <a:avLst/>
          </a:prstGeom>
          <a:noFill/>
          <a:ln/>
        </p:spPr>
        <p:txBody>
          <a:bodyPr wrap="square" lIns="0" tIns="0" rIns="0" bIns="0" rtlCol="0" anchor="ctr"/>
          <a:lstStyle/>
          <a:p>
            <a:pPr algn="ctr" indent="0" marL="0">
              <a:buNone/>
            </a:pPr>
            <a:r>
              <a:rPr lang="en-US" sz="1400" dirty="0">
                <a:solidFill>
                  <a:srgbClr val="8D9AAD"/>
                </a:solidFill>
                <a:latin typeface="Calibri" pitchFamily="34" charset="0"/>
                <a:ea typeface="Calibri" pitchFamily="34" charset="-122"/>
                <a:cs typeface="Calibri" pitchFamily="34" charset="-120"/>
              </a:rPr>
              <a:t>If a player wins, it is because they worked it out.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06 — PACING</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06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Sanity sets the pace</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This is why you cannot just take your time</a:t>
            </a:r>
            <a:endParaRPr lang="en-US" sz="1450" dirty="0"/>
          </a:p>
        </p:txBody>
      </p:sp>
      <p:sp>
        <p:nvSpPr>
          <p:cNvPr id="6" name="Shape 4"/>
          <p:cNvSpPr/>
          <p:nvPr/>
        </p:nvSpPr>
        <p:spPr>
          <a:xfrm>
            <a:off x="685800" y="1883664"/>
            <a:ext cx="5852160" cy="3657600"/>
          </a:xfrm>
          <a:prstGeom prst="roundRect">
            <a:avLst>
              <a:gd name="adj" fmla="val 1500"/>
            </a:avLst>
          </a:prstGeom>
          <a:solidFill>
            <a:srgbClr val="161D2A"/>
          </a:solidFill>
          <a:ln w="9525">
            <a:solidFill>
              <a:srgbClr val="222C3E"/>
            </a:solidFill>
            <a:prstDash val="solid"/>
          </a:ln>
        </p:spPr>
      </p:sp>
      <p:sp>
        <p:nvSpPr>
          <p:cNvPr id="7" name="Text 5"/>
          <p:cNvSpPr txBox="1"/>
          <p:nvPr/>
        </p:nvSpPr>
        <p:spPr>
          <a:xfrm>
            <a:off x="1014984" y="2048256"/>
            <a:ext cx="5193792" cy="310896"/>
          </a:xfrm>
          <a:prstGeom prst="rect">
            <a:avLst/>
          </a:prstGeom>
          <a:noFill/>
          <a:ln/>
        </p:spPr>
        <p:txBody>
          <a:bodyPr wrap="square" lIns="0" tIns="0" rIns="0" bIns="0" rtlCol="0" anchor="ctr"/>
          <a:lstStyle/>
          <a:p>
            <a:pPr indent="0" marL="0">
              <a:buNone/>
            </a:pPr>
            <a:r>
              <a:rPr lang="en-US" sz="1600" b="1" dirty="0">
                <a:solidFill>
                  <a:srgbClr val="7FA6CC"/>
                </a:solidFill>
                <a:latin typeface="Calibri" pitchFamily="34" charset="0"/>
                <a:ea typeface="Calibri" pitchFamily="34" charset="-122"/>
                <a:cs typeface="Calibri" pitchFamily="34" charset="-120"/>
              </a:rPr>
              <a:t>How sanity changes</a:t>
            </a:r>
            <a:endParaRPr lang="en-US" sz="1600" dirty="0"/>
          </a:p>
        </p:txBody>
      </p:sp>
      <p:sp>
        <p:nvSpPr>
          <p:cNvPr id="8" name="Text 6"/>
          <p:cNvSpPr txBox="1"/>
          <p:nvPr/>
        </p:nvSpPr>
        <p:spPr>
          <a:xfrm>
            <a:off x="1014984" y="2487168"/>
            <a:ext cx="3474720" cy="329184"/>
          </a:xfrm>
          <a:prstGeom prst="rect">
            <a:avLst/>
          </a:prstGeom>
          <a:noFill/>
          <a:ln/>
        </p:spPr>
        <p:txBody>
          <a:bodyPr wrap="square" lIns="0" tIns="0" rIns="0" bIns="0" rtlCol="0" anchor="ctr"/>
          <a:lstStyle/>
          <a:p>
            <a:pPr indent="0" marL="0">
              <a:buNone/>
            </a:pPr>
            <a:r>
              <a:rPr lang="en-US" sz="1350" dirty="0">
                <a:solidFill>
                  <a:srgbClr val="E9EDF3"/>
                </a:solidFill>
                <a:latin typeface="Calibri" pitchFamily="34" charset="0"/>
                <a:ea typeface="Calibri" pitchFamily="34" charset="-122"/>
                <a:cs typeface="Calibri" pitchFamily="34" charset="-120"/>
              </a:rPr>
              <a:t>You start at</a:t>
            </a:r>
            <a:endParaRPr lang="en-US" sz="1350" dirty="0"/>
          </a:p>
        </p:txBody>
      </p:sp>
      <p:sp>
        <p:nvSpPr>
          <p:cNvPr id="9" name="Text 7"/>
          <p:cNvSpPr txBox="1"/>
          <p:nvPr/>
        </p:nvSpPr>
        <p:spPr>
          <a:xfrm>
            <a:off x="4572000" y="2487168"/>
            <a:ext cx="1636776" cy="329184"/>
          </a:xfrm>
          <a:prstGeom prst="rect">
            <a:avLst/>
          </a:prstGeom>
          <a:noFill/>
          <a:ln/>
        </p:spPr>
        <p:txBody>
          <a:bodyPr wrap="square" lIns="0" tIns="0" rIns="0" bIns="0" rtlCol="0" anchor="ctr"/>
          <a:lstStyle/>
          <a:p>
            <a:pPr algn="r" indent="0" marL="0">
              <a:buNone/>
            </a:pPr>
            <a:r>
              <a:rPr lang="en-US" sz="1200" dirty="0">
                <a:solidFill>
                  <a:srgbClr val="8D9AAD"/>
                </a:solidFill>
                <a:latin typeface="Courier New" pitchFamily="34" charset="0"/>
                <a:ea typeface="Courier New" pitchFamily="34" charset="-122"/>
                <a:cs typeface="Courier New" pitchFamily="34" charset="-120"/>
              </a:rPr>
              <a:t>100 %</a:t>
            </a:r>
            <a:endParaRPr lang="en-US" sz="1200" dirty="0"/>
          </a:p>
        </p:txBody>
      </p:sp>
      <p:sp>
        <p:nvSpPr>
          <p:cNvPr id="10" name="Text 8"/>
          <p:cNvSpPr txBox="1"/>
          <p:nvPr/>
        </p:nvSpPr>
        <p:spPr>
          <a:xfrm>
            <a:off x="1014984" y="2907792"/>
            <a:ext cx="3474720" cy="329184"/>
          </a:xfrm>
          <a:prstGeom prst="rect">
            <a:avLst/>
          </a:prstGeom>
          <a:noFill/>
          <a:ln/>
        </p:spPr>
        <p:txBody>
          <a:bodyPr wrap="square" lIns="0" tIns="0" rIns="0" bIns="0" rtlCol="0" anchor="ctr"/>
          <a:lstStyle/>
          <a:p>
            <a:pPr indent="0" marL="0">
              <a:buNone/>
            </a:pPr>
            <a:r>
              <a:rPr lang="en-US" sz="1350" dirty="0">
                <a:solidFill>
                  <a:srgbClr val="E9EDF3"/>
                </a:solidFill>
                <a:latin typeface="Calibri" pitchFamily="34" charset="0"/>
                <a:ea typeface="Calibri" pitchFamily="34" charset="-122"/>
                <a:cs typeface="Calibri" pitchFamily="34" charset="-120"/>
              </a:rPr>
              <a:t>Standing in the dark</a:t>
            </a:r>
            <a:endParaRPr lang="en-US" sz="1350" dirty="0"/>
          </a:p>
        </p:txBody>
      </p:sp>
      <p:sp>
        <p:nvSpPr>
          <p:cNvPr id="11" name="Text 9"/>
          <p:cNvSpPr txBox="1"/>
          <p:nvPr/>
        </p:nvSpPr>
        <p:spPr>
          <a:xfrm>
            <a:off x="4572000" y="2907792"/>
            <a:ext cx="1636776" cy="329184"/>
          </a:xfrm>
          <a:prstGeom prst="rect">
            <a:avLst/>
          </a:prstGeom>
          <a:noFill/>
          <a:ln/>
        </p:spPr>
        <p:txBody>
          <a:bodyPr wrap="square" lIns="0" tIns="0" rIns="0" bIns="0" rtlCol="0" anchor="ctr"/>
          <a:lstStyle/>
          <a:p>
            <a:pPr algn="r" indent="0" marL="0">
              <a:buNone/>
            </a:pPr>
            <a:r>
              <a:rPr lang="en-US" sz="1200" dirty="0">
                <a:solidFill>
                  <a:srgbClr val="E0505E"/>
                </a:solidFill>
                <a:latin typeface="Courier New" pitchFamily="34" charset="0"/>
                <a:ea typeface="Courier New" pitchFamily="34" charset="-122"/>
                <a:cs typeface="Courier New" pitchFamily="34" charset="-120"/>
              </a:rPr>
              <a:t>−0.12 %/s</a:t>
            </a:r>
            <a:endParaRPr lang="en-US" sz="1200" dirty="0"/>
          </a:p>
        </p:txBody>
      </p:sp>
      <p:sp>
        <p:nvSpPr>
          <p:cNvPr id="12" name="Text 10"/>
          <p:cNvSpPr txBox="1"/>
          <p:nvPr/>
        </p:nvSpPr>
        <p:spPr>
          <a:xfrm>
            <a:off x="1014984" y="3328416"/>
            <a:ext cx="3474720" cy="329184"/>
          </a:xfrm>
          <a:prstGeom prst="rect">
            <a:avLst/>
          </a:prstGeom>
          <a:noFill/>
          <a:ln/>
        </p:spPr>
        <p:txBody>
          <a:bodyPr wrap="square" lIns="0" tIns="0" rIns="0" bIns="0" rtlCol="0" anchor="ctr"/>
          <a:lstStyle/>
          <a:p>
            <a:pPr indent="0" marL="0">
              <a:buNone/>
            </a:pPr>
            <a:r>
              <a:rPr lang="en-US" sz="1350" dirty="0">
                <a:solidFill>
                  <a:srgbClr val="E9EDF3"/>
                </a:solidFill>
                <a:latin typeface="Calibri" pitchFamily="34" charset="0"/>
                <a:ea typeface="Calibri" pitchFamily="34" charset="-122"/>
                <a:cs typeface="Calibri" pitchFamily="34" charset="-120"/>
              </a:rPr>
              <a:t>In a room with the light on</a:t>
            </a:r>
            <a:endParaRPr lang="en-US" sz="1350" dirty="0"/>
          </a:p>
        </p:txBody>
      </p:sp>
      <p:sp>
        <p:nvSpPr>
          <p:cNvPr id="13" name="Text 11"/>
          <p:cNvSpPr txBox="1"/>
          <p:nvPr/>
        </p:nvSpPr>
        <p:spPr>
          <a:xfrm>
            <a:off x="4572000" y="3328416"/>
            <a:ext cx="1636776" cy="329184"/>
          </a:xfrm>
          <a:prstGeom prst="rect">
            <a:avLst/>
          </a:prstGeom>
          <a:noFill/>
          <a:ln/>
        </p:spPr>
        <p:txBody>
          <a:bodyPr wrap="square" lIns="0" tIns="0" rIns="0" bIns="0" rtlCol="0" anchor="ctr"/>
          <a:lstStyle/>
          <a:p>
            <a:pPr algn="r" indent="0" marL="0">
              <a:buNone/>
            </a:pPr>
            <a:r>
              <a:rPr lang="en-US" sz="1200" dirty="0">
                <a:solidFill>
                  <a:srgbClr val="E0505E"/>
                </a:solidFill>
                <a:latin typeface="Courier New" pitchFamily="34" charset="0"/>
                <a:ea typeface="Courier New" pitchFamily="34" charset="-122"/>
                <a:cs typeface="Courier New" pitchFamily="34" charset="-120"/>
              </a:rPr>
              <a:t>−0.06 %/s</a:t>
            </a:r>
            <a:endParaRPr lang="en-US" sz="1200" dirty="0"/>
          </a:p>
        </p:txBody>
      </p:sp>
      <p:sp>
        <p:nvSpPr>
          <p:cNvPr id="14" name="Text 12"/>
          <p:cNvSpPr txBox="1"/>
          <p:nvPr/>
        </p:nvSpPr>
        <p:spPr>
          <a:xfrm>
            <a:off x="1014984" y="3749040"/>
            <a:ext cx="3474720" cy="329184"/>
          </a:xfrm>
          <a:prstGeom prst="rect">
            <a:avLst/>
          </a:prstGeom>
          <a:noFill/>
          <a:ln/>
        </p:spPr>
        <p:txBody>
          <a:bodyPr wrap="square" lIns="0" tIns="0" rIns="0" bIns="0" rtlCol="0" anchor="ctr"/>
          <a:lstStyle/>
          <a:p>
            <a:pPr indent="0" marL="0">
              <a:buNone/>
            </a:pPr>
            <a:r>
              <a:rPr lang="en-US" sz="1350" dirty="0">
                <a:solidFill>
                  <a:srgbClr val="E9EDF3"/>
                </a:solidFill>
                <a:latin typeface="Calibri" pitchFamily="34" charset="0"/>
                <a:ea typeface="Calibri" pitchFamily="34" charset="-122"/>
                <a:cs typeface="Calibri" pitchFamily="34" charset="-120"/>
              </a:rPr>
              <a:t>Holding a lit flashlight</a:t>
            </a:r>
            <a:endParaRPr lang="en-US" sz="1350" dirty="0"/>
          </a:p>
        </p:txBody>
      </p:sp>
      <p:sp>
        <p:nvSpPr>
          <p:cNvPr id="15" name="Text 13"/>
          <p:cNvSpPr txBox="1"/>
          <p:nvPr/>
        </p:nvSpPr>
        <p:spPr>
          <a:xfrm>
            <a:off x="4572000" y="3749040"/>
            <a:ext cx="1636776" cy="329184"/>
          </a:xfrm>
          <a:prstGeom prst="rect">
            <a:avLst/>
          </a:prstGeom>
          <a:noFill/>
          <a:ln/>
        </p:spPr>
        <p:txBody>
          <a:bodyPr wrap="square" lIns="0" tIns="0" rIns="0" bIns="0" rtlCol="0" anchor="ctr"/>
          <a:lstStyle/>
          <a:p>
            <a:pPr algn="r" indent="0" marL="0">
              <a:buNone/>
            </a:pPr>
            <a:r>
              <a:rPr lang="en-US" sz="1200" dirty="0">
                <a:solidFill>
                  <a:srgbClr val="E0505E"/>
                </a:solidFill>
                <a:latin typeface="Courier New" pitchFamily="34" charset="0"/>
                <a:ea typeface="Courier New" pitchFamily="34" charset="-122"/>
                <a:cs typeface="Courier New" pitchFamily="34" charset="-120"/>
              </a:rPr>
              <a:t>half as fast</a:t>
            </a:r>
            <a:endParaRPr lang="en-US" sz="1200" dirty="0"/>
          </a:p>
        </p:txBody>
      </p:sp>
      <p:sp>
        <p:nvSpPr>
          <p:cNvPr id="16" name="Text 14"/>
          <p:cNvSpPr txBox="1"/>
          <p:nvPr/>
        </p:nvSpPr>
        <p:spPr>
          <a:xfrm>
            <a:off x="1014984" y="4169664"/>
            <a:ext cx="3474720" cy="329184"/>
          </a:xfrm>
          <a:prstGeom prst="rect">
            <a:avLst/>
          </a:prstGeom>
          <a:noFill/>
          <a:ln/>
        </p:spPr>
        <p:txBody>
          <a:bodyPr wrap="square" lIns="0" tIns="0" rIns="0" bIns="0" rtlCol="0" anchor="ctr"/>
          <a:lstStyle/>
          <a:p>
            <a:pPr indent="0" marL="0">
              <a:buNone/>
            </a:pPr>
            <a:r>
              <a:rPr lang="en-US" sz="1350" dirty="0">
                <a:solidFill>
                  <a:srgbClr val="E9EDF3"/>
                </a:solidFill>
                <a:latin typeface="Calibri" pitchFamily="34" charset="0"/>
                <a:ea typeface="Calibri" pitchFamily="34" charset="-122"/>
                <a:cs typeface="Calibri" pitchFamily="34" charset="-120"/>
              </a:rPr>
              <a:t>Seeing the ghost do something</a:t>
            </a:r>
            <a:endParaRPr lang="en-US" sz="1350" dirty="0"/>
          </a:p>
        </p:txBody>
      </p:sp>
      <p:sp>
        <p:nvSpPr>
          <p:cNvPr id="17" name="Text 15"/>
          <p:cNvSpPr txBox="1"/>
          <p:nvPr/>
        </p:nvSpPr>
        <p:spPr>
          <a:xfrm>
            <a:off x="4572000" y="4169664"/>
            <a:ext cx="1636776" cy="329184"/>
          </a:xfrm>
          <a:prstGeom prst="rect">
            <a:avLst/>
          </a:prstGeom>
          <a:noFill/>
          <a:ln/>
        </p:spPr>
        <p:txBody>
          <a:bodyPr wrap="square" lIns="0" tIns="0" rIns="0" bIns="0" rtlCol="0" anchor="ctr"/>
          <a:lstStyle/>
          <a:p>
            <a:pPr algn="r" indent="0" marL="0">
              <a:buNone/>
            </a:pPr>
            <a:r>
              <a:rPr lang="en-US" sz="1200" dirty="0">
                <a:solidFill>
                  <a:srgbClr val="E0505E"/>
                </a:solidFill>
                <a:latin typeface="Courier New" pitchFamily="34" charset="0"/>
                <a:ea typeface="Courier New" pitchFamily="34" charset="-122"/>
                <a:cs typeface="Courier New" pitchFamily="34" charset="-120"/>
              </a:rPr>
              <a:t>−15 % at once</a:t>
            </a:r>
            <a:endParaRPr lang="en-US" sz="1200" dirty="0"/>
          </a:p>
        </p:txBody>
      </p:sp>
      <p:sp>
        <p:nvSpPr>
          <p:cNvPr id="18" name="Text 16"/>
          <p:cNvSpPr txBox="1"/>
          <p:nvPr/>
        </p:nvSpPr>
        <p:spPr>
          <a:xfrm>
            <a:off x="1014984" y="4590288"/>
            <a:ext cx="3474720" cy="329184"/>
          </a:xfrm>
          <a:prstGeom prst="rect">
            <a:avLst/>
          </a:prstGeom>
          <a:noFill/>
          <a:ln/>
        </p:spPr>
        <p:txBody>
          <a:bodyPr wrap="square" lIns="0" tIns="0" rIns="0" bIns="0" rtlCol="0" anchor="ctr"/>
          <a:lstStyle/>
          <a:p>
            <a:pPr indent="0" marL="0">
              <a:buNone/>
            </a:pPr>
            <a:r>
              <a:rPr lang="en-US" sz="1350" dirty="0">
                <a:solidFill>
                  <a:srgbClr val="E9EDF3"/>
                </a:solidFill>
                <a:latin typeface="Calibri" pitchFamily="34" charset="0"/>
                <a:ea typeface="Calibri" pitchFamily="34" charset="-122"/>
                <a:cs typeface="Calibri" pitchFamily="34" charset="-120"/>
              </a:rPr>
              <a:t>While it is hunting you</a:t>
            </a:r>
            <a:endParaRPr lang="en-US" sz="1350" dirty="0"/>
          </a:p>
        </p:txBody>
      </p:sp>
      <p:sp>
        <p:nvSpPr>
          <p:cNvPr id="19" name="Text 17"/>
          <p:cNvSpPr txBox="1"/>
          <p:nvPr/>
        </p:nvSpPr>
        <p:spPr>
          <a:xfrm>
            <a:off x="4572000" y="4590288"/>
            <a:ext cx="1636776" cy="329184"/>
          </a:xfrm>
          <a:prstGeom prst="rect">
            <a:avLst/>
          </a:prstGeom>
          <a:noFill/>
          <a:ln/>
        </p:spPr>
        <p:txBody>
          <a:bodyPr wrap="square" lIns="0" tIns="0" rIns="0" bIns="0" rtlCol="0" anchor="ctr"/>
          <a:lstStyle/>
          <a:p>
            <a:pPr algn="r" indent="0" marL="0">
              <a:buNone/>
            </a:pPr>
            <a:r>
              <a:rPr lang="en-US" sz="1200" dirty="0">
                <a:solidFill>
                  <a:srgbClr val="E0505E"/>
                </a:solidFill>
                <a:latin typeface="Courier New" pitchFamily="34" charset="0"/>
                <a:ea typeface="Courier New" pitchFamily="34" charset="-122"/>
                <a:cs typeface="Courier New" pitchFamily="34" charset="-120"/>
              </a:rPr>
              <a:t>−0.5 %/s</a:t>
            </a:r>
            <a:endParaRPr lang="en-US" sz="1200" dirty="0"/>
          </a:p>
        </p:txBody>
      </p:sp>
      <p:sp>
        <p:nvSpPr>
          <p:cNvPr id="20" name="Text 18"/>
          <p:cNvSpPr txBox="1"/>
          <p:nvPr/>
        </p:nvSpPr>
        <p:spPr>
          <a:xfrm>
            <a:off x="1014984" y="5010912"/>
            <a:ext cx="3474720" cy="329184"/>
          </a:xfrm>
          <a:prstGeom prst="rect">
            <a:avLst/>
          </a:prstGeom>
          <a:noFill/>
          <a:ln/>
        </p:spPr>
        <p:txBody>
          <a:bodyPr wrap="square" lIns="0" tIns="0" rIns="0" bIns="0" rtlCol="0" anchor="ctr"/>
          <a:lstStyle/>
          <a:p>
            <a:pPr indent="0" marL="0">
              <a:buNone/>
            </a:pPr>
            <a:r>
              <a:rPr lang="en-US" sz="1350" dirty="0">
                <a:solidFill>
                  <a:srgbClr val="E9EDF3"/>
                </a:solidFill>
                <a:latin typeface="Calibri" pitchFamily="34" charset="0"/>
                <a:ea typeface="Calibri" pitchFamily="34" charset="-122"/>
                <a:cs typeface="Calibri" pitchFamily="34" charset="-120"/>
              </a:rPr>
              <a:t>Back in the lobby</a:t>
            </a:r>
            <a:endParaRPr lang="en-US" sz="1350" dirty="0"/>
          </a:p>
        </p:txBody>
      </p:sp>
      <p:sp>
        <p:nvSpPr>
          <p:cNvPr id="21" name="Text 19"/>
          <p:cNvSpPr txBox="1"/>
          <p:nvPr/>
        </p:nvSpPr>
        <p:spPr>
          <a:xfrm>
            <a:off x="4572000" y="5010912"/>
            <a:ext cx="1636776" cy="329184"/>
          </a:xfrm>
          <a:prstGeom prst="rect">
            <a:avLst/>
          </a:prstGeom>
          <a:noFill/>
          <a:ln/>
        </p:spPr>
        <p:txBody>
          <a:bodyPr wrap="square" lIns="0" tIns="0" rIns="0" bIns="0" rtlCol="0" anchor="ctr"/>
          <a:lstStyle/>
          <a:p>
            <a:pPr algn="r" indent="0" marL="0">
              <a:buNone/>
            </a:pPr>
            <a:r>
              <a:rPr lang="en-US" sz="1200" dirty="0">
                <a:solidFill>
                  <a:srgbClr val="A9C6E4"/>
                </a:solidFill>
                <a:latin typeface="Courier New" pitchFamily="34" charset="0"/>
                <a:ea typeface="Courier New" pitchFamily="34" charset="-122"/>
                <a:cs typeface="Courier New" pitchFamily="34" charset="-120"/>
              </a:rPr>
              <a:t>+1.0 %/s</a:t>
            </a:r>
            <a:endParaRPr lang="en-US" sz="1200" dirty="0"/>
          </a:p>
        </p:txBody>
      </p:sp>
      <p:sp>
        <p:nvSpPr>
          <p:cNvPr id="22" name="Shape 20"/>
          <p:cNvSpPr/>
          <p:nvPr/>
        </p:nvSpPr>
        <p:spPr>
          <a:xfrm>
            <a:off x="6949440" y="1883664"/>
            <a:ext cx="4556455" cy="1517904"/>
          </a:xfrm>
          <a:prstGeom prst="roundRect">
            <a:avLst>
              <a:gd name="adj" fmla="val 3614"/>
            </a:avLst>
          </a:prstGeom>
          <a:solidFill>
            <a:srgbClr val="222C3E"/>
          </a:solidFill>
          <a:ln w="9525">
            <a:solidFill>
              <a:srgbClr val="222C3E"/>
            </a:solidFill>
            <a:prstDash val="solid"/>
          </a:ln>
        </p:spPr>
      </p:sp>
      <p:sp>
        <p:nvSpPr>
          <p:cNvPr id="23" name="Text 21"/>
          <p:cNvSpPr txBox="1"/>
          <p:nvPr/>
        </p:nvSpPr>
        <p:spPr>
          <a:xfrm>
            <a:off x="7278624" y="2029968"/>
            <a:ext cx="3898087" cy="274320"/>
          </a:xfrm>
          <a:prstGeom prst="rect">
            <a:avLst/>
          </a:prstGeom>
          <a:noFill/>
          <a:ln/>
        </p:spPr>
        <p:txBody>
          <a:bodyPr wrap="square" lIns="0" tIns="0" rIns="0" bIns="0" rtlCol="0" anchor="ctr"/>
          <a:lstStyle/>
          <a:p>
            <a:pPr indent="0" marL="0">
              <a:buNone/>
            </a:pPr>
            <a:r>
              <a:rPr lang="en-US" sz="1500" b="1" dirty="0">
                <a:solidFill>
                  <a:srgbClr val="7FA6CC"/>
                </a:solidFill>
                <a:latin typeface="Calibri" pitchFamily="34" charset="0"/>
                <a:ea typeface="Calibri" pitchFamily="34" charset="-122"/>
                <a:cs typeface="Calibri" pitchFamily="34" charset="-120"/>
              </a:rPr>
              <a:t>Chance of a hunt</a:t>
            </a:r>
            <a:endParaRPr lang="en-US" sz="1500" dirty="0"/>
          </a:p>
        </p:txBody>
      </p:sp>
      <p:sp>
        <p:nvSpPr>
          <p:cNvPr id="24" name="Text 22"/>
          <p:cNvSpPr txBox="1"/>
          <p:nvPr/>
        </p:nvSpPr>
        <p:spPr>
          <a:xfrm>
            <a:off x="7223760" y="2395728"/>
            <a:ext cx="4007815" cy="457200"/>
          </a:xfrm>
          <a:prstGeom prst="rect">
            <a:avLst/>
          </a:prstGeom>
          <a:noFill/>
          <a:ln/>
        </p:spPr>
        <p:txBody>
          <a:bodyPr wrap="square" lIns="0" tIns="0" rIns="0" bIns="0" rtlCol="0" anchor="ctr"/>
          <a:lstStyle/>
          <a:p>
            <a:pPr algn="ctr" indent="0" marL="0">
              <a:buNone/>
            </a:pPr>
            <a:r>
              <a:rPr lang="en-US" sz="2500" b="1" dirty="0">
                <a:solidFill>
                  <a:srgbClr val="E0505E"/>
                </a:solidFill>
                <a:latin typeface="Cambria" pitchFamily="34" charset="0"/>
                <a:ea typeface="Cambria" pitchFamily="34" charset="-122"/>
                <a:cs typeface="Cambria" pitchFamily="34" charset="-120"/>
              </a:rPr>
              <a:t>P  =  ( 50 − sanity ) ÷ 50</a:t>
            </a:r>
            <a:endParaRPr lang="en-US" sz="2500" dirty="0"/>
          </a:p>
        </p:txBody>
      </p:sp>
      <p:sp>
        <p:nvSpPr>
          <p:cNvPr id="25" name="Text 23"/>
          <p:cNvSpPr txBox="1"/>
          <p:nvPr/>
        </p:nvSpPr>
        <p:spPr>
          <a:xfrm>
            <a:off x="7278624" y="2907792"/>
            <a:ext cx="3898087" cy="402336"/>
          </a:xfrm>
          <a:prstGeom prst="rect">
            <a:avLst/>
          </a:prstGeom>
          <a:noFill/>
          <a:ln/>
        </p:spPr>
        <p:txBody>
          <a:bodyPr wrap="square" lIns="0" tIns="0" rIns="0" bIns="0" rtlCol="0" anchor="ctr"/>
          <a:lstStyle/>
          <a:p>
            <a:pPr algn="ctr" indent="0" marL="0">
              <a:buNone/>
            </a:pPr>
            <a:r>
              <a:rPr lang="en-US" sz="1250" dirty="0">
                <a:solidFill>
                  <a:srgbClr val="8D9AAD"/>
                </a:solidFill>
                <a:latin typeface="Calibri" pitchFamily="34" charset="0"/>
                <a:ea typeface="Calibri" pitchFamily="34" charset="-122"/>
                <a:cs typeface="Calibri" pitchFamily="34" charset="-120"/>
              </a:rPr>
              <a:t>The game checks every 25 seconds, once sanity is under 50 %</a:t>
            </a:r>
            <a:endParaRPr lang="en-US" sz="1250" dirty="0"/>
          </a:p>
        </p:txBody>
      </p:sp>
      <p:sp>
        <p:nvSpPr>
          <p:cNvPr id="26" name="Shape 24"/>
          <p:cNvSpPr/>
          <p:nvPr/>
        </p:nvSpPr>
        <p:spPr>
          <a:xfrm>
            <a:off x="6949440" y="3602736"/>
            <a:ext cx="4556455" cy="548640"/>
          </a:xfrm>
          <a:prstGeom prst="roundRect">
            <a:avLst>
              <a:gd name="adj" fmla="val 10000"/>
            </a:avLst>
          </a:prstGeom>
          <a:solidFill>
            <a:srgbClr val="161D2A"/>
          </a:solidFill>
          <a:ln w="9525">
            <a:solidFill>
              <a:srgbClr val="222C3E"/>
            </a:solidFill>
            <a:prstDash val="solid"/>
          </a:ln>
        </p:spPr>
      </p:sp>
      <p:sp>
        <p:nvSpPr>
          <p:cNvPr id="27" name="Text 25"/>
          <p:cNvSpPr txBox="1"/>
          <p:nvPr/>
        </p:nvSpPr>
        <p:spPr>
          <a:xfrm>
            <a:off x="7278624" y="3602736"/>
            <a:ext cx="1949044" cy="548640"/>
          </a:xfrm>
          <a:prstGeom prst="rect">
            <a:avLst/>
          </a:prstGeom>
          <a:noFill/>
          <a:ln/>
        </p:spPr>
        <p:txBody>
          <a:bodyPr wrap="square" lIns="0" tIns="0" rIns="0" bIns="0" rtlCol="0" anchor="ctr"/>
          <a:lstStyle/>
          <a:p>
            <a:pPr indent="0" marL="0">
              <a:buNone/>
            </a:pPr>
            <a:r>
              <a:rPr lang="en-US" sz="1400" dirty="0">
                <a:solidFill>
                  <a:srgbClr val="E9EDF3"/>
                </a:solidFill>
                <a:latin typeface="Calibri" pitchFamily="34" charset="0"/>
                <a:ea typeface="Calibri" pitchFamily="34" charset="-122"/>
                <a:cs typeface="Calibri" pitchFamily="34" charset="-120"/>
              </a:rPr>
              <a:t>Sanity 50 %</a:t>
            </a:r>
            <a:endParaRPr lang="en-US" sz="1400" dirty="0"/>
          </a:p>
        </p:txBody>
      </p:sp>
      <p:sp>
        <p:nvSpPr>
          <p:cNvPr id="28" name="Text 26"/>
          <p:cNvSpPr txBox="1"/>
          <p:nvPr/>
        </p:nvSpPr>
        <p:spPr>
          <a:xfrm>
            <a:off x="9227668" y="3602736"/>
            <a:ext cx="1949044" cy="548640"/>
          </a:xfrm>
          <a:prstGeom prst="rect">
            <a:avLst/>
          </a:prstGeom>
          <a:noFill/>
          <a:ln/>
        </p:spPr>
        <p:txBody>
          <a:bodyPr wrap="square" lIns="0" tIns="0" rIns="0" bIns="0" rtlCol="0" anchor="ctr"/>
          <a:lstStyle/>
          <a:p>
            <a:pPr algn="r" indent="0" marL="0">
              <a:buNone/>
            </a:pPr>
            <a:r>
              <a:rPr lang="en-US" sz="1400" b="1" dirty="0">
                <a:solidFill>
                  <a:srgbClr val="E0505E"/>
                </a:solidFill>
                <a:latin typeface="Calibri" pitchFamily="34" charset="0"/>
                <a:ea typeface="Calibri" pitchFamily="34" charset="-122"/>
                <a:cs typeface="Calibri" pitchFamily="34" charset="-120"/>
              </a:rPr>
              <a:t>→   0 %</a:t>
            </a:r>
            <a:endParaRPr lang="en-US" sz="1400" dirty="0"/>
          </a:p>
        </p:txBody>
      </p:sp>
      <p:sp>
        <p:nvSpPr>
          <p:cNvPr id="29" name="Shape 27"/>
          <p:cNvSpPr/>
          <p:nvPr/>
        </p:nvSpPr>
        <p:spPr>
          <a:xfrm>
            <a:off x="6949440" y="4261104"/>
            <a:ext cx="4556455" cy="548640"/>
          </a:xfrm>
          <a:prstGeom prst="roundRect">
            <a:avLst>
              <a:gd name="adj" fmla="val 10000"/>
            </a:avLst>
          </a:prstGeom>
          <a:solidFill>
            <a:srgbClr val="161D2A"/>
          </a:solidFill>
          <a:ln w="9525">
            <a:solidFill>
              <a:srgbClr val="222C3E"/>
            </a:solidFill>
            <a:prstDash val="solid"/>
          </a:ln>
        </p:spPr>
      </p:sp>
      <p:sp>
        <p:nvSpPr>
          <p:cNvPr id="30" name="Text 28"/>
          <p:cNvSpPr txBox="1"/>
          <p:nvPr/>
        </p:nvSpPr>
        <p:spPr>
          <a:xfrm>
            <a:off x="7278624" y="4261104"/>
            <a:ext cx="1949044" cy="548640"/>
          </a:xfrm>
          <a:prstGeom prst="rect">
            <a:avLst/>
          </a:prstGeom>
          <a:noFill/>
          <a:ln/>
        </p:spPr>
        <p:txBody>
          <a:bodyPr wrap="square" lIns="0" tIns="0" rIns="0" bIns="0" rtlCol="0" anchor="ctr"/>
          <a:lstStyle/>
          <a:p>
            <a:pPr indent="0" marL="0">
              <a:buNone/>
            </a:pPr>
            <a:r>
              <a:rPr lang="en-US" sz="1400" dirty="0">
                <a:solidFill>
                  <a:srgbClr val="E9EDF3"/>
                </a:solidFill>
                <a:latin typeface="Calibri" pitchFamily="34" charset="0"/>
                <a:ea typeface="Calibri" pitchFamily="34" charset="-122"/>
                <a:cs typeface="Calibri" pitchFamily="34" charset="-120"/>
              </a:rPr>
              <a:t>Sanity 25 %</a:t>
            </a:r>
            <a:endParaRPr lang="en-US" sz="1400" dirty="0"/>
          </a:p>
        </p:txBody>
      </p:sp>
      <p:sp>
        <p:nvSpPr>
          <p:cNvPr id="31" name="Text 29"/>
          <p:cNvSpPr txBox="1"/>
          <p:nvPr/>
        </p:nvSpPr>
        <p:spPr>
          <a:xfrm>
            <a:off x="9227668" y="4261104"/>
            <a:ext cx="1949044" cy="548640"/>
          </a:xfrm>
          <a:prstGeom prst="rect">
            <a:avLst/>
          </a:prstGeom>
          <a:noFill/>
          <a:ln/>
        </p:spPr>
        <p:txBody>
          <a:bodyPr wrap="square" lIns="0" tIns="0" rIns="0" bIns="0" rtlCol="0" anchor="ctr"/>
          <a:lstStyle/>
          <a:p>
            <a:pPr algn="r" indent="0" marL="0">
              <a:buNone/>
            </a:pPr>
            <a:r>
              <a:rPr lang="en-US" sz="1400" b="1" dirty="0">
                <a:solidFill>
                  <a:srgbClr val="E0505E"/>
                </a:solidFill>
                <a:latin typeface="Calibri" pitchFamily="34" charset="0"/>
                <a:ea typeface="Calibri" pitchFamily="34" charset="-122"/>
                <a:cs typeface="Calibri" pitchFamily="34" charset="-120"/>
              </a:rPr>
              <a:t>→   50 %</a:t>
            </a:r>
            <a:endParaRPr lang="en-US" sz="1400" dirty="0"/>
          </a:p>
        </p:txBody>
      </p:sp>
      <p:sp>
        <p:nvSpPr>
          <p:cNvPr id="32" name="Shape 30"/>
          <p:cNvSpPr/>
          <p:nvPr/>
        </p:nvSpPr>
        <p:spPr>
          <a:xfrm>
            <a:off x="6949440" y="4919472"/>
            <a:ext cx="4556455" cy="548640"/>
          </a:xfrm>
          <a:prstGeom prst="roundRect">
            <a:avLst>
              <a:gd name="adj" fmla="val 10000"/>
            </a:avLst>
          </a:prstGeom>
          <a:solidFill>
            <a:srgbClr val="161D2A"/>
          </a:solidFill>
          <a:ln w="9525">
            <a:solidFill>
              <a:srgbClr val="222C3E"/>
            </a:solidFill>
            <a:prstDash val="solid"/>
          </a:ln>
        </p:spPr>
      </p:sp>
      <p:sp>
        <p:nvSpPr>
          <p:cNvPr id="33" name="Text 31"/>
          <p:cNvSpPr txBox="1"/>
          <p:nvPr/>
        </p:nvSpPr>
        <p:spPr>
          <a:xfrm>
            <a:off x="7278624" y="4919472"/>
            <a:ext cx="1949044" cy="548640"/>
          </a:xfrm>
          <a:prstGeom prst="rect">
            <a:avLst/>
          </a:prstGeom>
          <a:noFill/>
          <a:ln/>
        </p:spPr>
        <p:txBody>
          <a:bodyPr wrap="square" lIns="0" tIns="0" rIns="0" bIns="0" rtlCol="0" anchor="ctr"/>
          <a:lstStyle/>
          <a:p>
            <a:pPr indent="0" marL="0">
              <a:buNone/>
            </a:pPr>
            <a:r>
              <a:rPr lang="en-US" sz="1400" dirty="0">
                <a:solidFill>
                  <a:srgbClr val="E9EDF3"/>
                </a:solidFill>
                <a:latin typeface="Calibri" pitchFamily="34" charset="0"/>
                <a:ea typeface="Calibri" pitchFamily="34" charset="-122"/>
                <a:cs typeface="Calibri" pitchFamily="34" charset="-120"/>
              </a:rPr>
              <a:t>Sanity 0 %</a:t>
            </a:r>
            <a:endParaRPr lang="en-US" sz="1400" dirty="0"/>
          </a:p>
        </p:txBody>
      </p:sp>
      <p:sp>
        <p:nvSpPr>
          <p:cNvPr id="34" name="Text 32"/>
          <p:cNvSpPr txBox="1"/>
          <p:nvPr/>
        </p:nvSpPr>
        <p:spPr>
          <a:xfrm>
            <a:off x="9227668" y="4919472"/>
            <a:ext cx="1949044" cy="548640"/>
          </a:xfrm>
          <a:prstGeom prst="rect">
            <a:avLst/>
          </a:prstGeom>
          <a:noFill/>
          <a:ln/>
        </p:spPr>
        <p:txBody>
          <a:bodyPr wrap="square" lIns="0" tIns="0" rIns="0" bIns="0" rtlCol="0" anchor="ctr"/>
          <a:lstStyle/>
          <a:p>
            <a:pPr algn="r" indent="0" marL="0">
              <a:buNone/>
            </a:pPr>
            <a:r>
              <a:rPr lang="en-US" sz="1400" b="1" dirty="0">
                <a:solidFill>
                  <a:srgbClr val="E0505E"/>
                </a:solidFill>
                <a:latin typeface="Calibri" pitchFamily="34" charset="0"/>
                <a:ea typeface="Calibri" pitchFamily="34" charset="-122"/>
                <a:cs typeface="Calibri" pitchFamily="34" charset="-120"/>
              </a:rPr>
              <a:t>→   always</a:t>
            </a:r>
            <a:endParaRPr lang="en-US" sz="1400" dirty="0"/>
          </a:p>
        </p:txBody>
      </p:sp>
      <p:sp>
        <p:nvSpPr>
          <p:cNvPr id="35" name="Text 33"/>
          <p:cNvSpPr txBox="1"/>
          <p:nvPr/>
        </p:nvSpPr>
        <p:spPr>
          <a:xfrm>
            <a:off x="685800" y="6126480"/>
            <a:ext cx="9265615" cy="384048"/>
          </a:xfrm>
          <a:prstGeom prst="rect">
            <a:avLst/>
          </a:prstGeom>
          <a:noFill/>
          <a:ln/>
        </p:spPr>
        <p:txBody>
          <a:bodyPr wrap="square" lIns="0" tIns="0" rIns="0" bIns="0" rtlCol="0" anchor="ctr"/>
          <a:lstStyle/>
          <a:p>
            <a:pPr indent="0" marL="0">
              <a:buNone/>
            </a:pPr>
            <a:r>
              <a:rPr lang="en-US" sz="1300" i="1" dirty="0">
                <a:solidFill>
                  <a:srgbClr val="8D9AAD"/>
                </a:solidFill>
                <a:latin typeface="Calibri" pitchFamily="34" charset="0"/>
                <a:ea typeface="Calibri" pitchFamily="34" charset="-122"/>
                <a:cs typeface="Calibri" pitchFamily="34" charset="-120"/>
              </a:rPr>
              <a:t>The player is always asking the same question: how much longer can I stay? That worry is the game.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07 — THE HUNT</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07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Running away does not work</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We set these speeds by hand and tested them</a:t>
            </a:r>
            <a:endParaRPr lang="en-US" sz="1450" dirty="0"/>
          </a:p>
        </p:txBody>
      </p:sp>
      <p:graphicFrame>
        <p:nvGraphicFramePr>
          <p:cNvPr id="6" name="Chart 0" descr=""/>
          <p:cNvGraphicFramePr/>
          <p:nvPr/>
        </p:nvGraphicFramePr>
        <p:xfrm>
          <a:off x="685800" y="1847088"/>
          <a:ext cx="6675120" cy="3703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35240" y="1847088"/>
            <a:ext cx="3870655" cy="877824"/>
          </a:xfrm>
          <a:prstGeom prst="roundRect">
            <a:avLst>
              <a:gd name="adj" fmla="val 6250"/>
            </a:avLst>
          </a:prstGeom>
          <a:solidFill>
            <a:srgbClr val="161D2A"/>
          </a:solidFill>
          <a:ln w="9525">
            <a:solidFill>
              <a:srgbClr val="222C3E"/>
            </a:solidFill>
            <a:prstDash val="solid"/>
          </a:ln>
        </p:spPr>
      </p:sp>
      <p:sp>
        <p:nvSpPr>
          <p:cNvPr id="8" name="Text 5"/>
          <p:cNvSpPr txBox="1"/>
          <p:nvPr/>
        </p:nvSpPr>
        <p:spPr>
          <a:xfrm>
            <a:off x="7872984" y="1938528"/>
            <a:ext cx="3395167" cy="292608"/>
          </a:xfrm>
          <a:prstGeom prst="rect">
            <a:avLst/>
          </a:prstGeom>
          <a:noFill/>
          <a:ln/>
        </p:spPr>
        <p:txBody>
          <a:bodyPr wrap="square" lIns="0" tIns="0" rIns="0" bIns="0" rtlCol="0" anchor="ctr"/>
          <a:lstStyle/>
          <a:p>
            <a:pPr indent="0" marL="0">
              <a:buNone/>
            </a:pPr>
            <a:r>
              <a:rPr lang="en-US" sz="1400" b="1" dirty="0">
                <a:solidFill>
                  <a:srgbClr val="E0505E"/>
                </a:solidFill>
                <a:latin typeface="Calibri" pitchFamily="34" charset="0"/>
                <a:ea typeface="Calibri" pitchFamily="34" charset="-122"/>
                <a:cs typeface="Calibri" pitchFamily="34" charset="-120"/>
              </a:rPr>
              <a:t>No speed boost in a hunt</a:t>
            </a:r>
            <a:endParaRPr lang="en-US" sz="1400" dirty="0"/>
          </a:p>
        </p:txBody>
      </p:sp>
      <p:sp>
        <p:nvSpPr>
          <p:cNvPr id="9" name="Text 6"/>
          <p:cNvSpPr txBox="1"/>
          <p:nvPr/>
        </p:nvSpPr>
        <p:spPr>
          <a:xfrm>
            <a:off x="7872984" y="2231136"/>
            <a:ext cx="3395167" cy="438912"/>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Sprinting is 3.5, the same as normal. We give you no free help.</a:t>
            </a:r>
            <a:endParaRPr lang="en-US" sz="1150" dirty="0"/>
          </a:p>
        </p:txBody>
      </p:sp>
      <p:sp>
        <p:nvSpPr>
          <p:cNvPr id="10" name="Shape 7"/>
          <p:cNvSpPr/>
          <p:nvPr/>
        </p:nvSpPr>
        <p:spPr>
          <a:xfrm>
            <a:off x="7635240" y="2807208"/>
            <a:ext cx="3870655" cy="877824"/>
          </a:xfrm>
          <a:prstGeom prst="roundRect">
            <a:avLst>
              <a:gd name="adj" fmla="val 6250"/>
            </a:avLst>
          </a:prstGeom>
          <a:solidFill>
            <a:srgbClr val="161D2A"/>
          </a:solidFill>
          <a:ln w="9525">
            <a:solidFill>
              <a:srgbClr val="222C3E"/>
            </a:solidFill>
            <a:prstDash val="solid"/>
          </a:ln>
        </p:spPr>
      </p:sp>
      <p:sp>
        <p:nvSpPr>
          <p:cNvPr id="11" name="Text 8"/>
          <p:cNvSpPr txBox="1"/>
          <p:nvPr/>
        </p:nvSpPr>
        <p:spPr>
          <a:xfrm>
            <a:off x="7872984" y="2898648"/>
            <a:ext cx="3395167" cy="292608"/>
          </a:xfrm>
          <a:prstGeom prst="rect">
            <a:avLst/>
          </a:prstGeom>
          <a:noFill/>
          <a:ln/>
        </p:spPr>
        <p:txBody>
          <a:bodyPr wrap="square" lIns="0" tIns="0" rIns="0" bIns="0" rtlCol="0" anchor="ctr"/>
          <a:lstStyle/>
          <a:p>
            <a:pPr indent="0" marL="0">
              <a:buNone/>
            </a:pPr>
            <a:r>
              <a:rPr lang="en-US" sz="1400" b="1" dirty="0">
                <a:solidFill>
                  <a:srgbClr val="E0505E"/>
                </a:solidFill>
                <a:latin typeface="Calibri" pitchFamily="34" charset="0"/>
                <a:ea typeface="Calibri" pitchFamily="34" charset="-122"/>
                <a:cs typeface="Calibri" pitchFamily="34" charset="-120"/>
              </a:rPr>
              <a:t>The Poltergeist is faster than you</a:t>
            </a:r>
            <a:endParaRPr lang="en-US" sz="1400" dirty="0"/>
          </a:p>
        </p:txBody>
      </p:sp>
      <p:sp>
        <p:nvSpPr>
          <p:cNvPr id="12" name="Text 9"/>
          <p:cNvSpPr txBox="1"/>
          <p:nvPr/>
        </p:nvSpPr>
        <p:spPr>
          <a:xfrm>
            <a:off x="7872984" y="3191256"/>
            <a:ext cx="3395167" cy="438912"/>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You can just outrun 3.3 and 3.4. You cannot outrun 3.6.</a:t>
            </a:r>
            <a:endParaRPr lang="en-US" sz="1150" dirty="0"/>
          </a:p>
        </p:txBody>
      </p:sp>
      <p:sp>
        <p:nvSpPr>
          <p:cNvPr id="13" name="Shape 10"/>
          <p:cNvSpPr/>
          <p:nvPr/>
        </p:nvSpPr>
        <p:spPr>
          <a:xfrm>
            <a:off x="7635240" y="3767328"/>
            <a:ext cx="3870655" cy="877824"/>
          </a:xfrm>
          <a:prstGeom prst="roundRect">
            <a:avLst>
              <a:gd name="adj" fmla="val 6250"/>
            </a:avLst>
          </a:prstGeom>
          <a:solidFill>
            <a:srgbClr val="161D2A"/>
          </a:solidFill>
          <a:ln w="9525">
            <a:solidFill>
              <a:srgbClr val="222C3E"/>
            </a:solidFill>
            <a:prstDash val="solid"/>
          </a:ln>
        </p:spPr>
      </p:sp>
      <p:sp>
        <p:nvSpPr>
          <p:cNvPr id="14" name="Text 11"/>
          <p:cNvSpPr txBox="1"/>
          <p:nvPr/>
        </p:nvSpPr>
        <p:spPr>
          <a:xfrm>
            <a:off x="7872984" y="3858768"/>
            <a:ext cx="3395167" cy="292608"/>
          </a:xfrm>
          <a:prstGeom prst="rect">
            <a:avLst/>
          </a:prstGeom>
          <a:noFill/>
          <a:ln/>
        </p:spPr>
        <p:txBody>
          <a:bodyPr wrap="square" lIns="0" tIns="0" rIns="0" bIns="0" rtlCol="0" anchor="ctr"/>
          <a:lstStyle/>
          <a:p>
            <a:pPr indent="0" marL="0">
              <a:buNone/>
            </a:pPr>
            <a:r>
              <a:rPr lang="en-US" sz="1400" b="1" dirty="0">
                <a:solidFill>
                  <a:srgbClr val="E0505E"/>
                </a:solidFill>
                <a:latin typeface="Calibri" pitchFamily="34" charset="0"/>
                <a:ea typeface="Calibri" pitchFamily="34" charset="-122"/>
                <a:cs typeface="Calibri" pitchFamily="34" charset="-120"/>
              </a:rPr>
              <a:t>You can only sprint 4.2 seconds</a:t>
            </a:r>
            <a:endParaRPr lang="en-US" sz="1400" dirty="0"/>
          </a:p>
        </p:txBody>
      </p:sp>
      <p:sp>
        <p:nvSpPr>
          <p:cNvPr id="15" name="Text 12"/>
          <p:cNvSpPr txBox="1"/>
          <p:nvPr/>
        </p:nvSpPr>
        <p:spPr>
          <a:xfrm>
            <a:off x="7872984" y="4151376"/>
            <a:ext cx="3395167" cy="438912"/>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Then 3.5 seconds to get it back, and you walk at 2.0.</a:t>
            </a:r>
            <a:endParaRPr lang="en-US" sz="1150" dirty="0"/>
          </a:p>
        </p:txBody>
      </p:sp>
      <p:sp>
        <p:nvSpPr>
          <p:cNvPr id="16" name="Shape 13"/>
          <p:cNvSpPr/>
          <p:nvPr/>
        </p:nvSpPr>
        <p:spPr>
          <a:xfrm>
            <a:off x="7635240" y="4727448"/>
            <a:ext cx="3870655" cy="877824"/>
          </a:xfrm>
          <a:prstGeom prst="roundRect">
            <a:avLst>
              <a:gd name="adj" fmla="val 6250"/>
            </a:avLst>
          </a:prstGeom>
          <a:solidFill>
            <a:srgbClr val="161D2A"/>
          </a:solidFill>
          <a:ln w="9525">
            <a:solidFill>
              <a:srgbClr val="222C3E"/>
            </a:solidFill>
            <a:prstDash val="solid"/>
          </a:ln>
        </p:spPr>
      </p:sp>
      <p:sp>
        <p:nvSpPr>
          <p:cNvPr id="17" name="Text 14"/>
          <p:cNvSpPr txBox="1"/>
          <p:nvPr/>
        </p:nvSpPr>
        <p:spPr>
          <a:xfrm>
            <a:off x="7872984" y="4818888"/>
            <a:ext cx="3395167" cy="292608"/>
          </a:xfrm>
          <a:prstGeom prst="rect">
            <a:avLst/>
          </a:prstGeom>
          <a:noFill/>
          <a:ln/>
        </p:spPr>
        <p:txBody>
          <a:bodyPr wrap="square" lIns="0" tIns="0" rIns="0" bIns="0" rtlCol="0" anchor="ctr"/>
          <a:lstStyle/>
          <a:p>
            <a:pPr indent="0" marL="0">
              <a:buNone/>
            </a:pPr>
            <a:r>
              <a:rPr lang="en-US" sz="1400" b="1" dirty="0">
                <a:solidFill>
                  <a:srgbClr val="A9C6E4"/>
                </a:solidFill>
                <a:latin typeface="Calibri" pitchFamily="34" charset="0"/>
                <a:ea typeface="Calibri" pitchFamily="34" charset="-122"/>
                <a:cs typeface="Calibri" pitchFamily="34" charset="-120"/>
              </a:rPr>
              <a:t>Get out of its sight instead</a:t>
            </a:r>
            <a:endParaRPr lang="en-US" sz="1400" dirty="0"/>
          </a:p>
        </p:txBody>
      </p:sp>
      <p:sp>
        <p:nvSpPr>
          <p:cNvPr id="18" name="Text 15"/>
          <p:cNvSpPr txBox="1"/>
          <p:nvPr/>
        </p:nvSpPr>
        <p:spPr>
          <a:xfrm>
            <a:off x="7872984" y="5111496"/>
            <a:ext cx="3395167" cy="438912"/>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If it cannot see you, it only checks where you were. Turn a corner. Close the door.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08 — TOOLS</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08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Three tools, three kinds of fear</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They are not just three ways to get the same thing</a:t>
            </a:r>
            <a:endParaRPr lang="en-US" sz="1450" dirty="0"/>
          </a:p>
        </p:txBody>
      </p:sp>
      <p:sp>
        <p:nvSpPr>
          <p:cNvPr id="6" name="Shape 4"/>
          <p:cNvSpPr/>
          <p:nvPr/>
        </p:nvSpPr>
        <p:spPr>
          <a:xfrm>
            <a:off x="685800" y="1883664"/>
            <a:ext cx="3362858" cy="3035808"/>
          </a:xfrm>
          <a:prstGeom prst="roundRect">
            <a:avLst>
              <a:gd name="adj" fmla="val 1807"/>
            </a:avLst>
          </a:prstGeom>
          <a:solidFill>
            <a:srgbClr val="161D2A"/>
          </a:solidFill>
          <a:ln w="9525">
            <a:solidFill>
              <a:srgbClr val="222C3E"/>
            </a:solidFill>
            <a:prstDash val="solid"/>
          </a:ln>
        </p:spPr>
      </p:sp>
      <p:sp>
        <p:nvSpPr>
          <p:cNvPr id="7" name="Text 5"/>
          <p:cNvSpPr txBox="1"/>
          <p:nvPr/>
        </p:nvSpPr>
        <p:spPr>
          <a:xfrm>
            <a:off x="960120" y="2066544"/>
            <a:ext cx="2814218" cy="310896"/>
          </a:xfrm>
          <a:prstGeom prst="rect">
            <a:avLst/>
          </a:prstGeom>
          <a:noFill/>
          <a:ln/>
        </p:spPr>
        <p:txBody>
          <a:bodyPr wrap="square" lIns="0" tIns="0" rIns="0" bIns="0" rtlCol="0" anchor="ctr"/>
          <a:lstStyle/>
          <a:p>
            <a:pPr indent="0" marL="0">
              <a:buNone/>
            </a:pPr>
            <a:r>
              <a:rPr lang="en-US" sz="1250" dirty="0">
                <a:solidFill>
                  <a:srgbClr val="7FA6CC"/>
                </a:solidFill>
                <a:latin typeface="Courier New" pitchFamily="34" charset="0"/>
                <a:ea typeface="Courier New" pitchFamily="34" charset="-122"/>
                <a:cs typeface="Courier New" pitchFamily="34" charset="-120"/>
              </a:rPr>
              <a:t>F O L L O W</a:t>
            </a:r>
            <a:endParaRPr lang="en-US" sz="1250" dirty="0"/>
          </a:p>
        </p:txBody>
      </p:sp>
      <p:sp>
        <p:nvSpPr>
          <p:cNvPr id="8" name="Text 6"/>
          <p:cNvSpPr txBox="1"/>
          <p:nvPr/>
        </p:nvSpPr>
        <p:spPr>
          <a:xfrm>
            <a:off x="960120" y="2468880"/>
            <a:ext cx="2814218" cy="420624"/>
          </a:xfrm>
          <a:prstGeom prst="rect">
            <a:avLst/>
          </a:prstGeom>
          <a:noFill/>
          <a:ln/>
        </p:spPr>
        <p:txBody>
          <a:bodyPr wrap="square" lIns="0" tIns="0" rIns="0" bIns="0" rtlCol="0" anchor="ctr"/>
          <a:lstStyle/>
          <a:p>
            <a:pPr indent="0" marL="0">
              <a:buNone/>
            </a:pPr>
            <a:r>
              <a:rPr lang="en-US" sz="2400" b="1" dirty="0">
                <a:solidFill>
                  <a:srgbClr val="E9EDF3"/>
                </a:solidFill>
                <a:latin typeface="Cambria" pitchFamily="34" charset="0"/>
                <a:ea typeface="Cambria" pitchFamily="34" charset="-122"/>
                <a:cs typeface="Cambria" pitchFamily="34" charset="-120"/>
              </a:rPr>
              <a:t>EMF Reader</a:t>
            </a:r>
            <a:endParaRPr lang="en-US" sz="2400" dirty="0"/>
          </a:p>
        </p:txBody>
      </p:sp>
      <p:sp>
        <p:nvSpPr>
          <p:cNvPr id="9" name="Text 7"/>
          <p:cNvSpPr txBox="1"/>
          <p:nvPr/>
        </p:nvSpPr>
        <p:spPr>
          <a:xfrm>
            <a:off x="960120" y="3017520"/>
            <a:ext cx="2814218" cy="1005840"/>
          </a:xfrm>
          <a:prstGeom prst="rect">
            <a:avLst/>
          </a:prstGeom>
          <a:noFill/>
          <a:ln/>
        </p:spPr>
        <p:txBody>
          <a:bodyPr wrap="square" lIns="0" tIns="0" rIns="0" bIns="0" rtlCol="0" anchor="ctr"/>
          <a:lstStyle/>
          <a:p>
            <a:pPr indent="0" marL="0">
              <a:lnSpc>
                <a:spcPts val="2100"/>
              </a:lnSpc>
              <a:buNone/>
            </a:pPr>
            <a:r>
              <a:rPr lang="en-US" sz="1350" dirty="0">
                <a:solidFill>
                  <a:srgbClr val="8D9AAD"/>
                </a:solidFill>
                <a:latin typeface="Calibri" pitchFamily="34" charset="0"/>
                <a:ea typeface="Calibri" pitchFamily="34" charset="-122"/>
                <a:cs typeface="Calibri" pitchFamily="34" charset="-120"/>
              </a:rPr>
              <a:t>You follow the number. A higher number means it was just here.</a:t>
            </a:r>
            <a:endParaRPr lang="en-US" sz="1350" dirty="0"/>
          </a:p>
        </p:txBody>
      </p:sp>
      <p:sp>
        <p:nvSpPr>
          <p:cNvPr id="10" name="Text 8"/>
          <p:cNvSpPr txBox="1"/>
          <p:nvPr/>
        </p:nvSpPr>
        <p:spPr>
          <a:xfrm>
            <a:off x="960120" y="4187952"/>
            <a:ext cx="2814218" cy="566928"/>
          </a:xfrm>
          <a:prstGeom prst="rect">
            <a:avLst/>
          </a:prstGeom>
          <a:noFill/>
          <a:ln/>
        </p:spPr>
        <p:txBody>
          <a:bodyPr wrap="square" lIns="0" tIns="0" rIns="0" bIns="0" rtlCol="0" anchor="ctr"/>
          <a:lstStyle/>
          <a:p>
            <a:pPr indent="0" marL="0">
              <a:buNone/>
            </a:pPr>
            <a:r>
              <a:rPr lang="en-US" sz="1700" b="1" i="1" dirty="0">
                <a:solidFill>
                  <a:srgbClr val="E0505E"/>
                </a:solidFill>
                <a:latin typeface="Cambria" pitchFamily="34" charset="0"/>
                <a:ea typeface="Cambria" pitchFamily="34" charset="-122"/>
                <a:cs typeface="Cambria" pitchFamily="34" charset="-120"/>
              </a:rPr>
              <a:t>“It pulls you toward it”</a:t>
            </a:r>
            <a:endParaRPr lang="en-US" sz="1700" dirty="0"/>
          </a:p>
        </p:txBody>
      </p:sp>
      <p:sp>
        <p:nvSpPr>
          <p:cNvPr id="11" name="Shape 9"/>
          <p:cNvSpPr/>
          <p:nvPr/>
        </p:nvSpPr>
        <p:spPr>
          <a:xfrm>
            <a:off x="4414418" y="1883664"/>
            <a:ext cx="3362858" cy="3035808"/>
          </a:xfrm>
          <a:prstGeom prst="roundRect">
            <a:avLst>
              <a:gd name="adj" fmla="val 1807"/>
            </a:avLst>
          </a:prstGeom>
          <a:solidFill>
            <a:srgbClr val="161D2A"/>
          </a:solidFill>
          <a:ln w="9525">
            <a:solidFill>
              <a:srgbClr val="222C3E"/>
            </a:solidFill>
            <a:prstDash val="solid"/>
          </a:ln>
        </p:spPr>
      </p:sp>
      <p:sp>
        <p:nvSpPr>
          <p:cNvPr id="12" name="Text 10"/>
          <p:cNvSpPr txBox="1"/>
          <p:nvPr/>
        </p:nvSpPr>
        <p:spPr>
          <a:xfrm>
            <a:off x="4688738" y="2066544"/>
            <a:ext cx="2814218" cy="310896"/>
          </a:xfrm>
          <a:prstGeom prst="rect">
            <a:avLst/>
          </a:prstGeom>
          <a:noFill/>
          <a:ln/>
        </p:spPr>
        <p:txBody>
          <a:bodyPr wrap="square" lIns="0" tIns="0" rIns="0" bIns="0" rtlCol="0" anchor="ctr"/>
          <a:lstStyle/>
          <a:p>
            <a:pPr indent="0" marL="0">
              <a:buNone/>
            </a:pPr>
            <a:r>
              <a:rPr lang="en-US" sz="1250" dirty="0">
                <a:solidFill>
                  <a:srgbClr val="7FA6CC"/>
                </a:solidFill>
                <a:latin typeface="Courier New" pitchFamily="34" charset="0"/>
                <a:ea typeface="Courier New" pitchFamily="34" charset="-122"/>
                <a:cs typeface="Courier New" pitchFamily="34" charset="-120"/>
              </a:rPr>
              <a:t>S E A R C H</a:t>
            </a:r>
            <a:endParaRPr lang="en-US" sz="1250" dirty="0"/>
          </a:p>
        </p:txBody>
      </p:sp>
      <p:sp>
        <p:nvSpPr>
          <p:cNvPr id="13" name="Text 11"/>
          <p:cNvSpPr txBox="1"/>
          <p:nvPr/>
        </p:nvSpPr>
        <p:spPr>
          <a:xfrm>
            <a:off x="4688738" y="2468880"/>
            <a:ext cx="2814218" cy="420624"/>
          </a:xfrm>
          <a:prstGeom prst="rect">
            <a:avLst/>
          </a:prstGeom>
          <a:noFill/>
          <a:ln/>
        </p:spPr>
        <p:txBody>
          <a:bodyPr wrap="square" lIns="0" tIns="0" rIns="0" bIns="0" rtlCol="0" anchor="ctr"/>
          <a:lstStyle/>
          <a:p>
            <a:pPr indent="0" marL="0">
              <a:buNone/>
            </a:pPr>
            <a:r>
              <a:rPr lang="en-US" sz="2400" b="1" dirty="0">
                <a:solidFill>
                  <a:srgbClr val="E9EDF3"/>
                </a:solidFill>
                <a:latin typeface="Cambria" pitchFamily="34" charset="0"/>
                <a:ea typeface="Cambria" pitchFamily="34" charset="-122"/>
                <a:cs typeface="Cambria" pitchFamily="34" charset="-120"/>
              </a:rPr>
              <a:t>UV Flashlight</a:t>
            </a:r>
            <a:endParaRPr lang="en-US" sz="2400" dirty="0"/>
          </a:p>
        </p:txBody>
      </p:sp>
      <p:sp>
        <p:nvSpPr>
          <p:cNvPr id="14" name="Text 12"/>
          <p:cNvSpPr txBox="1"/>
          <p:nvPr/>
        </p:nvSpPr>
        <p:spPr>
          <a:xfrm>
            <a:off x="4688738" y="3017520"/>
            <a:ext cx="2814218" cy="1005840"/>
          </a:xfrm>
          <a:prstGeom prst="rect">
            <a:avLst/>
          </a:prstGeom>
          <a:noFill/>
          <a:ln/>
        </p:spPr>
        <p:txBody>
          <a:bodyPr wrap="square" lIns="0" tIns="0" rIns="0" bIns="0" rtlCol="0" anchor="ctr"/>
          <a:lstStyle/>
          <a:p>
            <a:pPr indent="0" marL="0">
              <a:lnSpc>
                <a:spcPts val="2100"/>
              </a:lnSpc>
              <a:buNone/>
            </a:pPr>
            <a:r>
              <a:rPr lang="en-US" sz="1350" dirty="0">
                <a:solidFill>
                  <a:srgbClr val="8D9AAD"/>
                </a:solidFill>
                <a:latin typeface="Calibri" pitchFamily="34" charset="0"/>
                <a:ea typeface="Calibri" pitchFamily="34" charset="-122"/>
                <a:cs typeface="Calibri" pitchFamily="34" charset="-120"/>
              </a:rPr>
              <a:t>You stand still and check door handles and switches. Your flashlight turns off.</a:t>
            </a:r>
            <a:endParaRPr lang="en-US" sz="1350" dirty="0"/>
          </a:p>
        </p:txBody>
      </p:sp>
      <p:sp>
        <p:nvSpPr>
          <p:cNvPr id="15" name="Text 13"/>
          <p:cNvSpPr txBox="1"/>
          <p:nvPr/>
        </p:nvSpPr>
        <p:spPr>
          <a:xfrm>
            <a:off x="4688738" y="4187952"/>
            <a:ext cx="2814218" cy="566928"/>
          </a:xfrm>
          <a:prstGeom prst="rect">
            <a:avLst/>
          </a:prstGeom>
          <a:noFill/>
          <a:ln/>
        </p:spPr>
        <p:txBody>
          <a:bodyPr wrap="square" lIns="0" tIns="0" rIns="0" bIns="0" rtlCol="0" anchor="ctr"/>
          <a:lstStyle/>
          <a:p>
            <a:pPr indent="0" marL="0">
              <a:buNone/>
            </a:pPr>
            <a:r>
              <a:rPr lang="en-US" sz="1700" b="1" i="1" dirty="0">
                <a:solidFill>
                  <a:srgbClr val="E0505E"/>
                </a:solidFill>
                <a:latin typeface="Cambria" pitchFamily="34" charset="0"/>
                <a:ea typeface="Cambria" pitchFamily="34" charset="-122"/>
                <a:cs typeface="Cambria" pitchFamily="34" charset="-120"/>
              </a:rPr>
              <a:t>“It takes your light away”</a:t>
            </a:r>
            <a:endParaRPr lang="en-US" sz="1700" dirty="0"/>
          </a:p>
        </p:txBody>
      </p:sp>
      <p:sp>
        <p:nvSpPr>
          <p:cNvPr id="16" name="Shape 14"/>
          <p:cNvSpPr/>
          <p:nvPr/>
        </p:nvSpPr>
        <p:spPr>
          <a:xfrm>
            <a:off x="8143037" y="1883664"/>
            <a:ext cx="3362858" cy="3035808"/>
          </a:xfrm>
          <a:prstGeom prst="roundRect">
            <a:avLst>
              <a:gd name="adj" fmla="val 1807"/>
            </a:avLst>
          </a:prstGeom>
          <a:solidFill>
            <a:srgbClr val="161D2A"/>
          </a:solidFill>
          <a:ln w="9525">
            <a:solidFill>
              <a:srgbClr val="222C3E"/>
            </a:solidFill>
            <a:prstDash val="solid"/>
          </a:ln>
        </p:spPr>
      </p:sp>
      <p:sp>
        <p:nvSpPr>
          <p:cNvPr id="17" name="Text 15"/>
          <p:cNvSpPr txBox="1"/>
          <p:nvPr/>
        </p:nvSpPr>
        <p:spPr>
          <a:xfrm>
            <a:off x="8417357" y="2066544"/>
            <a:ext cx="2814218" cy="310896"/>
          </a:xfrm>
          <a:prstGeom prst="rect">
            <a:avLst/>
          </a:prstGeom>
          <a:noFill/>
          <a:ln/>
        </p:spPr>
        <p:txBody>
          <a:bodyPr wrap="square" lIns="0" tIns="0" rIns="0" bIns="0" rtlCol="0" anchor="ctr"/>
          <a:lstStyle/>
          <a:p>
            <a:pPr indent="0" marL="0">
              <a:buNone/>
            </a:pPr>
            <a:r>
              <a:rPr lang="en-US" sz="1250" dirty="0">
                <a:solidFill>
                  <a:srgbClr val="7FA6CC"/>
                </a:solidFill>
                <a:latin typeface="Courier New" pitchFamily="34" charset="0"/>
                <a:ea typeface="Courier New" pitchFamily="34" charset="-122"/>
                <a:cs typeface="Courier New" pitchFamily="34" charset="-120"/>
              </a:rPr>
              <a:t>W A I T</a:t>
            </a:r>
            <a:endParaRPr lang="en-US" sz="1250" dirty="0"/>
          </a:p>
        </p:txBody>
      </p:sp>
      <p:sp>
        <p:nvSpPr>
          <p:cNvPr id="18" name="Text 16"/>
          <p:cNvSpPr txBox="1"/>
          <p:nvPr/>
        </p:nvSpPr>
        <p:spPr>
          <a:xfrm>
            <a:off x="8417357" y="2468880"/>
            <a:ext cx="2814218" cy="420624"/>
          </a:xfrm>
          <a:prstGeom prst="rect">
            <a:avLst/>
          </a:prstGeom>
          <a:noFill/>
          <a:ln/>
        </p:spPr>
        <p:txBody>
          <a:bodyPr wrap="square" lIns="0" tIns="0" rIns="0" bIns="0" rtlCol="0" anchor="ctr"/>
          <a:lstStyle/>
          <a:p>
            <a:pPr indent="0" marL="0">
              <a:buNone/>
            </a:pPr>
            <a:r>
              <a:rPr lang="en-US" sz="2400" b="1" dirty="0">
                <a:solidFill>
                  <a:srgbClr val="E9EDF3"/>
                </a:solidFill>
                <a:latin typeface="Cambria" pitchFamily="34" charset="0"/>
                <a:ea typeface="Cambria" pitchFamily="34" charset="-122"/>
                <a:cs typeface="Cambria" pitchFamily="34" charset="-120"/>
              </a:rPr>
              <a:t>Ghost Writing Book</a:t>
            </a:r>
            <a:endParaRPr lang="en-US" sz="2400" dirty="0"/>
          </a:p>
        </p:txBody>
      </p:sp>
      <p:sp>
        <p:nvSpPr>
          <p:cNvPr id="19" name="Text 17"/>
          <p:cNvSpPr txBox="1"/>
          <p:nvPr/>
        </p:nvSpPr>
        <p:spPr>
          <a:xfrm>
            <a:off x="8417357" y="3017520"/>
            <a:ext cx="2814218" cy="1005840"/>
          </a:xfrm>
          <a:prstGeom prst="rect">
            <a:avLst/>
          </a:prstGeom>
          <a:noFill/>
          <a:ln/>
        </p:spPr>
        <p:txBody>
          <a:bodyPr wrap="square" lIns="0" tIns="0" rIns="0" bIns="0" rtlCol="0" anchor="ctr"/>
          <a:lstStyle/>
          <a:p>
            <a:pPr indent="0" marL="0">
              <a:lnSpc>
                <a:spcPts val="2100"/>
              </a:lnSpc>
              <a:buNone/>
            </a:pPr>
            <a:r>
              <a:rPr lang="en-US" sz="1350" dirty="0">
                <a:solidFill>
                  <a:srgbClr val="8D9AAD"/>
                </a:solidFill>
                <a:latin typeface="Calibri" pitchFamily="34" charset="0"/>
                <a:ea typeface="Calibri" pitchFamily="34" charset="-122"/>
                <a:cs typeface="Calibri" pitchFamily="34" charset="-120"/>
              </a:rPr>
              <a:t>You put it down, walk away, and have to go back in to read it.</a:t>
            </a:r>
            <a:endParaRPr lang="en-US" sz="1350" dirty="0"/>
          </a:p>
        </p:txBody>
      </p:sp>
      <p:sp>
        <p:nvSpPr>
          <p:cNvPr id="20" name="Text 18"/>
          <p:cNvSpPr txBox="1"/>
          <p:nvPr/>
        </p:nvSpPr>
        <p:spPr>
          <a:xfrm>
            <a:off x="8417357" y="4187952"/>
            <a:ext cx="2814218" cy="566928"/>
          </a:xfrm>
          <a:prstGeom prst="rect">
            <a:avLst/>
          </a:prstGeom>
          <a:noFill/>
          <a:ln/>
        </p:spPr>
        <p:txBody>
          <a:bodyPr wrap="square" lIns="0" tIns="0" rIns="0" bIns="0" rtlCol="0" anchor="ctr"/>
          <a:lstStyle/>
          <a:p>
            <a:pPr indent="0" marL="0">
              <a:buNone/>
            </a:pPr>
            <a:r>
              <a:rPr lang="en-US" sz="1700" b="1" i="1" dirty="0">
                <a:solidFill>
                  <a:srgbClr val="E0505E"/>
                </a:solidFill>
                <a:latin typeface="Cambria" pitchFamily="34" charset="0"/>
                <a:ea typeface="Cambria" pitchFamily="34" charset="-122"/>
                <a:cs typeface="Cambria" pitchFamily="34" charset="-120"/>
              </a:rPr>
              <a:t>“It sends you back in”</a:t>
            </a:r>
            <a:endParaRPr lang="en-US" sz="1700" dirty="0"/>
          </a:p>
        </p:txBody>
      </p:sp>
      <p:sp>
        <p:nvSpPr>
          <p:cNvPr id="21" name="Shape 19"/>
          <p:cNvSpPr/>
          <p:nvPr/>
        </p:nvSpPr>
        <p:spPr>
          <a:xfrm>
            <a:off x="685800" y="5175504"/>
            <a:ext cx="10820095" cy="822960"/>
          </a:xfrm>
          <a:prstGeom prst="roundRect">
            <a:avLst>
              <a:gd name="adj" fmla="val 6667"/>
            </a:avLst>
          </a:prstGeom>
          <a:solidFill>
            <a:srgbClr val="222C3E"/>
          </a:solidFill>
          <a:ln w="9525">
            <a:solidFill>
              <a:srgbClr val="222C3E"/>
            </a:solidFill>
            <a:prstDash val="solid"/>
          </a:ln>
        </p:spPr>
      </p:sp>
      <p:sp>
        <p:nvSpPr>
          <p:cNvPr id="22" name="Text 20"/>
          <p:cNvSpPr txBox="1"/>
          <p:nvPr/>
        </p:nvSpPr>
        <p:spPr>
          <a:xfrm>
            <a:off x="1143000" y="5175504"/>
            <a:ext cx="9905695" cy="822960"/>
          </a:xfrm>
          <a:prstGeom prst="rect">
            <a:avLst/>
          </a:prstGeom>
          <a:noFill/>
          <a:ln/>
        </p:spPr>
        <p:txBody>
          <a:bodyPr wrap="square" lIns="0" tIns="0" rIns="0" bIns="0" rtlCol="0" anchor="ctr"/>
          <a:lstStyle/>
          <a:p>
            <a:pPr indent="0" marL="0">
              <a:buNone/>
            </a:pPr>
            <a:r>
              <a:rPr lang="en-US" sz="1550" dirty="0">
                <a:solidFill>
                  <a:srgbClr val="E9EDF3"/>
                </a:solidFill>
                <a:latin typeface="Calibri" pitchFamily="34" charset="0"/>
                <a:ea typeface="Calibri" pitchFamily="34" charset="-122"/>
                <a:cs typeface="Calibri" pitchFamily="34" charset="-120"/>
              </a:rPr>
              <a:t>You only get 3 tool slots, and the flashlight always takes one of them. So you have to choose. We did that on purpose.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09 — ENTITIES</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09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Three ghosts, one AI</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The differences live in data files, not in three sets of code</a:t>
            </a:r>
            <a:endParaRPr lang="en-US" sz="1450" dirty="0"/>
          </a:p>
        </p:txBody>
      </p:sp>
      <p:sp>
        <p:nvSpPr>
          <p:cNvPr id="6" name="Shape 4"/>
          <p:cNvSpPr/>
          <p:nvPr/>
        </p:nvSpPr>
        <p:spPr>
          <a:xfrm>
            <a:off x="685800" y="1883664"/>
            <a:ext cx="3362858" cy="2743200"/>
          </a:xfrm>
          <a:prstGeom prst="roundRect">
            <a:avLst>
              <a:gd name="adj" fmla="val 2000"/>
            </a:avLst>
          </a:prstGeom>
          <a:solidFill>
            <a:srgbClr val="161D2A"/>
          </a:solidFill>
          <a:ln w="9525">
            <a:solidFill>
              <a:srgbClr val="222C3E"/>
            </a:solidFill>
            <a:prstDash val="solid"/>
          </a:ln>
        </p:spPr>
      </p:sp>
      <p:sp>
        <p:nvSpPr>
          <p:cNvPr id="7" name="Text 5"/>
          <p:cNvSpPr txBox="1"/>
          <p:nvPr/>
        </p:nvSpPr>
        <p:spPr>
          <a:xfrm>
            <a:off x="960120" y="2029968"/>
            <a:ext cx="2814218" cy="402336"/>
          </a:xfrm>
          <a:prstGeom prst="rect">
            <a:avLst/>
          </a:prstGeom>
          <a:noFill/>
          <a:ln/>
        </p:spPr>
        <p:txBody>
          <a:bodyPr wrap="square" lIns="0" tIns="0" rIns="0" bIns="0" rtlCol="0" anchor="ctr"/>
          <a:lstStyle/>
          <a:p>
            <a:pPr indent="0" marL="0">
              <a:buNone/>
            </a:pPr>
            <a:r>
              <a:rPr lang="en-US" sz="2400" b="1" dirty="0">
                <a:solidFill>
                  <a:srgbClr val="E9EDF3"/>
                </a:solidFill>
                <a:latin typeface="Cambria" pitchFamily="34" charset="0"/>
                <a:ea typeface="Cambria" pitchFamily="34" charset="-122"/>
                <a:cs typeface="Cambria" pitchFamily="34" charset="-120"/>
              </a:rPr>
              <a:t>Spirit</a:t>
            </a:r>
            <a:endParaRPr lang="en-US" sz="2400" dirty="0"/>
          </a:p>
        </p:txBody>
      </p:sp>
      <p:sp>
        <p:nvSpPr>
          <p:cNvPr id="8" name="Text 6"/>
          <p:cNvSpPr txBox="1"/>
          <p:nvPr/>
        </p:nvSpPr>
        <p:spPr>
          <a:xfrm>
            <a:off x="960120" y="2468880"/>
            <a:ext cx="2814218" cy="292608"/>
          </a:xfrm>
          <a:prstGeom prst="rect">
            <a:avLst/>
          </a:prstGeom>
          <a:noFill/>
          <a:ln/>
        </p:spPr>
        <p:txBody>
          <a:bodyPr wrap="square" lIns="0" tIns="0" rIns="0" bIns="0" rtlCol="0" anchor="ctr"/>
          <a:lstStyle/>
          <a:p>
            <a:pPr indent="0" marL="0">
              <a:buNone/>
            </a:pPr>
            <a:r>
              <a:rPr lang="en-US" sz="1350" dirty="0">
                <a:solidFill>
                  <a:srgbClr val="7FA6CC"/>
                </a:solidFill>
                <a:latin typeface="Calibri" pitchFamily="34" charset="0"/>
                <a:ea typeface="Calibri" pitchFamily="34" charset="-122"/>
                <a:cs typeface="Calibri" pitchFamily="34" charset="-120"/>
              </a:rPr>
              <a:t>Slow and stubborn</a:t>
            </a:r>
            <a:endParaRPr lang="en-US" sz="1350" dirty="0"/>
          </a:p>
        </p:txBody>
      </p:sp>
      <p:sp>
        <p:nvSpPr>
          <p:cNvPr id="9" name="Text 7"/>
          <p:cNvSpPr txBox="1"/>
          <p:nvPr/>
        </p:nvSpPr>
        <p:spPr>
          <a:xfrm>
            <a:off x="960120" y="2871216"/>
            <a:ext cx="2814218" cy="1207008"/>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Stays in its own room</a:t>
            </a:r>
            <a:endParaRPr lang="en-US" sz="1300" dirty="0"/>
          </a:p>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Loud, clear footsteps</a:t>
            </a:r>
            <a:endParaRPr lang="en-US" sz="1300" dirty="0"/>
          </a:p>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Hunts for the longest</a:t>
            </a:r>
            <a:endParaRPr lang="en-US" sz="1300" dirty="0"/>
          </a:p>
        </p:txBody>
      </p:sp>
      <p:sp>
        <p:nvSpPr>
          <p:cNvPr id="10" name="Text 8"/>
          <p:cNvSpPr txBox="1"/>
          <p:nvPr/>
        </p:nvSpPr>
        <p:spPr>
          <a:xfrm>
            <a:off x="960120" y="4133088"/>
            <a:ext cx="2814218" cy="329184"/>
          </a:xfrm>
          <a:prstGeom prst="rect">
            <a:avLst/>
          </a:prstGeom>
          <a:noFill/>
          <a:ln/>
        </p:spPr>
        <p:txBody>
          <a:bodyPr wrap="square" lIns="0" tIns="0" rIns="0" bIns="0" rtlCol="0" anchor="ctr"/>
          <a:lstStyle/>
          <a:p>
            <a:pPr indent="0" marL="0">
              <a:buNone/>
            </a:pPr>
            <a:r>
              <a:rPr lang="en-US" sz="1300" b="1" dirty="0">
                <a:solidFill>
                  <a:srgbClr val="E0505E"/>
                </a:solidFill>
                <a:latin typeface="Courier New" pitchFamily="34" charset="0"/>
                <a:ea typeface="Courier New" pitchFamily="34" charset="-122"/>
                <a:cs typeface="Courier New" pitchFamily="34" charset="-120"/>
              </a:rPr>
              <a:t>Hunts at 3.3 m/s</a:t>
            </a:r>
            <a:endParaRPr lang="en-US" sz="1300" dirty="0"/>
          </a:p>
        </p:txBody>
      </p:sp>
      <p:sp>
        <p:nvSpPr>
          <p:cNvPr id="11" name="Shape 9"/>
          <p:cNvSpPr/>
          <p:nvPr/>
        </p:nvSpPr>
        <p:spPr>
          <a:xfrm>
            <a:off x="4414418" y="1883664"/>
            <a:ext cx="3362858" cy="2743200"/>
          </a:xfrm>
          <a:prstGeom prst="roundRect">
            <a:avLst>
              <a:gd name="adj" fmla="val 2000"/>
            </a:avLst>
          </a:prstGeom>
          <a:solidFill>
            <a:srgbClr val="161D2A"/>
          </a:solidFill>
          <a:ln w="9525">
            <a:solidFill>
              <a:srgbClr val="222C3E"/>
            </a:solidFill>
            <a:prstDash val="solid"/>
          </a:ln>
        </p:spPr>
      </p:sp>
      <p:sp>
        <p:nvSpPr>
          <p:cNvPr id="12" name="Text 10"/>
          <p:cNvSpPr txBox="1"/>
          <p:nvPr/>
        </p:nvSpPr>
        <p:spPr>
          <a:xfrm>
            <a:off x="4688738" y="2029968"/>
            <a:ext cx="2814218" cy="402336"/>
          </a:xfrm>
          <a:prstGeom prst="rect">
            <a:avLst/>
          </a:prstGeom>
          <a:noFill/>
          <a:ln/>
        </p:spPr>
        <p:txBody>
          <a:bodyPr wrap="square" lIns="0" tIns="0" rIns="0" bIns="0" rtlCol="0" anchor="ctr"/>
          <a:lstStyle/>
          <a:p>
            <a:pPr indent="0" marL="0">
              <a:buNone/>
            </a:pPr>
            <a:r>
              <a:rPr lang="en-US" sz="2400" b="1" dirty="0">
                <a:solidFill>
                  <a:srgbClr val="E9EDF3"/>
                </a:solidFill>
                <a:latin typeface="Cambria" pitchFamily="34" charset="0"/>
                <a:ea typeface="Cambria" pitchFamily="34" charset="-122"/>
                <a:cs typeface="Cambria" pitchFamily="34" charset="-120"/>
              </a:rPr>
              <a:t>Wraith</a:t>
            </a:r>
            <a:endParaRPr lang="en-US" sz="2400" dirty="0"/>
          </a:p>
        </p:txBody>
      </p:sp>
      <p:sp>
        <p:nvSpPr>
          <p:cNvPr id="13" name="Text 11"/>
          <p:cNvSpPr txBox="1"/>
          <p:nvPr/>
        </p:nvSpPr>
        <p:spPr>
          <a:xfrm>
            <a:off x="4688738" y="2468880"/>
            <a:ext cx="2814218" cy="292608"/>
          </a:xfrm>
          <a:prstGeom prst="rect">
            <a:avLst/>
          </a:prstGeom>
          <a:noFill/>
          <a:ln/>
        </p:spPr>
        <p:txBody>
          <a:bodyPr wrap="square" lIns="0" tIns="0" rIns="0" bIns="0" rtlCol="0" anchor="ctr"/>
          <a:lstStyle/>
          <a:p>
            <a:pPr indent="0" marL="0">
              <a:buNone/>
            </a:pPr>
            <a:r>
              <a:rPr lang="en-US" sz="1350" dirty="0">
                <a:solidFill>
                  <a:srgbClr val="7FA6CC"/>
                </a:solidFill>
                <a:latin typeface="Calibri" pitchFamily="34" charset="0"/>
                <a:ea typeface="Calibri" pitchFamily="34" charset="-122"/>
                <a:cs typeface="Calibri" pitchFamily="34" charset="-120"/>
              </a:rPr>
              <a:t>Quiet and hard to follow</a:t>
            </a:r>
            <a:endParaRPr lang="en-US" sz="1350" dirty="0"/>
          </a:p>
        </p:txBody>
      </p:sp>
      <p:sp>
        <p:nvSpPr>
          <p:cNvPr id="14" name="Text 12"/>
          <p:cNvSpPr txBox="1"/>
          <p:nvPr/>
        </p:nvSpPr>
        <p:spPr>
          <a:xfrm>
            <a:off x="4688738" y="2871216"/>
            <a:ext cx="2814218" cy="1207008"/>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Leaves no footprints</a:t>
            </a:r>
            <a:endParaRPr lang="en-US" sz="1300" dirty="0"/>
          </a:p>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Jumps a short way closer</a:t>
            </a:r>
            <a:endParaRPr lang="en-US" sz="1300" dirty="0"/>
          </a:p>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Speeds up while chasing</a:t>
            </a:r>
            <a:endParaRPr lang="en-US" sz="1300" dirty="0"/>
          </a:p>
        </p:txBody>
      </p:sp>
      <p:sp>
        <p:nvSpPr>
          <p:cNvPr id="15" name="Text 13"/>
          <p:cNvSpPr txBox="1"/>
          <p:nvPr/>
        </p:nvSpPr>
        <p:spPr>
          <a:xfrm>
            <a:off x="4688738" y="4133088"/>
            <a:ext cx="2814218" cy="329184"/>
          </a:xfrm>
          <a:prstGeom prst="rect">
            <a:avLst/>
          </a:prstGeom>
          <a:noFill/>
          <a:ln/>
        </p:spPr>
        <p:txBody>
          <a:bodyPr wrap="square" lIns="0" tIns="0" rIns="0" bIns="0" rtlCol="0" anchor="ctr"/>
          <a:lstStyle/>
          <a:p>
            <a:pPr indent="0" marL="0">
              <a:buNone/>
            </a:pPr>
            <a:r>
              <a:rPr lang="en-US" sz="1300" b="1" dirty="0">
                <a:solidFill>
                  <a:srgbClr val="E0505E"/>
                </a:solidFill>
                <a:latin typeface="Courier New" pitchFamily="34" charset="0"/>
                <a:ea typeface="Courier New" pitchFamily="34" charset="-122"/>
                <a:cs typeface="Courier New" pitchFamily="34" charset="-120"/>
              </a:rPr>
              <a:t>Hunts at 3.4 m/s</a:t>
            </a:r>
            <a:endParaRPr lang="en-US" sz="1300" dirty="0"/>
          </a:p>
        </p:txBody>
      </p:sp>
      <p:sp>
        <p:nvSpPr>
          <p:cNvPr id="16" name="Shape 14"/>
          <p:cNvSpPr/>
          <p:nvPr/>
        </p:nvSpPr>
        <p:spPr>
          <a:xfrm>
            <a:off x="8143037" y="1883664"/>
            <a:ext cx="3362858" cy="2743200"/>
          </a:xfrm>
          <a:prstGeom prst="roundRect">
            <a:avLst>
              <a:gd name="adj" fmla="val 2000"/>
            </a:avLst>
          </a:prstGeom>
          <a:solidFill>
            <a:srgbClr val="161D2A"/>
          </a:solidFill>
          <a:ln w="9525">
            <a:solidFill>
              <a:srgbClr val="222C3E"/>
            </a:solidFill>
            <a:prstDash val="solid"/>
          </a:ln>
        </p:spPr>
      </p:sp>
      <p:sp>
        <p:nvSpPr>
          <p:cNvPr id="17" name="Text 15"/>
          <p:cNvSpPr txBox="1"/>
          <p:nvPr/>
        </p:nvSpPr>
        <p:spPr>
          <a:xfrm>
            <a:off x="8417357" y="2029968"/>
            <a:ext cx="2814218" cy="402336"/>
          </a:xfrm>
          <a:prstGeom prst="rect">
            <a:avLst/>
          </a:prstGeom>
          <a:noFill/>
          <a:ln/>
        </p:spPr>
        <p:txBody>
          <a:bodyPr wrap="square" lIns="0" tIns="0" rIns="0" bIns="0" rtlCol="0" anchor="ctr"/>
          <a:lstStyle/>
          <a:p>
            <a:pPr indent="0" marL="0">
              <a:buNone/>
            </a:pPr>
            <a:r>
              <a:rPr lang="en-US" sz="2400" b="1" dirty="0">
                <a:solidFill>
                  <a:srgbClr val="E9EDF3"/>
                </a:solidFill>
                <a:latin typeface="Cambria" pitchFamily="34" charset="0"/>
                <a:ea typeface="Cambria" pitchFamily="34" charset="-122"/>
                <a:cs typeface="Cambria" pitchFamily="34" charset="-120"/>
              </a:rPr>
              <a:t>Poltergeist</a:t>
            </a:r>
            <a:endParaRPr lang="en-US" sz="2400" dirty="0"/>
          </a:p>
        </p:txBody>
      </p:sp>
      <p:sp>
        <p:nvSpPr>
          <p:cNvPr id="18" name="Text 16"/>
          <p:cNvSpPr txBox="1"/>
          <p:nvPr/>
        </p:nvSpPr>
        <p:spPr>
          <a:xfrm>
            <a:off x="8417357" y="2468880"/>
            <a:ext cx="2814218" cy="292608"/>
          </a:xfrm>
          <a:prstGeom prst="rect">
            <a:avLst/>
          </a:prstGeom>
          <a:noFill/>
          <a:ln/>
        </p:spPr>
        <p:txBody>
          <a:bodyPr wrap="square" lIns="0" tIns="0" rIns="0" bIns="0" rtlCol="0" anchor="ctr"/>
          <a:lstStyle/>
          <a:p>
            <a:pPr indent="0" marL="0">
              <a:buNone/>
            </a:pPr>
            <a:r>
              <a:rPr lang="en-US" sz="1350" dirty="0">
                <a:solidFill>
                  <a:srgbClr val="7FA6CC"/>
                </a:solidFill>
                <a:latin typeface="Calibri" pitchFamily="34" charset="0"/>
                <a:ea typeface="Calibri" pitchFamily="34" charset="-122"/>
                <a:cs typeface="Calibri" pitchFamily="34" charset="-120"/>
              </a:rPr>
              <a:t>Angry and loud</a:t>
            </a:r>
            <a:endParaRPr lang="en-US" sz="1350" dirty="0"/>
          </a:p>
        </p:txBody>
      </p:sp>
      <p:sp>
        <p:nvSpPr>
          <p:cNvPr id="19" name="Text 17"/>
          <p:cNvSpPr txBox="1"/>
          <p:nvPr/>
        </p:nvSpPr>
        <p:spPr>
          <a:xfrm>
            <a:off x="8417357" y="2871216"/>
            <a:ext cx="2814218" cy="1207008"/>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Throws things around</a:t>
            </a:r>
            <a:endParaRPr lang="en-US" sz="1300" dirty="0"/>
          </a:p>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Throws everything at hunt start</a:t>
            </a:r>
            <a:endParaRPr lang="en-US" sz="1300" dirty="0"/>
          </a:p>
          <a:p>
            <a:pPr marL="342900" indent="-342900">
              <a:spcAft>
                <a:spcPts val="800"/>
              </a:spcAft>
              <a:buSzPct val="100000"/>
              <a:buChar char="•"/>
            </a:pPr>
            <a:r>
              <a:rPr lang="en-US" sz="1300" dirty="0">
                <a:solidFill>
                  <a:srgbClr val="8D9AAD"/>
                </a:solidFill>
                <a:latin typeface="Calibri" pitchFamily="34" charset="0"/>
                <a:ea typeface="Calibri" pitchFamily="34" charset="-122"/>
                <a:cs typeface="Calibri" pitchFamily="34" charset="-120"/>
              </a:rPr>
              <a:t>Drains sanity 1.5× faster</a:t>
            </a:r>
            <a:endParaRPr lang="en-US" sz="1300" dirty="0"/>
          </a:p>
        </p:txBody>
      </p:sp>
      <p:sp>
        <p:nvSpPr>
          <p:cNvPr id="20" name="Text 18"/>
          <p:cNvSpPr txBox="1"/>
          <p:nvPr/>
        </p:nvSpPr>
        <p:spPr>
          <a:xfrm>
            <a:off x="8417357" y="4133088"/>
            <a:ext cx="2814218" cy="329184"/>
          </a:xfrm>
          <a:prstGeom prst="rect">
            <a:avLst/>
          </a:prstGeom>
          <a:noFill/>
          <a:ln/>
        </p:spPr>
        <p:txBody>
          <a:bodyPr wrap="square" lIns="0" tIns="0" rIns="0" bIns="0" rtlCol="0" anchor="ctr"/>
          <a:lstStyle/>
          <a:p>
            <a:pPr indent="0" marL="0">
              <a:buNone/>
            </a:pPr>
            <a:r>
              <a:rPr lang="en-US" sz="1300" b="1" dirty="0">
                <a:solidFill>
                  <a:srgbClr val="E0505E"/>
                </a:solidFill>
                <a:latin typeface="Courier New" pitchFamily="34" charset="0"/>
                <a:ea typeface="Courier New" pitchFamily="34" charset="-122"/>
                <a:cs typeface="Courier New" pitchFamily="34" charset="-120"/>
              </a:rPr>
              <a:t>Hunts at 3.6 m/s</a:t>
            </a:r>
            <a:endParaRPr lang="en-US" sz="1300" dirty="0"/>
          </a:p>
        </p:txBody>
      </p:sp>
      <p:sp>
        <p:nvSpPr>
          <p:cNvPr id="21" name="Shape 19"/>
          <p:cNvSpPr/>
          <p:nvPr/>
        </p:nvSpPr>
        <p:spPr>
          <a:xfrm>
            <a:off x="685800" y="4882896"/>
            <a:ext cx="10820095" cy="1042416"/>
          </a:xfrm>
          <a:prstGeom prst="roundRect">
            <a:avLst>
              <a:gd name="adj" fmla="val 5263"/>
            </a:avLst>
          </a:prstGeom>
          <a:solidFill>
            <a:srgbClr val="222C3E"/>
          </a:solidFill>
          <a:ln w="9525">
            <a:solidFill>
              <a:srgbClr val="222C3E"/>
            </a:solidFill>
            <a:prstDash val="solid"/>
          </a:ln>
        </p:spPr>
      </p:sp>
      <p:sp>
        <p:nvSpPr>
          <p:cNvPr id="22" name="Text 20"/>
          <p:cNvSpPr txBox="1"/>
          <p:nvPr/>
        </p:nvSpPr>
        <p:spPr>
          <a:xfrm>
            <a:off x="1143000" y="5010912"/>
            <a:ext cx="9905695" cy="365760"/>
          </a:xfrm>
          <a:prstGeom prst="rect">
            <a:avLst/>
          </a:prstGeom>
          <a:noFill/>
          <a:ln/>
        </p:spPr>
        <p:txBody>
          <a:bodyPr wrap="square" lIns="0" tIns="0" rIns="0" bIns="0" rtlCol="0" anchor="ctr"/>
          <a:lstStyle/>
          <a:p>
            <a:pPr indent="0" marL="0">
              <a:buNone/>
            </a:pPr>
            <a:r>
              <a:rPr lang="en-US" sz="1800" b="1" dirty="0">
                <a:solidFill>
                  <a:srgbClr val="A9C6E4"/>
                </a:solidFill>
                <a:latin typeface="Calibri" pitchFamily="34" charset="0"/>
                <a:ea typeface="Calibri" pitchFamily="34" charset="-122"/>
                <a:cs typeface="Calibri" pitchFamily="34" charset="-120"/>
              </a:rPr>
              <a:t>Three ghosts  =  one GhostAI script  +  three data files</a:t>
            </a:r>
            <a:endParaRPr lang="en-US" sz="1800" dirty="0"/>
          </a:p>
        </p:txBody>
      </p:sp>
      <p:sp>
        <p:nvSpPr>
          <p:cNvPr id="23" name="Text 21"/>
          <p:cNvSpPr txBox="1"/>
          <p:nvPr/>
        </p:nvSpPr>
        <p:spPr>
          <a:xfrm>
            <a:off x="1143000" y="5394960"/>
            <a:ext cx="9905695" cy="365760"/>
          </a:xfrm>
          <a:prstGeom prst="rect">
            <a:avLst/>
          </a:prstGeom>
          <a:noFill/>
          <a:ln/>
        </p:spPr>
        <p:txBody>
          <a:bodyPr wrap="square" lIns="0" tIns="0" rIns="0" bIns="0" rtlCol="0" anchor="ctr"/>
          <a:lstStyle/>
          <a:p>
            <a:pPr indent="0" marL="0">
              <a:buNone/>
            </a:pPr>
            <a:r>
              <a:rPr lang="en-US" sz="1300" dirty="0">
                <a:solidFill>
                  <a:srgbClr val="8D9AAD"/>
                </a:solidFill>
                <a:latin typeface="Calibri" pitchFamily="34" charset="0"/>
                <a:ea typeface="Calibri" pitchFamily="34" charset="-122"/>
                <a:cs typeface="Calibri" pitchFamily="34" charset="-120"/>
              </a:rPr>
              <a:t>To add a fourth ghost we make one more data file. We do not change any code.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10 — LEVEL</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10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One apartment, eight areas</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One good map beats three empty ones</a:t>
            </a:r>
            <a:endParaRPr lang="en-US" sz="1450" dirty="0"/>
          </a:p>
        </p:txBody>
      </p:sp>
      <p:sp>
        <p:nvSpPr>
          <p:cNvPr id="6" name="Shape 4"/>
          <p:cNvSpPr/>
          <p:nvPr/>
        </p:nvSpPr>
        <p:spPr>
          <a:xfrm>
            <a:off x="685800" y="1956816"/>
            <a:ext cx="2852928" cy="731520"/>
          </a:xfrm>
          <a:prstGeom prst="roundRect">
            <a:avLst>
              <a:gd name="adj" fmla="val 6250"/>
            </a:avLst>
          </a:prstGeom>
          <a:solidFill>
            <a:srgbClr val="161D2A"/>
          </a:solidFill>
          <a:ln w="9525">
            <a:solidFill>
              <a:srgbClr val="222C3E"/>
            </a:solidFill>
            <a:prstDash val="solid"/>
          </a:ln>
        </p:spPr>
      </p:sp>
      <p:sp>
        <p:nvSpPr>
          <p:cNvPr id="7" name="Text 5"/>
          <p:cNvSpPr txBox="1"/>
          <p:nvPr/>
        </p:nvSpPr>
        <p:spPr>
          <a:xfrm>
            <a:off x="923544" y="1956816"/>
            <a:ext cx="1371600" cy="731520"/>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Main Room</a:t>
            </a:r>
            <a:endParaRPr lang="en-US" sz="1400" dirty="0"/>
          </a:p>
        </p:txBody>
      </p:sp>
      <p:sp>
        <p:nvSpPr>
          <p:cNvPr id="8" name="Text 6"/>
          <p:cNvSpPr txBox="1"/>
          <p:nvPr/>
        </p:nvSpPr>
        <p:spPr>
          <a:xfrm>
            <a:off x="2331720" y="1956816"/>
            <a:ext cx="969264" cy="731520"/>
          </a:xfrm>
          <a:prstGeom prst="rect">
            <a:avLst/>
          </a:prstGeom>
          <a:noFill/>
          <a:ln/>
        </p:spPr>
        <p:txBody>
          <a:bodyPr wrap="square" lIns="0" tIns="0" rIns="0" bIns="0" rtlCol="0" anchor="ctr"/>
          <a:lstStyle/>
          <a:p>
            <a:pPr algn="r" indent="0" marL="0">
              <a:buNone/>
            </a:pPr>
            <a:r>
              <a:rPr lang="en-US" sz="1100" dirty="0">
                <a:solidFill>
                  <a:srgbClr val="5E6B7E"/>
                </a:solidFill>
                <a:latin typeface="Courier New" pitchFamily="34" charset="0"/>
                <a:ea typeface="Courier New" pitchFamily="34" charset="-122"/>
                <a:cs typeface="Courier New" pitchFamily="34" charset="-120"/>
              </a:rPr>
              <a:t>70 m²</a:t>
            </a:r>
            <a:endParaRPr lang="en-US" sz="1100" dirty="0"/>
          </a:p>
        </p:txBody>
      </p:sp>
      <p:sp>
        <p:nvSpPr>
          <p:cNvPr id="9" name="Shape 7"/>
          <p:cNvSpPr/>
          <p:nvPr/>
        </p:nvSpPr>
        <p:spPr>
          <a:xfrm>
            <a:off x="3685032" y="1956816"/>
            <a:ext cx="2852928" cy="731520"/>
          </a:xfrm>
          <a:prstGeom prst="roundRect">
            <a:avLst>
              <a:gd name="adj" fmla="val 6250"/>
            </a:avLst>
          </a:prstGeom>
          <a:solidFill>
            <a:srgbClr val="161D2A"/>
          </a:solidFill>
          <a:ln w="9525">
            <a:solidFill>
              <a:srgbClr val="222C3E"/>
            </a:solidFill>
            <a:prstDash val="solid"/>
          </a:ln>
        </p:spPr>
      </p:sp>
      <p:sp>
        <p:nvSpPr>
          <p:cNvPr id="10" name="Text 8"/>
          <p:cNvSpPr txBox="1"/>
          <p:nvPr/>
        </p:nvSpPr>
        <p:spPr>
          <a:xfrm>
            <a:off x="3922776" y="1956816"/>
            <a:ext cx="1371600" cy="731520"/>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Kitchen</a:t>
            </a:r>
            <a:endParaRPr lang="en-US" sz="1400" dirty="0"/>
          </a:p>
        </p:txBody>
      </p:sp>
      <p:sp>
        <p:nvSpPr>
          <p:cNvPr id="11" name="Text 9"/>
          <p:cNvSpPr txBox="1"/>
          <p:nvPr/>
        </p:nvSpPr>
        <p:spPr>
          <a:xfrm>
            <a:off x="5330952" y="1956816"/>
            <a:ext cx="969264" cy="731520"/>
          </a:xfrm>
          <a:prstGeom prst="rect">
            <a:avLst/>
          </a:prstGeom>
          <a:noFill/>
          <a:ln/>
        </p:spPr>
        <p:txBody>
          <a:bodyPr wrap="square" lIns="0" tIns="0" rIns="0" bIns="0" rtlCol="0" anchor="ctr"/>
          <a:lstStyle/>
          <a:p>
            <a:pPr algn="r" indent="0" marL="0">
              <a:buNone/>
            </a:pPr>
            <a:r>
              <a:rPr lang="en-US" sz="1100" dirty="0">
                <a:solidFill>
                  <a:srgbClr val="5E6B7E"/>
                </a:solidFill>
                <a:latin typeface="Courier New" pitchFamily="34" charset="0"/>
                <a:ea typeface="Courier New" pitchFamily="34" charset="-122"/>
                <a:cs typeface="Courier New" pitchFamily="34" charset="-120"/>
              </a:rPr>
              <a:t>22 m²</a:t>
            </a:r>
            <a:endParaRPr lang="en-US" sz="1100" dirty="0"/>
          </a:p>
        </p:txBody>
      </p:sp>
      <p:sp>
        <p:nvSpPr>
          <p:cNvPr id="12" name="Shape 10"/>
          <p:cNvSpPr/>
          <p:nvPr/>
        </p:nvSpPr>
        <p:spPr>
          <a:xfrm>
            <a:off x="685800" y="2834640"/>
            <a:ext cx="2852928" cy="731520"/>
          </a:xfrm>
          <a:prstGeom prst="roundRect">
            <a:avLst>
              <a:gd name="adj" fmla="val 6250"/>
            </a:avLst>
          </a:prstGeom>
          <a:solidFill>
            <a:srgbClr val="161D2A"/>
          </a:solidFill>
          <a:ln w="9525">
            <a:solidFill>
              <a:srgbClr val="222C3E"/>
            </a:solidFill>
            <a:prstDash val="solid"/>
          </a:ln>
        </p:spPr>
      </p:sp>
      <p:sp>
        <p:nvSpPr>
          <p:cNvPr id="13" name="Text 11"/>
          <p:cNvSpPr txBox="1"/>
          <p:nvPr/>
        </p:nvSpPr>
        <p:spPr>
          <a:xfrm>
            <a:off x="923544" y="2834640"/>
            <a:ext cx="1371600" cy="731520"/>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Corridor</a:t>
            </a:r>
            <a:endParaRPr lang="en-US" sz="1400" dirty="0"/>
          </a:p>
        </p:txBody>
      </p:sp>
      <p:sp>
        <p:nvSpPr>
          <p:cNvPr id="14" name="Text 12"/>
          <p:cNvSpPr txBox="1"/>
          <p:nvPr/>
        </p:nvSpPr>
        <p:spPr>
          <a:xfrm>
            <a:off x="2331720" y="2834640"/>
            <a:ext cx="969264" cy="731520"/>
          </a:xfrm>
          <a:prstGeom prst="rect">
            <a:avLst/>
          </a:prstGeom>
          <a:noFill/>
          <a:ln/>
        </p:spPr>
        <p:txBody>
          <a:bodyPr wrap="square" lIns="0" tIns="0" rIns="0" bIns="0" rtlCol="0" anchor="ctr"/>
          <a:lstStyle/>
          <a:p>
            <a:pPr algn="r" indent="0" marL="0">
              <a:buNone/>
            </a:pPr>
            <a:r>
              <a:rPr lang="en-US" sz="1100" dirty="0">
                <a:solidFill>
                  <a:srgbClr val="5E6B7E"/>
                </a:solidFill>
                <a:latin typeface="Courier New" pitchFamily="34" charset="0"/>
                <a:ea typeface="Courier New" pitchFamily="34" charset="-122"/>
                <a:cs typeface="Courier New" pitchFamily="34" charset="-120"/>
              </a:rPr>
              <a:t>22 m²</a:t>
            </a:r>
            <a:endParaRPr lang="en-US" sz="1100" dirty="0"/>
          </a:p>
        </p:txBody>
      </p:sp>
      <p:sp>
        <p:nvSpPr>
          <p:cNvPr id="15" name="Shape 13"/>
          <p:cNvSpPr/>
          <p:nvPr/>
        </p:nvSpPr>
        <p:spPr>
          <a:xfrm>
            <a:off x="3685032" y="2834640"/>
            <a:ext cx="2852928" cy="731520"/>
          </a:xfrm>
          <a:prstGeom prst="roundRect">
            <a:avLst>
              <a:gd name="adj" fmla="val 6250"/>
            </a:avLst>
          </a:prstGeom>
          <a:solidFill>
            <a:srgbClr val="161D2A"/>
          </a:solidFill>
          <a:ln w="9525">
            <a:solidFill>
              <a:srgbClr val="222C3E"/>
            </a:solidFill>
            <a:prstDash val="solid"/>
          </a:ln>
        </p:spPr>
      </p:sp>
      <p:sp>
        <p:nvSpPr>
          <p:cNvPr id="16" name="Text 14"/>
          <p:cNvSpPr txBox="1"/>
          <p:nvPr/>
        </p:nvSpPr>
        <p:spPr>
          <a:xfrm>
            <a:off x="3922776" y="2834640"/>
            <a:ext cx="1371600" cy="731520"/>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Washroom</a:t>
            </a:r>
            <a:endParaRPr lang="en-US" sz="1400" dirty="0"/>
          </a:p>
        </p:txBody>
      </p:sp>
      <p:sp>
        <p:nvSpPr>
          <p:cNvPr id="17" name="Text 15"/>
          <p:cNvSpPr txBox="1"/>
          <p:nvPr/>
        </p:nvSpPr>
        <p:spPr>
          <a:xfrm>
            <a:off x="5330952" y="2834640"/>
            <a:ext cx="969264" cy="731520"/>
          </a:xfrm>
          <a:prstGeom prst="rect">
            <a:avLst/>
          </a:prstGeom>
          <a:noFill/>
          <a:ln/>
        </p:spPr>
        <p:txBody>
          <a:bodyPr wrap="square" lIns="0" tIns="0" rIns="0" bIns="0" rtlCol="0" anchor="ctr"/>
          <a:lstStyle/>
          <a:p>
            <a:pPr algn="r" indent="0" marL="0">
              <a:buNone/>
            </a:pPr>
            <a:r>
              <a:rPr lang="en-US" sz="1100" dirty="0">
                <a:solidFill>
                  <a:srgbClr val="5E6B7E"/>
                </a:solidFill>
                <a:latin typeface="Courier New" pitchFamily="34" charset="0"/>
                <a:ea typeface="Courier New" pitchFamily="34" charset="-122"/>
                <a:cs typeface="Courier New" pitchFamily="34" charset="-120"/>
              </a:rPr>
              <a:t>22 m²</a:t>
            </a:r>
            <a:endParaRPr lang="en-US" sz="1100" dirty="0"/>
          </a:p>
        </p:txBody>
      </p:sp>
      <p:sp>
        <p:nvSpPr>
          <p:cNvPr id="18" name="Shape 16"/>
          <p:cNvSpPr/>
          <p:nvPr/>
        </p:nvSpPr>
        <p:spPr>
          <a:xfrm>
            <a:off x="685800" y="3712464"/>
            <a:ext cx="2852928" cy="731520"/>
          </a:xfrm>
          <a:prstGeom prst="roundRect">
            <a:avLst>
              <a:gd name="adj" fmla="val 6250"/>
            </a:avLst>
          </a:prstGeom>
          <a:solidFill>
            <a:srgbClr val="161D2A"/>
          </a:solidFill>
          <a:ln w="9525">
            <a:solidFill>
              <a:srgbClr val="222C3E"/>
            </a:solidFill>
            <a:prstDash val="solid"/>
          </a:ln>
        </p:spPr>
      </p:sp>
      <p:sp>
        <p:nvSpPr>
          <p:cNvPr id="19" name="Text 17"/>
          <p:cNvSpPr txBox="1"/>
          <p:nvPr/>
        </p:nvSpPr>
        <p:spPr>
          <a:xfrm>
            <a:off x="923544" y="3712464"/>
            <a:ext cx="1371600" cy="731520"/>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Host Bedroom</a:t>
            </a:r>
            <a:endParaRPr lang="en-US" sz="1400" dirty="0"/>
          </a:p>
        </p:txBody>
      </p:sp>
      <p:sp>
        <p:nvSpPr>
          <p:cNvPr id="20" name="Text 18"/>
          <p:cNvSpPr txBox="1"/>
          <p:nvPr/>
        </p:nvSpPr>
        <p:spPr>
          <a:xfrm>
            <a:off x="2331720" y="3712464"/>
            <a:ext cx="969264" cy="731520"/>
          </a:xfrm>
          <a:prstGeom prst="rect">
            <a:avLst/>
          </a:prstGeom>
          <a:noFill/>
          <a:ln/>
        </p:spPr>
        <p:txBody>
          <a:bodyPr wrap="square" lIns="0" tIns="0" rIns="0" bIns="0" rtlCol="0" anchor="ctr"/>
          <a:lstStyle/>
          <a:p>
            <a:pPr algn="r" indent="0" marL="0">
              <a:buNone/>
            </a:pPr>
            <a:r>
              <a:rPr lang="en-US" sz="1100" dirty="0">
                <a:solidFill>
                  <a:srgbClr val="5E6B7E"/>
                </a:solidFill>
                <a:latin typeface="Courier New" pitchFamily="34" charset="0"/>
                <a:ea typeface="Courier New" pitchFamily="34" charset="-122"/>
                <a:cs typeface="Courier New" pitchFamily="34" charset="-120"/>
              </a:rPr>
              <a:t>52 m²</a:t>
            </a:r>
            <a:endParaRPr lang="en-US" sz="1100" dirty="0"/>
          </a:p>
        </p:txBody>
      </p:sp>
      <p:sp>
        <p:nvSpPr>
          <p:cNvPr id="21" name="Shape 19"/>
          <p:cNvSpPr/>
          <p:nvPr/>
        </p:nvSpPr>
        <p:spPr>
          <a:xfrm>
            <a:off x="3685032" y="3712464"/>
            <a:ext cx="2852928" cy="731520"/>
          </a:xfrm>
          <a:prstGeom prst="roundRect">
            <a:avLst>
              <a:gd name="adj" fmla="val 6250"/>
            </a:avLst>
          </a:prstGeom>
          <a:solidFill>
            <a:srgbClr val="161D2A"/>
          </a:solidFill>
          <a:ln w="9525">
            <a:solidFill>
              <a:srgbClr val="222C3E"/>
            </a:solidFill>
            <a:prstDash val="solid"/>
          </a:ln>
        </p:spPr>
      </p:sp>
      <p:sp>
        <p:nvSpPr>
          <p:cNvPr id="22" name="Text 20"/>
          <p:cNvSpPr txBox="1"/>
          <p:nvPr/>
        </p:nvSpPr>
        <p:spPr>
          <a:xfrm>
            <a:off x="3922776" y="3712464"/>
            <a:ext cx="1371600" cy="731520"/>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Guest Room</a:t>
            </a:r>
            <a:endParaRPr lang="en-US" sz="1400" dirty="0"/>
          </a:p>
        </p:txBody>
      </p:sp>
      <p:sp>
        <p:nvSpPr>
          <p:cNvPr id="23" name="Text 21"/>
          <p:cNvSpPr txBox="1"/>
          <p:nvPr/>
        </p:nvSpPr>
        <p:spPr>
          <a:xfrm>
            <a:off x="5330952" y="3712464"/>
            <a:ext cx="969264" cy="731520"/>
          </a:xfrm>
          <a:prstGeom prst="rect">
            <a:avLst/>
          </a:prstGeom>
          <a:noFill/>
          <a:ln/>
        </p:spPr>
        <p:txBody>
          <a:bodyPr wrap="square" lIns="0" tIns="0" rIns="0" bIns="0" rtlCol="0" anchor="ctr"/>
          <a:lstStyle/>
          <a:p>
            <a:pPr algn="r" indent="0" marL="0">
              <a:buNone/>
            </a:pPr>
            <a:r>
              <a:rPr lang="en-US" sz="1100" dirty="0">
                <a:solidFill>
                  <a:srgbClr val="5E6B7E"/>
                </a:solidFill>
                <a:latin typeface="Courier New" pitchFamily="34" charset="0"/>
                <a:ea typeface="Courier New" pitchFamily="34" charset="-122"/>
                <a:cs typeface="Courier New" pitchFamily="34" charset="-120"/>
              </a:rPr>
              <a:t>22 m²</a:t>
            </a:r>
            <a:endParaRPr lang="en-US" sz="1100" dirty="0"/>
          </a:p>
        </p:txBody>
      </p:sp>
      <p:sp>
        <p:nvSpPr>
          <p:cNvPr id="24" name="Shape 22"/>
          <p:cNvSpPr/>
          <p:nvPr/>
        </p:nvSpPr>
        <p:spPr>
          <a:xfrm>
            <a:off x="685800" y="4590288"/>
            <a:ext cx="2852928" cy="731520"/>
          </a:xfrm>
          <a:prstGeom prst="roundRect">
            <a:avLst>
              <a:gd name="adj" fmla="val 6250"/>
            </a:avLst>
          </a:prstGeom>
          <a:solidFill>
            <a:srgbClr val="161D2A"/>
          </a:solidFill>
          <a:ln w="9525">
            <a:solidFill>
              <a:srgbClr val="222C3E"/>
            </a:solidFill>
            <a:prstDash val="solid"/>
          </a:ln>
        </p:spPr>
      </p:sp>
      <p:sp>
        <p:nvSpPr>
          <p:cNvPr id="25" name="Text 23"/>
          <p:cNvSpPr txBox="1"/>
          <p:nvPr/>
        </p:nvSpPr>
        <p:spPr>
          <a:xfrm>
            <a:off x="923544" y="4590288"/>
            <a:ext cx="1371600" cy="731520"/>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Double Room</a:t>
            </a:r>
            <a:endParaRPr lang="en-US" sz="1400" dirty="0"/>
          </a:p>
        </p:txBody>
      </p:sp>
      <p:sp>
        <p:nvSpPr>
          <p:cNvPr id="26" name="Text 24"/>
          <p:cNvSpPr txBox="1"/>
          <p:nvPr/>
        </p:nvSpPr>
        <p:spPr>
          <a:xfrm>
            <a:off x="2331720" y="4590288"/>
            <a:ext cx="969264" cy="731520"/>
          </a:xfrm>
          <a:prstGeom prst="rect">
            <a:avLst/>
          </a:prstGeom>
          <a:noFill/>
          <a:ln/>
        </p:spPr>
        <p:txBody>
          <a:bodyPr wrap="square" lIns="0" tIns="0" rIns="0" bIns="0" rtlCol="0" anchor="ctr"/>
          <a:lstStyle/>
          <a:p>
            <a:pPr algn="r" indent="0" marL="0">
              <a:buNone/>
            </a:pPr>
            <a:r>
              <a:rPr lang="en-US" sz="1100" dirty="0">
                <a:solidFill>
                  <a:srgbClr val="5E6B7E"/>
                </a:solidFill>
                <a:latin typeface="Courier New" pitchFamily="34" charset="0"/>
                <a:ea typeface="Courier New" pitchFamily="34" charset="-122"/>
                <a:cs typeface="Courier New" pitchFamily="34" charset="-120"/>
              </a:rPr>
              <a:t>46 m²</a:t>
            </a:r>
            <a:endParaRPr lang="en-US" sz="1100" dirty="0"/>
          </a:p>
        </p:txBody>
      </p:sp>
      <p:sp>
        <p:nvSpPr>
          <p:cNvPr id="27" name="Shape 25"/>
          <p:cNvSpPr/>
          <p:nvPr/>
        </p:nvSpPr>
        <p:spPr>
          <a:xfrm>
            <a:off x="3685032" y="4590288"/>
            <a:ext cx="2852928" cy="731520"/>
          </a:xfrm>
          <a:prstGeom prst="roundRect">
            <a:avLst>
              <a:gd name="adj" fmla="val 6250"/>
            </a:avLst>
          </a:prstGeom>
          <a:solidFill>
            <a:srgbClr val="222C3E"/>
          </a:solidFill>
          <a:ln w="15875">
            <a:solidFill>
              <a:srgbClr val="7FA6CC"/>
            </a:solidFill>
            <a:prstDash val="solid"/>
          </a:ln>
        </p:spPr>
      </p:sp>
      <p:sp>
        <p:nvSpPr>
          <p:cNvPr id="28" name="Text 26"/>
          <p:cNvSpPr txBox="1"/>
          <p:nvPr/>
        </p:nvSpPr>
        <p:spPr>
          <a:xfrm>
            <a:off x="3922776" y="4590288"/>
            <a:ext cx="1371600" cy="731520"/>
          </a:xfrm>
          <a:prstGeom prst="rect">
            <a:avLst/>
          </a:prstGeom>
          <a:noFill/>
          <a:ln/>
        </p:spPr>
        <p:txBody>
          <a:bodyPr wrap="square" lIns="0" tIns="0" rIns="0" bIns="0" rtlCol="0" anchor="ctr"/>
          <a:lstStyle/>
          <a:p>
            <a:pPr indent="0" marL="0">
              <a:buNone/>
            </a:pPr>
            <a:r>
              <a:rPr lang="en-US" sz="1400" b="1" dirty="0">
                <a:solidFill>
                  <a:srgbClr val="A9C6E4"/>
                </a:solidFill>
                <a:latin typeface="Calibri" pitchFamily="34" charset="0"/>
                <a:ea typeface="Calibri" pitchFamily="34" charset="-122"/>
                <a:cs typeface="Calibri" pitchFamily="34" charset="-120"/>
              </a:rPr>
              <a:t>Lobby</a:t>
            </a:r>
            <a:endParaRPr lang="en-US" sz="1400" dirty="0"/>
          </a:p>
        </p:txBody>
      </p:sp>
      <p:sp>
        <p:nvSpPr>
          <p:cNvPr id="29" name="Text 27"/>
          <p:cNvSpPr txBox="1"/>
          <p:nvPr/>
        </p:nvSpPr>
        <p:spPr>
          <a:xfrm>
            <a:off x="5330952" y="4590288"/>
            <a:ext cx="969264" cy="731520"/>
          </a:xfrm>
          <a:prstGeom prst="rect">
            <a:avLst/>
          </a:prstGeom>
          <a:noFill/>
          <a:ln/>
        </p:spPr>
        <p:txBody>
          <a:bodyPr wrap="square" lIns="0" tIns="0" rIns="0" bIns="0" rtlCol="0" anchor="ctr"/>
          <a:lstStyle/>
          <a:p>
            <a:pPr algn="r" indent="0" marL="0">
              <a:buNone/>
            </a:pPr>
            <a:r>
              <a:rPr lang="en-US" sz="1100" dirty="0">
                <a:solidFill>
                  <a:srgbClr val="7FA6CC"/>
                </a:solidFill>
                <a:latin typeface="Courier New" pitchFamily="34" charset="0"/>
                <a:ea typeface="Courier New" pitchFamily="34" charset="-122"/>
                <a:cs typeface="Courier New" pitchFamily="34" charset="-120"/>
              </a:rPr>
              <a:t>safe zone</a:t>
            </a:r>
            <a:endParaRPr lang="en-US" sz="1100" dirty="0"/>
          </a:p>
        </p:txBody>
      </p:sp>
      <p:sp>
        <p:nvSpPr>
          <p:cNvPr id="30" name="Text 28"/>
          <p:cNvSpPr txBox="1"/>
          <p:nvPr/>
        </p:nvSpPr>
        <p:spPr>
          <a:xfrm>
            <a:off x="685800" y="5614416"/>
            <a:ext cx="5852160" cy="457200"/>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Seven rooms can be the ghost room. The game picks one at random each time. The lobby is safe.</a:t>
            </a:r>
            <a:endParaRPr lang="en-US" sz="1200" dirty="0"/>
          </a:p>
        </p:txBody>
      </p:sp>
      <p:sp>
        <p:nvSpPr>
          <p:cNvPr id="31" name="Shape 29"/>
          <p:cNvSpPr/>
          <p:nvPr/>
        </p:nvSpPr>
        <p:spPr>
          <a:xfrm>
            <a:off x="7086600" y="2029968"/>
            <a:ext cx="182880" cy="182880"/>
          </a:xfrm>
          <a:prstGeom prst="ellipse">
            <a:avLst/>
          </a:prstGeom>
          <a:solidFill>
            <a:srgbClr val="7FA6CC"/>
          </a:solidFill>
          <a:ln w="12700">
            <a:solidFill>
              <a:srgbClr val="0A0D13"/>
            </a:solidFill>
            <a:prstDash val="solid"/>
          </a:ln>
        </p:spPr>
      </p:sp>
      <p:sp>
        <p:nvSpPr>
          <p:cNvPr id="32" name="Text 30"/>
          <p:cNvSpPr txBox="1"/>
          <p:nvPr/>
        </p:nvSpPr>
        <p:spPr>
          <a:xfrm>
            <a:off x="7415784" y="1938528"/>
            <a:ext cx="4090111" cy="292608"/>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Cold blue moonlight is the only room light</a:t>
            </a:r>
            <a:endParaRPr lang="en-US" sz="1400" dirty="0"/>
          </a:p>
        </p:txBody>
      </p:sp>
      <p:sp>
        <p:nvSpPr>
          <p:cNvPr id="33" name="Text 31"/>
          <p:cNvSpPr txBox="1"/>
          <p:nvPr/>
        </p:nvSpPr>
        <p:spPr>
          <a:xfrm>
            <a:off x="7415784" y="2231136"/>
            <a:ext cx="4090111" cy="475488"/>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It comes in through the windows. Inside the flat it is almost black.</a:t>
            </a:r>
            <a:endParaRPr lang="en-US" sz="1150" dirty="0"/>
          </a:p>
        </p:txBody>
      </p:sp>
      <p:sp>
        <p:nvSpPr>
          <p:cNvPr id="34" name="Shape 32"/>
          <p:cNvSpPr/>
          <p:nvPr/>
        </p:nvSpPr>
        <p:spPr>
          <a:xfrm>
            <a:off x="7086600" y="2852928"/>
            <a:ext cx="182880" cy="182880"/>
          </a:xfrm>
          <a:prstGeom prst="ellipse">
            <a:avLst/>
          </a:prstGeom>
          <a:solidFill>
            <a:srgbClr val="7FA6CC"/>
          </a:solidFill>
          <a:ln w="12700">
            <a:solidFill>
              <a:srgbClr val="0A0D13"/>
            </a:solidFill>
            <a:prstDash val="solid"/>
          </a:ln>
        </p:spPr>
      </p:sp>
      <p:sp>
        <p:nvSpPr>
          <p:cNvPr id="35" name="Text 33"/>
          <p:cNvSpPr txBox="1"/>
          <p:nvPr/>
        </p:nvSpPr>
        <p:spPr>
          <a:xfrm>
            <a:off x="7415784" y="2761488"/>
            <a:ext cx="4090111" cy="292608"/>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Your flashlight is the only warm light</a:t>
            </a:r>
            <a:endParaRPr lang="en-US" sz="1400" dirty="0"/>
          </a:p>
        </p:txBody>
      </p:sp>
      <p:sp>
        <p:nvSpPr>
          <p:cNvPr id="36" name="Text 34"/>
          <p:cNvSpPr txBox="1"/>
          <p:nvPr/>
        </p:nvSpPr>
        <p:spPr>
          <a:xfrm>
            <a:off x="7415784" y="3054096"/>
            <a:ext cx="4090111" cy="475488"/>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4200 K, 12 m, a 45° cone. That is all the light you get.</a:t>
            </a:r>
            <a:endParaRPr lang="en-US" sz="1150" dirty="0"/>
          </a:p>
        </p:txBody>
      </p:sp>
      <p:sp>
        <p:nvSpPr>
          <p:cNvPr id="37" name="Shape 35"/>
          <p:cNvSpPr/>
          <p:nvPr/>
        </p:nvSpPr>
        <p:spPr>
          <a:xfrm>
            <a:off x="7086600" y="3675888"/>
            <a:ext cx="182880" cy="182880"/>
          </a:xfrm>
          <a:prstGeom prst="ellipse">
            <a:avLst/>
          </a:prstGeom>
          <a:solidFill>
            <a:srgbClr val="7FA6CC"/>
          </a:solidFill>
          <a:ln w="12700">
            <a:solidFill>
              <a:srgbClr val="0A0D13"/>
            </a:solidFill>
            <a:prstDash val="solid"/>
          </a:ln>
        </p:spPr>
      </p:sp>
      <p:sp>
        <p:nvSpPr>
          <p:cNvPr id="38" name="Text 36"/>
          <p:cNvSpPr txBox="1"/>
          <p:nvPr/>
        </p:nvSpPr>
        <p:spPr>
          <a:xfrm>
            <a:off x="7415784" y="3584448"/>
            <a:ext cx="4090111" cy="292608"/>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Every room has a light switch</a:t>
            </a:r>
            <a:endParaRPr lang="en-US" sz="1400" dirty="0"/>
          </a:p>
        </p:txBody>
      </p:sp>
      <p:sp>
        <p:nvSpPr>
          <p:cNvPr id="39" name="Text 37"/>
          <p:cNvSpPr txBox="1"/>
          <p:nvPr/>
        </p:nvSpPr>
        <p:spPr>
          <a:xfrm>
            <a:off x="7415784" y="3877056"/>
            <a:ext cx="4090111" cy="475488"/>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Lights slow down sanity loss, but the ghost notices you more.</a:t>
            </a:r>
            <a:endParaRPr lang="en-US" sz="1150" dirty="0"/>
          </a:p>
        </p:txBody>
      </p:sp>
      <p:sp>
        <p:nvSpPr>
          <p:cNvPr id="40" name="Shape 38"/>
          <p:cNvSpPr/>
          <p:nvPr/>
        </p:nvSpPr>
        <p:spPr>
          <a:xfrm>
            <a:off x="7086600" y="4498848"/>
            <a:ext cx="182880" cy="182880"/>
          </a:xfrm>
          <a:prstGeom prst="ellipse">
            <a:avLst/>
          </a:prstGeom>
          <a:solidFill>
            <a:srgbClr val="E0505E"/>
          </a:solidFill>
          <a:ln w="12700">
            <a:solidFill>
              <a:srgbClr val="0A0D13"/>
            </a:solidFill>
            <a:prstDash val="solid"/>
          </a:ln>
        </p:spPr>
      </p:sp>
      <p:sp>
        <p:nvSpPr>
          <p:cNvPr id="41" name="Text 39"/>
          <p:cNvSpPr txBox="1"/>
          <p:nvPr/>
        </p:nvSpPr>
        <p:spPr>
          <a:xfrm>
            <a:off x="7415784" y="4407408"/>
            <a:ext cx="4090111" cy="292608"/>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A hunt turns the whole house red</a:t>
            </a:r>
            <a:endParaRPr lang="en-US" sz="1400" dirty="0"/>
          </a:p>
        </p:txBody>
      </p:sp>
      <p:sp>
        <p:nvSpPr>
          <p:cNvPr id="42" name="Text 40"/>
          <p:cNvSpPr txBox="1"/>
          <p:nvPr/>
        </p:nvSpPr>
        <p:spPr>
          <a:xfrm>
            <a:off x="7415784" y="4700016"/>
            <a:ext cx="4090111" cy="475488"/>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Your flashlight stops working. Sometimes the power goes out.</a:t>
            </a:r>
            <a:endParaRPr lang="en-US" sz="1150" dirty="0"/>
          </a:p>
        </p:txBody>
      </p:sp>
      <p:sp>
        <p:nvSpPr>
          <p:cNvPr id="43" name="Shape 41"/>
          <p:cNvSpPr/>
          <p:nvPr/>
        </p:nvSpPr>
        <p:spPr>
          <a:xfrm>
            <a:off x="7086600" y="5321808"/>
            <a:ext cx="182880" cy="182880"/>
          </a:xfrm>
          <a:prstGeom prst="ellipse">
            <a:avLst/>
          </a:prstGeom>
          <a:solidFill>
            <a:srgbClr val="7FA6CC"/>
          </a:solidFill>
          <a:ln w="12700">
            <a:solidFill>
              <a:srgbClr val="0A0D13"/>
            </a:solidFill>
            <a:prstDash val="solid"/>
          </a:ln>
        </p:spPr>
      </p:sp>
      <p:sp>
        <p:nvSpPr>
          <p:cNvPr id="44" name="Text 42"/>
          <p:cNvSpPr txBox="1"/>
          <p:nvPr/>
        </p:nvSpPr>
        <p:spPr>
          <a:xfrm>
            <a:off x="7415784" y="5230368"/>
            <a:ext cx="4090111" cy="292608"/>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The corridor blocks your view</a:t>
            </a:r>
            <a:endParaRPr lang="en-US" sz="1400" dirty="0"/>
          </a:p>
        </p:txBody>
      </p:sp>
      <p:sp>
        <p:nvSpPr>
          <p:cNvPr id="45" name="Text 43"/>
          <p:cNvSpPr txBox="1"/>
          <p:nvPr/>
        </p:nvSpPr>
        <p:spPr>
          <a:xfrm>
            <a:off x="7415784" y="5522976"/>
            <a:ext cx="4090111" cy="475488"/>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You rarely see the whole flat at once. You hear it before you see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11 — HOW THE CODE FITS</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11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No part of the code talks to another part directly</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So two people, or two AI sessions, can write code at the same time</a:t>
            </a:r>
            <a:endParaRPr lang="en-US" sz="1450" dirty="0"/>
          </a:p>
        </p:txBody>
      </p:sp>
      <p:sp>
        <p:nvSpPr>
          <p:cNvPr id="6" name="Shape 4"/>
          <p:cNvSpPr/>
          <p:nvPr/>
        </p:nvSpPr>
        <p:spPr>
          <a:xfrm>
            <a:off x="4160520" y="3200400"/>
            <a:ext cx="3858768" cy="987552"/>
          </a:xfrm>
          <a:prstGeom prst="roundRect">
            <a:avLst>
              <a:gd name="adj" fmla="val 5556"/>
            </a:avLst>
          </a:prstGeom>
          <a:solidFill>
            <a:srgbClr val="222C3E"/>
          </a:solidFill>
          <a:ln w="9525">
            <a:solidFill>
              <a:srgbClr val="222C3E"/>
            </a:solidFill>
            <a:prstDash val="solid"/>
          </a:ln>
        </p:spPr>
      </p:sp>
      <p:sp>
        <p:nvSpPr>
          <p:cNvPr id="7" name="Text 5"/>
          <p:cNvSpPr txBox="1"/>
          <p:nvPr/>
        </p:nvSpPr>
        <p:spPr>
          <a:xfrm>
            <a:off x="4160520" y="3310128"/>
            <a:ext cx="3858768" cy="384048"/>
          </a:xfrm>
          <a:prstGeom prst="rect">
            <a:avLst/>
          </a:prstGeom>
          <a:noFill/>
          <a:ln/>
        </p:spPr>
        <p:txBody>
          <a:bodyPr wrap="square" lIns="0" tIns="0" rIns="0" bIns="0" rtlCol="0" anchor="ctr"/>
          <a:lstStyle/>
          <a:p>
            <a:pPr algn="ctr" indent="0" marL="0">
              <a:buNone/>
            </a:pPr>
            <a:r>
              <a:rPr lang="en-US" sz="1900" b="1" dirty="0">
                <a:solidFill>
                  <a:srgbClr val="A9C6E4"/>
                </a:solidFill>
                <a:latin typeface="Courier New" pitchFamily="34" charset="0"/>
                <a:ea typeface="Courier New" pitchFamily="34" charset="-122"/>
                <a:cs typeface="Courier New" pitchFamily="34" charset="-120"/>
              </a:rPr>
              <a:t>Core.GameEvents</a:t>
            </a:r>
            <a:endParaRPr lang="en-US" sz="1900" dirty="0"/>
          </a:p>
        </p:txBody>
      </p:sp>
      <p:sp>
        <p:nvSpPr>
          <p:cNvPr id="8" name="Text 6"/>
          <p:cNvSpPr txBox="1"/>
          <p:nvPr/>
        </p:nvSpPr>
        <p:spPr>
          <a:xfrm>
            <a:off x="4160520" y="3712464"/>
            <a:ext cx="3858768" cy="310896"/>
          </a:xfrm>
          <a:prstGeom prst="rect">
            <a:avLst/>
          </a:prstGeom>
          <a:noFill/>
          <a:ln/>
        </p:spPr>
        <p:txBody>
          <a:bodyPr wrap="square" lIns="0" tIns="0" rIns="0" bIns="0" rtlCol="0" anchor="ctr"/>
          <a:lstStyle/>
          <a:p>
            <a:pPr algn="ctr" indent="0" marL="0">
              <a:buNone/>
            </a:pPr>
            <a:r>
              <a:rPr lang="en-US" sz="1250" dirty="0">
                <a:solidFill>
                  <a:srgbClr val="8D9AAD"/>
                </a:solidFill>
                <a:latin typeface="Calibri" pitchFamily="34" charset="0"/>
                <a:ea typeface="Calibri" pitchFamily="34" charset="-122"/>
                <a:cs typeface="Calibri" pitchFamily="34" charset="-120"/>
              </a:rPr>
              <a:t>a message board · 23 messages</a:t>
            </a:r>
            <a:endParaRPr lang="en-US" sz="1250" dirty="0"/>
          </a:p>
        </p:txBody>
      </p:sp>
      <p:sp>
        <p:nvSpPr>
          <p:cNvPr id="9" name="Shape 7"/>
          <p:cNvSpPr/>
          <p:nvPr/>
        </p:nvSpPr>
        <p:spPr>
          <a:xfrm>
            <a:off x="714604" y="1975104"/>
            <a:ext cx="1572768" cy="786384"/>
          </a:xfrm>
          <a:prstGeom prst="roundRect">
            <a:avLst>
              <a:gd name="adj" fmla="val 6977"/>
            </a:avLst>
          </a:prstGeom>
          <a:solidFill>
            <a:srgbClr val="161D2A"/>
          </a:solidFill>
          <a:ln w="9525">
            <a:solidFill>
              <a:srgbClr val="222C3E"/>
            </a:solidFill>
            <a:prstDash val="solid"/>
          </a:ln>
        </p:spPr>
      </p:sp>
      <p:sp>
        <p:nvSpPr>
          <p:cNvPr id="10" name="Text 8"/>
          <p:cNvSpPr txBox="1"/>
          <p:nvPr/>
        </p:nvSpPr>
        <p:spPr>
          <a:xfrm>
            <a:off x="714604" y="1975104"/>
            <a:ext cx="1572768" cy="786384"/>
          </a:xfrm>
          <a:prstGeom prst="rect">
            <a:avLst/>
          </a:prstGeom>
          <a:noFill/>
          <a:ln/>
        </p:spPr>
        <p:txBody>
          <a:bodyPr wrap="square" lIns="0" tIns="0" rIns="0" bIns="0" rtlCol="0" anchor="ctr"/>
          <a:lstStyle/>
          <a:p>
            <a:pPr algn="ctr" indent="0" marL="0">
              <a:buNone/>
            </a:pPr>
            <a:r>
              <a:rPr lang="en-US" sz="1350" dirty="0">
                <a:solidFill>
                  <a:srgbClr val="E9EDF3"/>
                </a:solidFill>
                <a:latin typeface="Courier New" pitchFamily="34" charset="0"/>
                <a:ea typeface="Courier New" pitchFamily="34" charset="-122"/>
                <a:cs typeface="Courier New" pitchFamily="34" charset="-120"/>
              </a:rPr>
              <a:t>Player</a:t>
            </a:r>
            <a:endParaRPr lang="en-US" sz="1350" dirty="0"/>
          </a:p>
        </p:txBody>
      </p:sp>
      <p:sp>
        <p:nvSpPr>
          <p:cNvPr id="11" name="Shape 9"/>
          <p:cNvSpPr/>
          <p:nvPr/>
        </p:nvSpPr>
        <p:spPr>
          <a:xfrm>
            <a:off x="1500988" y="2761488"/>
            <a:ext cx="0" cy="438912"/>
          </a:xfrm>
          <a:prstGeom prst="line">
            <a:avLst/>
          </a:prstGeom>
          <a:noFill/>
          <a:ln w="15875">
            <a:solidFill>
              <a:srgbClr val="222C3E"/>
            </a:solidFill>
            <a:prstDash val="solid"/>
          </a:ln>
        </p:spPr>
      </p:sp>
      <p:sp>
        <p:nvSpPr>
          <p:cNvPr id="12" name="Shape 10"/>
          <p:cNvSpPr/>
          <p:nvPr/>
        </p:nvSpPr>
        <p:spPr>
          <a:xfrm>
            <a:off x="2552548" y="1975104"/>
            <a:ext cx="1572768" cy="786384"/>
          </a:xfrm>
          <a:prstGeom prst="roundRect">
            <a:avLst>
              <a:gd name="adj" fmla="val 6977"/>
            </a:avLst>
          </a:prstGeom>
          <a:solidFill>
            <a:srgbClr val="161D2A"/>
          </a:solidFill>
          <a:ln w="9525">
            <a:solidFill>
              <a:srgbClr val="222C3E"/>
            </a:solidFill>
            <a:prstDash val="solid"/>
          </a:ln>
        </p:spPr>
      </p:sp>
      <p:sp>
        <p:nvSpPr>
          <p:cNvPr id="13" name="Text 11"/>
          <p:cNvSpPr txBox="1"/>
          <p:nvPr/>
        </p:nvSpPr>
        <p:spPr>
          <a:xfrm>
            <a:off x="2552548" y="1975104"/>
            <a:ext cx="1572768" cy="786384"/>
          </a:xfrm>
          <a:prstGeom prst="rect">
            <a:avLst/>
          </a:prstGeom>
          <a:noFill/>
          <a:ln/>
        </p:spPr>
        <p:txBody>
          <a:bodyPr wrap="square" lIns="0" tIns="0" rIns="0" bIns="0" rtlCol="0" anchor="ctr"/>
          <a:lstStyle/>
          <a:p>
            <a:pPr algn="ctr" indent="0" marL="0">
              <a:buNone/>
            </a:pPr>
            <a:r>
              <a:rPr lang="en-US" sz="1350" dirty="0">
                <a:solidFill>
                  <a:srgbClr val="E9EDF3"/>
                </a:solidFill>
                <a:latin typeface="Courier New" pitchFamily="34" charset="0"/>
                <a:ea typeface="Courier New" pitchFamily="34" charset="-122"/>
                <a:cs typeface="Courier New" pitchFamily="34" charset="-120"/>
              </a:rPr>
              <a:t>Ghost</a:t>
            </a:r>
            <a:endParaRPr lang="en-US" sz="1350" dirty="0"/>
          </a:p>
        </p:txBody>
      </p:sp>
      <p:sp>
        <p:nvSpPr>
          <p:cNvPr id="14" name="Shape 12"/>
          <p:cNvSpPr/>
          <p:nvPr/>
        </p:nvSpPr>
        <p:spPr>
          <a:xfrm>
            <a:off x="3338932" y="2761488"/>
            <a:ext cx="0" cy="438912"/>
          </a:xfrm>
          <a:prstGeom prst="line">
            <a:avLst/>
          </a:prstGeom>
          <a:noFill/>
          <a:ln w="15875">
            <a:solidFill>
              <a:srgbClr val="222C3E"/>
            </a:solidFill>
            <a:prstDash val="solid"/>
          </a:ln>
        </p:spPr>
      </p:sp>
      <p:sp>
        <p:nvSpPr>
          <p:cNvPr id="15" name="Shape 13"/>
          <p:cNvSpPr/>
          <p:nvPr/>
        </p:nvSpPr>
        <p:spPr>
          <a:xfrm>
            <a:off x="4390492" y="1975104"/>
            <a:ext cx="1572768" cy="786384"/>
          </a:xfrm>
          <a:prstGeom prst="roundRect">
            <a:avLst>
              <a:gd name="adj" fmla="val 6977"/>
            </a:avLst>
          </a:prstGeom>
          <a:solidFill>
            <a:srgbClr val="161D2A"/>
          </a:solidFill>
          <a:ln w="9525">
            <a:solidFill>
              <a:srgbClr val="222C3E"/>
            </a:solidFill>
            <a:prstDash val="solid"/>
          </a:ln>
        </p:spPr>
      </p:sp>
      <p:sp>
        <p:nvSpPr>
          <p:cNvPr id="16" name="Text 14"/>
          <p:cNvSpPr txBox="1"/>
          <p:nvPr/>
        </p:nvSpPr>
        <p:spPr>
          <a:xfrm>
            <a:off x="4390492" y="1975104"/>
            <a:ext cx="1572768" cy="786384"/>
          </a:xfrm>
          <a:prstGeom prst="rect">
            <a:avLst/>
          </a:prstGeom>
          <a:noFill/>
          <a:ln/>
        </p:spPr>
        <p:txBody>
          <a:bodyPr wrap="square" lIns="0" tIns="0" rIns="0" bIns="0" rtlCol="0" anchor="ctr"/>
          <a:lstStyle/>
          <a:p>
            <a:pPr algn="ctr" indent="0" marL="0">
              <a:buNone/>
            </a:pPr>
            <a:r>
              <a:rPr lang="en-US" sz="1350" dirty="0">
                <a:solidFill>
                  <a:srgbClr val="E9EDF3"/>
                </a:solidFill>
                <a:latin typeface="Courier New" pitchFamily="34" charset="0"/>
                <a:ea typeface="Courier New" pitchFamily="34" charset="-122"/>
                <a:cs typeface="Courier New" pitchFamily="34" charset="-120"/>
              </a:rPr>
              <a:t>Evidence</a:t>
            </a:r>
            <a:endParaRPr lang="en-US" sz="1350" dirty="0"/>
          </a:p>
        </p:txBody>
      </p:sp>
      <p:sp>
        <p:nvSpPr>
          <p:cNvPr id="17" name="Shape 15"/>
          <p:cNvSpPr/>
          <p:nvPr/>
        </p:nvSpPr>
        <p:spPr>
          <a:xfrm>
            <a:off x="5176876" y="2761488"/>
            <a:ext cx="0" cy="438912"/>
          </a:xfrm>
          <a:prstGeom prst="line">
            <a:avLst/>
          </a:prstGeom>
          <a:noFill/>
          <a:ln w="15875">
            <a:solidFill>
              <a:srgbClr val="222C3E"/>
            </a:solidFill>
            <a:prstDash val="solid"/>
          </a:ln>
        </p:spPr>
      </p:sp>
      <p:sp>
        <p:nvSpPr>
          <p:cNvPr id="18" name="Shape 16"/>
          <p:cNvSpPr/>
          <p:nvPr/>
        </p:nvSpPr>
        <p:spPr>
          <a:xfrm>
            <a:off x="6228436" y="1975104"/>
            <a:ext cx="1572768" cy="786384"/>
          </a:xfrm>
          <a:prstGeom prst="roundRect">
            <a:avLst>
              <a:gd name="adj" fmla="val 6977"/>
            </a:avLst>
          </a:prstGeom>
          <a:solidFill>
            <a:srgbClr val="161D2A"/>
          </a:solidFill>
          <a:ln w="9525">
            <a:solidFill>
              <a:srgbClr val="222C3E"/>
            </a:solidFill>
            <a:prstDash val="solid"/>
          </a:ln>
        </p:spPr>
      </p:sp>
      <p:sp>
        <p:nvSpPr>
          <p:cNvPr id="19" name="Text 17"/>
          <p:cNvSpPr txBox="1"/>
          <p:nvPr/>
        </p:nvSpPr>
        <p:spPr>
          <a:xfrm>
            <a:off x="6228436" y="1975104"/>
            <a:ext cx="1572768" cy="786384"/>
          </a:xfrm>
          <a:prstGeom prst="rect">
            <a:avLst/>
          </a:prstGeom>
          <a:noFill/>
          <a:ln/>
        </p:spPr>
        <p:txBody>
          <a:bodyPr wrap="square" lIns="0" tIns="0" rIns="0" bIns="0" rtlCol="0" anchor="ctr"/>
          <a:lstStyle/>
          <a:p>
            <a:pPr algn="ctr" indent="0" marL="0">
              <a:buNone/>
            </a:pPr>
            <a:r>
              <a:rPr lang="en-US" sz="1350" dirty="0">
                <a:solidFill>
                  <a:srgbClr val="E9EDF3"/>
                </a:solidFill>
                <a:latin typeface="Courier New" pitchFamily="34" charset="0"/>
                <a:ea typeface="Courier New" pitchFamily="34" charset="-122"/>
                <a:cs typeface="Courier New" pitchFamily="34" charset="-120"/>
              </a:rPr>
              <a:t>Items</a:t>
            </a:r>
            <a:endParaRPr lang="en-US" sz="1350" dirty="0"/>
          </a:p>
        </p:txBody>
      </p:sp>
      <p:sp>
        <p:nvSpPr>
          <p:cNvPr id="20" name="Shape 18"/>
          <p:cNvSpPr/>
          <p:nvPr/>
        </p:nvSpPr>
        <p:spPr>
          <a:xfrm>
            <a:off x="7014820" y="2761488"/>
            <a:ext cx="0" cy="438912"/>
          </a:xfrm>
          <a:prstGeom prst="line">
            <a:avLst/>
          </a:prstGeom>
          <a:noFill/>
          <a:ln w="15875">
            <a:solidFill>
              <a:srgbClr val="222C3E"/>
            </a:solidFill>
            <a:prstDash val="solid"/>
          </a:ln>
        </p:spPr>
      </p:sp>
      <p:sp>
        <p:nvSpPr>
          <p:cNvPr id="21" name="Shape 19"/>
          <p:cNvSpPr/>
          <p:nvPr/>
        </p:nvSpPr>
        <p:spPr>
          <a:xfrm>
            <a:off x="8066380" y="1975104"/>
            <a:ext cx="1572768" cy="786384"/>
          </a:xfrm>
          <a:prstGeom prst="roundRect">
            <a:avLst>
              <a:gd name="adj" fmla="val 6977"/>
            </a:avLst>
          </a:prstGeom>
          <a:solidFill>
            <a:srgbClr val="161D2A"/>
          </a:solidFill>
          <a:ln w="9525">
            <a:solidFill>
              <a:srgbClr val="222C3E"/>
            </a:solidFill>
            <a:prstDash val="solid"/>
          </a:ln>
        </p:spPr>
      </p:sp>
      <p:sp>
        <p:nvSpPr>
          <p:cNvPr id="22" name="Text 20"/>
          <p:cNvSpPr txBox="1"/>
          <p:nvPr/>
        </p:nvSpPr>
        <p:spPr>
          <a:xfrm>
            <a:off x="8066380" y="1975104"/>
            <a:ext cx="1572768" cy="786384"/>
          </a:xfrm>
          <a:prstGeom prst="rect">
            <a:avLst/>
          </a:prstGeom>
          <a:noFill/>
          <a:ln/>
        </p:spPr>
        <p:txBody>
          <a:bodyPr wrap="square" lIns="0" tIns="0" rIns="0" bIns="0" rtlCol="0" anchor="ctr"/>
          <a:lstStyle/>
          <a:p>
            <a:pPr algn="ctr" indent="0" marL="0">
              <a:buNone/>
            </a:pPr>
            <a:r>
              <a:rPr lang="en-US" sz="1350" dirty="0">
                <a:solidFill>
                  <a:srgbClr val="E9EDF3"/>
                </a:solidFill>
                <a:latin typeface="Courier New" pitchFamily="34" charset="0"/>
                <a:ea typeface="Courier New" pitchFamily="34" charset="-122"/>
                <a:cs typeface="Courier New" pitchFamily="34" charset="-120"/>
              </a:rPr>
              <a:t>World</a:t>
            </a:r>
            <a:endParaRPr lang="en-US" sz="1350" dirty="0"/>
          </a:p>
        </p:txBody>
      </p:sp>
      <p:sp>
        <p:nvSpPr>
          <p:cNvPr id="23" name="Shape 21"/>
          <p:cNvSpPr/>
          <p:nvPr/>
        </p:nvSpPr>
        <p:spPr>
          <a:xfrm>
            <a:off x="8852764" y="2761488"/>
            <a:ext cx="0" cy="438912"/>
          </a:xfrm>
          <a:prstGeom prst="line">
            <a:avLst/>
          </a:prstGeom>
          <a:noFill/>
          <a:ln w="15875">
            <a:solidFill>
              <a:srgbClr val="222C3E"/>
            </a:solidFill>
            <a:prstDash val="solid"/>
          </a:ln>
        </p:spPr>
      </p:sp>
      <p:sp>
        <p:nvSpPr>
          <p:cNvPr id="24" name="Shape 22"/>
          <p:cNvSpPr/>
          <p:nvPr/>
        </p:nvSpPr>
        <p:spPr>
          <a:xfrm>
            <a:off x="9904324" y="1975104"/>
            <a:ext cx="1572768" cy="786384"/>
          </a:xfrm>
          <a:prstGeom prst="roundRect">
            <a:avLst>
              <a:gd name="adj" fmla="val 6977"/>
            </a:avLst>
          </a:prstGeom>
          <a:solidFill>
            <a:srgbClr val="161D2A"/>
          </a:solidFill>
          <a:ln w="9525">
            <a:solidFill>
              <a:srgbClr val="222C3E"/>
            </a:solidFill>
            <a:prstDash val="solid"/>
          </a:ln>
        </p:spPr>
      </p:sp>
      <p:sp>
        <p:nvSpPr>
          <p:cNvPr id="25" name="Text 23"/>
          <p:cNvSpPr txBox="1"/>
          <p:nvPr/>
        </p:nvSpPr>
        <p:spPr>
          <a:xfrm>
            <a:off x="9904324" y="1975104"/>
            <a:ext cx="1572768" cy="786384"/>
          </a:xfrm>
          <a:prstGeom prst="rect">
            <a:avLst/>
          </a:prstGeom>
          <a:noFill/>
          <a:ln/>
        </p:spPr>
        <p:txBody>
          <a:bodyPr wrap="square" lIns="0" tIns="0" rIns="0" bIns="0" rtlCol="0" anchor="ctr"/>
          <a:lstStyle/>
          <a:p>
            <a:pPr algn="ctr" indent="0" marL="0">
              <a:buNone/>
            </a:pPr>
            <a:r>
              <a:rPr lang="en-US" sz="1350" dirty="0">
                <a:solidFill>
                  <a:srgbClr val="E9EDF3"/>
                </a:solidFill>
                <a:latin typeface="Courier New" pitchFamily="34" charset="0"/>
                <a:ea typeface="Courier New" pitchFamily="34" charset="-122"/>
                <a:cs typeface="Courier New" pitchFamily="34" charset="-120"/>
              </a:rPr>
              <a:t>UI</a:t>
            </a:r>
            <a:endParaRPr lang="en-US" sz="1350" dirty="0"/>
          </a:p>
        </p:txBody>
      </p:sp>
      <p:sp>
        <p:nvSpPr>
          <p:cNvPr id="26" name="Shape 24"/>
          <p:cNvSpPr/>
          <p:nvPr/>
        </p:nvSpPr>
        <p:spPr>
          <a:xfrm>
            <a:off x="10690708" y="2761488"/>
            <a:ext cx="0" cy="438912"/>
          </a:xfrm>
          <a:prstGeom prst="line">
            <a:avLst/>
          </a:prstGeom>
          <a:noFill/>
          <a:ln w="15875">
            <a:solidFill>
              <a:srgbClr val="222C3E"/>
            </a:solidFill>
            <a:prstDash val="solid"/>
          </a:ln>
        </p:spPr>
      </p:sp>
      <p:sp>
        <p:nvSpPr>
          <p:cNvPr id="27" name="Shape 25"/>
          <p:cNvSpPr/>
          <p:nvPr/>
        </p:nvSpPr>
        <p:spPr>
          <a:xfrm>
            <a:off x="1500988" y="3200400"/>
            <a:ext cx="9189720" cy="0"/>
          </a:xfrm>
          <a:prstGeom prst="line">
            <a:avLst/>
          </a:prstGeom>
          <a:noFill/>
          <a:ln w="15875">
            <a:solidFill>
              <a:srgbClr val="222C3E"/>
            </a:solidFill>
            <a:prstDash val="solid"/>
          </a:ln>
        </p:spPr>
      </p:sp>
      <p:sp>
        <p:nvSpPr>
          <p:cNvPr id="28" name="Text 26"/>
          <p:cNvSpPr txBox="1"/>
          <p:nvPr/>
        </p:nvSpPr>
        <p:spPr>
          <a:xfrm>
            <a:off x="685800" y="4517136"/>
            <a:ext cx="3423818" cy="274320"/>
          </a:xfrm>
          <a:prstGeom prst="rect">
            <a:avLst/>
          </a:prstGeom>
          <a:noFill/>
          <a:ln/>
        </p:spPr>
        <p:txBody>
          <a:bodyPr wrap="square" lIns="0" tIns="0" rIns="0" bIns="0" rtlCol="0" anchor="ctr"/>
          <a:lstStyle/>
          <a:p>
            <a:pPr indent="0" marL="0">
              <a:buNone/>
            </a:pPr>
            <a:r>
              <a:rPr lang="en-US" sz="1350" b="1" dirty="0">
                <a:solidFill>
                  <a:srgbClr val="A9C6E4"/>
                </a:solidFill>
                <a:latin typeface="Calibri" pitchFamily="34" charset="0"/>
                <a:ea typeface="Calibri" pitchFamily="34" charset="-122"/>
                <a:cs typeface="Calibri" pitchFamily="34" charset="-120"/>
              </a:rPr>
              <a:t>01   Everything goes through the board</a:t>
            </a:r>
            <a:endParaRPr lang="en-US" sz="1350" dirty="0"/>
          </a:p>
        </p:txBody>
      </p:sp>
      <p:sp>
        <p:nvSpPr>
          <p:cNvPr id="29" name="Text 27"/>
          <p:cNvSpPr txBox="1"/>
          <p:nvPr/>
        </p:nvSpPr>
        <p:spPr>
          <a:xfrm>
            <a:off x="1088136" y="4791456"/>
            <a:ext cx="3021482" cy="420624"/>
          </a:xfrm>
          <a:prstGeom prst="rect">
            <a:avLst/>
          </a:prstGeom>
          <a:noFill/>
          <a:ln/>
        </p:spPr>
        <p:txBody>
          <a:bodyPr wrap="square" lIns="0" tIns="0" rIns="0" bIns="0" rtlCol="0" anchor="ctr"/>
          <a:lstStyle/>
          <a:p>
            <a:pPr indent="0" marL="0">
              <a:buNone/>
            </a:pPr>
            <a:r>
              <a:rPr lang="en-US" sz="1100" dirty="0">
                <a:solidFill>
                  <a:srgbClr val="8D9AAD"/>
                </a:solidFill>
                <a:latin typeface="Calibri" pitchFamily="34" charset="0"/>
                <a:ea typeface="Calibri" pitchFamily="34" charset="-122"/>
                <a:cs typeface="Calibri" pitchFamily="34" charset="-120"/>
              </a:rPr>
              <a:t>One part of the code may not import another part</a:t>
            </a:r>
            <a:endParaRPr lang="en-US" sz="1100" dirty="0"/>
          </a:p>
        </p:txBody>
      </p:sp>
      <p:sp>
        <p:nvSpPr>
          <p:cNvPr id="30" name="Text 28"/>
          <p:cNvSpPr txBox="1"/>
          <p:nvPr/>
        </p:nvSpPr>
        <p:spPr>
          <a:xfrm>
            <a:off x="4383938" y="4517136"/>
            <a:ext cx="3423818" cy="274320"/>
          </a:xfrm>
          <a:prstGeom prst="rect">
            <a:avLst/>
          </a:prstGeom>
          <a:noFill/>
          <a:ln/>
        </p:spPr>
        <p:txBody>
          <a:bodyPr wrap="square" lIns="0" tIns="0" rIns="0" bIns="0" rtlCol="0" anchor="ctr"/>
          <a:lstStyle/>
          <a:p>
            <a:pPr indent="0" marL="0">
              <a:buNone/>
            </a:pPr>
            <a:r>
              <a:rPr lang="en-US" sz="1350" b="1" dirty="0">
                <a:solidFill>
                  <a:srgbClr val="A9C6E4"/>
                </a:solidFill>
                <a:latin typeface="Calibri" pitchFamily="34" charset="0"/>
                <a:ea typeface="Calibri" pitchFamily="34" charset="-122"/>
                <a:cs typeface="Calibri" pitchFamily="34" charset="-120"/>
              </a:rPr>
              <a:t>02   Four interfaces agreed first</a:t>
            </a:r>
            <a:endParaRPr lang="en-US" sz="1350" dirty="0"/>
          </a:p>
        </p:txBody>
      </p:sp>
      <p:sp>
        <p:nvSpPr>
          <p:cNvPr id="31" name="Text 29"/>
          <p:cNvSpPr txBox="1"/>
          <p:nvPr/>
        </p:nvSpPr>
        <p:spPr>
          <a:xfrm>
            <a:off x="4786274" y="4791456"/>
            <a:ext cx="3021482" cy="420624"/>
          </a:xfrm>
          <a:prstGeom prst="rect">
            <a:avLst/>
          </a:prstGeom>
          <a:noFill/>
          <a:ln/>
        </p:spPr>
        <p:txBody>
          <a:bodyPr wrap="square" lIns="0" tIns="0" rIns="0" bIns="0" rtlCol="0" anchor="ctr"/>
          <a:lstStyle/>
          <a:p>
            <a:pPr indent="0" marL="0">
              <a:buNone/>
            </a:pPr>
            <a:r>
              <a:rPr lang="en-US" sz="1100" dirty="0">
                <a:solidFill>
                  <a:srgbClr val="8D9AAD"/>
                </a:solidFill>
                <a:latin typeface="Calibri" pitchFamily="34" charset="0"/>
                <a:ea typeface="Calibri" pitchFamily="34" charset="-122"/>
                <a:cs typeface="Calibri" pitchFamily="34" charset="-120"/>
              </a:rPr>
              <a:t>IInteractable · IHoldable · IEvidenceSource · GhostDefinition</a:t>
            </a:r>
            <a:endParaRPr lang="en-US" sz="1100" dirty="0"/>
          </a:p>
        </p:txBody>
      </p:sp>
      <p:sp>
        <p:nvSpPr>
          <p:cNvPr id="32" name="Text 30"/>
          <p:cNvSpPr txBox="1"/>
          <p:nvPr/>
        </p:nvSpPr>
        <p:spPr>
          <a:xfrm>
            <a:off x="8082077" y="4517136"/>
            <a:ext cx="3423818" cy="274320"/>
          </a:xfrm>
          <a:prstGeom prst="rect">
            <a:avLst/>
          </a:prstGeom>
          <a:noFill/>
          <a:ln/>
        </p:spPr>
        <p:txBody>
          <a:bodyPr wrap="square" lIns="0" tIns="0" rIns="0" bIns="0" rtlCol="0" anchor="ctr"/>
          <a:lstStyle/>
          <a:p>
            <a:pPr indent="0" marL="0">
              <a:buNone/>
            </a:pPr>
            <a:r>
              <a:rPr lang="en-US" sz="1350" b="1" dirty="0">
                <a:solidFill>
                  <a:srgbClr val="A9C6E4"/>
                </a:solidFill>
                <a:latin typeface="Calibri" pitchFamily="34" charset="0"/>
                <a:ea typeface="Calibri" pitchFamily="34" charset="-122"/>
                <a:cs typeface="Calibri" pitchFamily="34" charset="-120"/>
              </a:rPr>
              <a:t>03   Only one person edits the rules</a:t>
            </a:r>
            <a:endParaRPr lang="en-US" sz="1350" dirty="0"/>
          </a:p>
        </p:txBody>
      </p:sp>
      <p:sp>
        <p:nvSpPr>
          <p:cNvPr id="33" name="Text 31"/>
          <p:cNvSpPr txBox="1"/>
          <p:nvPr/>
        </p:nvSpPr>
        <p:spPr>
          <a:xfrm>
            <a:off x="8484413" y="4791456"/>
            <a:ext cx="3021482" cy="420624"/>
          </a:xfrm>
          <a:prstGeom prst="rect">
            <a:avLst/>
          </a:prstGeom>
          <a:noFill/>
          <a:ln/>
        </p:spPr>
        <p:txBody>
          <a:bodyPr wrap="square" lIns="0" tIns="0" rIns="0" bIns="0" rtlCol="0" anchor="ctr"/>
          <a:lstStyle/>
          <a:p>
            <a:pPr indent="0" marL="0">
              <a:buNone/>
            </a:pPr>
            <a:r>
              <a:rPr lang="en-US" sz="1100" dirty="0">
                <a:solidFill>
                  <a:srgbClr val="8D9AAD"/>
                </a:solidFill>
                <a:latin typeface="Calibri" pitchFamily="34" charset="0"/>
                <a:ea typeface="Calibri" pitchFamily="34" charset="-122"/>
                <a:cs typeface="Calibri" pitchFamily="34" charset="-120"/>
              </a:rPr>
              <a:t>7 files. The AI is not allowed to open them</a:t>
            </a:r>
            <a:endParaRPr lang="en-US" sz="1100" dirty="0"/>
          </a:p>
        </p:txBody>
      </p:sp>
      <p:sp>
        <p:nvSpPr>
          <p:cNvPr id="34" name="Text 32"/>
          <p:cNvSpPr txBox="1"/>
          <p:nvPr/>
        </p:nvSpPr>
        <p:spPr>
          <a:xfrm>
            <a:off x="685800" y="5340096"/>
            <a:ext cx="3423818" cy="274320"/>
          </a:xfrm>
          <a:prstGeom prst="rect">
            <a:avLst/>
          </a:prstGeom>
          <a:noFill/>
          <a:ln/>
        </p:spPr>
        <p:txBody>
          <a:bodyPr wrap="square" lIns="0" tIns="0" rIns="0" bIns="0" rtlCol="0" anchor="ctr"/>
          <a:lstStyle/>
          <a:p>
            <a:pPr indent="0" marL="0">
              <a:buNone/>
            </a:pPr>
            <a:r>
              <a:rPr lang="en-US" sz="1350" b="1" dirty="0">
                <a:solidFill>
                  <a:srgbClr val="A9C6E4"/>
                </a:solidFill>
                <a:latin typeface="Calibri" pitchFamily="34" charset="0"/>
                <a:ea typeface="Calibri" pitchFamily="34" charset="-122"/>
                <a:cs typeface="Calibri" pitchFamily="34" charset="-120"/>
              </a:rPr>
              <a:t>04   Numbers live in the Inspector</a:t>
            </a:r>
            <a:endParaRPr lang="en-US" sz="1350" dirty="0"/>
          </a:p>
        </p:txBody>
      </p:sp>
      <p:sp>
        <p:nvSpPr>
          <p:cNvPr id="35" name="Text 33"/>
          <p:cNvSpPr txBox="1"/>
          <p:nvPr/>
        </p:nvSpPr>
        <p:spPr>
          <a:xfrm>
            <a:off x="1088136" y="5614416"/>
            <a:ext cx="3021482" cy="420624"/>
          </a:xfrm>
          <a:prstGeom prst="rect">
            <a:avLst/>
          </a:prstGeom>
          <a:noFill/>
          <a:ln/>
        </p:spPr>
        <p:txBody>
          <a:bodyPr wrap="square" lIns="0" tIns="0" rIns="0" bIns="0" rtlCol="0" anchor="ctr"/>
          <a:lstStyle/>
          <a:p>
            <a:pPr indent="0" marL="0">
              <a:buNone/>
            </a:pPr>
            <a:r>
              <a:rPr lang="en-US" sz="1100" dirty="0">
                <a:solidFill>
                  <a:srgbClr val="8D9AAD"/>
                </a:solidFill>
                <a:latin typeface="Calibri" pitchFamily="34" charset="0"/>
                <a:ea typeface="Calibri" pitchFamily="34" charset="-122"/>
                <a:cs typeface="Calibri" pitchFamily="34" charset="-120"/>
              </a:rPr>
              <a:t>We tune the game without touching any code</a:t>
            </a:r>
            <a:endParaRPr lang="en-US" sz="1100" dirty="0"/>
          </a:p>
        </p:txBody>
      </p:sp>
      <p:sp>
        <p:nvSpPr>
          <p:cNvPr id="36" name="Text 34"/>
          <p:cNvSpPr txBox="1"/>
          <p:nvPr/>
        </p:nvSpPr>
        <p:spPr>
          <a:xfrm>
            <a:off x="4383938" y="5340096"/>
            <a:ext cx="3423818" cy="274320"/>
          </a:xfrm>
          <a:prstGeom prst="rect">
            <a:avLst/>
          </a:prstGeom>
          <a:noFill/>
          <a:ln/>
        </p:spPr>
        <p:txBody>
          <a:bodyPr wrap="square" lIns="0" tIns="0" rIns="0" bIns="0" rtlCol="0" anchor="ctr"/>
          <a:lstStyle/>
          <a:p>
            <a:pPr indent="0" marL="0">
              <a:buNone/>
            </a:pPr>
            <a:r>
              <a:rPr lang="en-US" sz="1350" b="1" dirty="0">
                <a:solidFill>
                  <a:srgbClr val="A9C6E4"/>
                </a:solidFill>
                <a:latin typeface="Calibri" pitchFamily="34" charset="0"/>
                <a:ea typeface="Calibri" pitchFamily="34" charset="-122"/>
                <a:cs typeface="Calibri" pitchFamily="34" charset="-120"/>
              </a:rPr>
              <a:t>05   Ghosts are data, not code</a:t>
            </a:r>
            <a:endParaRPr lang="en-US" sz="1350" dirty="0"/>
          </a:p>
        </p:txBody>
      </p:sp>
      <p:sp>
        <p:nvSpPr>
          <p:cNvPr id="37" name="Text 35"/>
          <p:cNvSpPr txBox="1"/>
          <p:nvPr/>
        </p:nvSpPr>
        <p:spPr>
          <a:xfrm>
            <a:off x="4786274" y="5614416"/>
            <a:ext cx="3021482" cy="420624"/>
          </a:xfrm>
          <a:prstGeom prst="rect">
            <a:avLst/>
          </a:prstGeom>
          <a:noFill/>
          <a:ln/>
        </p:spPr>
        <p:txBody>
          <a:bodyPr wrap="square" lIns="0" tIns="0" rIns="0" bIns="0" rtlCol="0" anchor="ctr"/>
          <a:lstStyle/>
          <a:p>
            <a:pPr indent="0" marL="0">
              <a:buNone/>
            </a:pPr>
            <a:r>
              <a:rPr lang="en-US" sz="1100" dirty="0">
                <a:solidFill>
                  <a:srgbClr val="8D9AAD"/>
                </a:solidFill>
                <a:latin typeface="Calibri" pitchFamily="34" charset="0"/>
                <a:ea typeface="Calibri" pitchFamily="34" charset="-122"/>
                <a:cs typeface="Calibri" pitchFamily="34" charset="-120"/>
              </a:rPr>
              <a:t>Their differences live in data files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12 — PIPELINE</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12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How we actually wrote the code</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 We built this tool, and we can use it again</a:t>
            </a:r>
            <a:endParaRPr lang="en-US" sz="1450" dirty="0"/>
          </a:p>
        </p:txBody>
      </p:sp>
      <p:sp>
        <p:nvSpPr>
          <p:cNvPr id="6" name="Shape 4"/>
          <p:cNvSpPr/>
          <p:nvPr/>
        </p:nvSpPr>
        <p:spPr>
          <a:xfrm>
            <a:off x="685800" y="1920240"/>
            <a:ext cx="1620469" cy="2103120"/>
          </a:xfrm>
          <a:prstGeom prst="roundRect">
            <a:avLst>
              <a:gd name="adj" fmla="val 3386"/>
            </a:avLst>
          </a:prstGeom>
          <a:solidFill>
            <a:srgbClr val="161D2A"/>
          </a:solidFill>
          <a:ln w="9525">
            <a:solidFill>
              <a:srgbClr val="222C3E"/>
            </a:solidFill>
            <a:prstDash val="solid"/>
          </a:ln>
        </p:spPr>
      </p:sp>
      <p:sp>
        <p:nvSpPr>
          <p:cNvPr id="7" name="Text 5"/>
          <p:cNvSpPr txBox="1"/>
          <p:nvPr/>
        </p:nvSpPr>
        <p:spPr>
          <a:xfrm>
            <a:off x="868680" y="2048256"/>
            <a:ext cx="1254709" cy="292608"/>
          </a:xfrm>
          <a:prstGeom prst="rect">
            <a:avLst/>
          </a:prstGeom>
          <a:noFill/>
          <a:ln/>
        </p:spPr>
        <p:txBody>
          <a:bodyPr wrap="square" lIns="0" tIns="0" rIns="0" bIns="0" rtlCol="0" anchor="ctr"/>
          <a:lstStyle/>
          <a:p>
            <a:pPr indent="0" marL="0">
              <a:buNone/>
            </a:pPr>
            <a:r>
              <a:rPr lang="en-US" sz="1250" dirty="0">
                <a:solidFill>
                  <a:srgbClr val="5E6B7E"/>
                </a:solidFill>
                <a:latin typeface="Courier New" pitchFamily="34" charset="0"/>
                <a:ea typeface="Courier New" pitchFamily="34" charset="-122"/>
                <a:cs typeface="Courier New" pitchFamily="34" charset="-120"/>
              </a:rPr>
              <a:t>01</a:t>
            </a:r>
            <a:endParaRPr lang="en-US" sz="1250" dirty="0"/>
          </a:p>
        </p:txBody>
      </p:sp>
      <p:sp>
        <p:nvSpPr>
          <p:cNvPr id="8" name="Text 6"/>
          <p:cNvSpPr txBox="1"/>
          <p:nvPr/>
        </p:nvSpPr>
        <p:spPr>
          <a:xfrm>
            <a:off x="868680" y="2395728"/>
            <a:ext cx="1254709" cy="384048"/>
          </a:xfrm>
          <a:prstGeom prst="rect">
            <a:avLst/>
          </a:prstGeom>
          <a:noFill/>
          <a:ln/>
        </p:spPr>
        <p:txBody>
          <a:bodyPr wrap="square" lIns="0" tIns="0" rIns="0" bIns="0" rtlCol="0" anchor="ctr"/>
          <a:lstStyle/>
          <a:p>
            <a:pPr indent="0" marL="0">
              <a:buNone/>
            </a:pPr>
            <a:r>
              <a:rPr lang="en-US" sz="1500" b="1" dirty="0">
                <a:solidFill>
                  <a:srgbClr val="E9EDF3"/>
                </a:solidFill>
                <a:latin typeface="Cambria" pitchFamily="34" charset="0"/>
                <a:ea typeface="Cambria" pitchFamily="34" charset="-122"/>
                <a:cs typeface="Cambria" pitchFamily="34" charset="-120"/>
              </a:rPr>
              <a:t>Task spec</a:t>
            </a:r>
            <a:endParaRPr lang="en-US" sz="1500" dirty="0"/>
          </a:p>
        </p:txBody>
      </p:sp>
      <p:sp>
        <p:nvSpPr>
          <p:cNvPr id="9" name="Text 7"/>
          <p:cNvSpPr txBox="1"/>
          <p:nvPr/>
        </p:nvSpPr>
        <p:spPr>
          <a:xfrm>
            <a:off x="868680" y="2816352"/>
            <a:ext cx="1254709" cy="1170432"/>
          </a:xfrm>
          <a:prstGeom prst="rect">
            <a:avLst/>
          </a:prstGeom>
          <a:noFill/>
          <a:ln/>
        </p:spPr>
        <p:txBody>
          <a:bodyPr wrap="square" lIns="0" tIns="0" rIns="0" bIns="0" rtlCol="0" anchor="ctr"/>
          <a:lstStyle/>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A person writes</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it. Which files,</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which numbers,</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what not to do</a:t>
            </a:r>
            <a:endParaRPr lang="en-US" sz="1050" dirty="0"/>
          </a:p>
        </p:txBody>
      </p:sp>
      <p:sp>
        <p:nvSpPr>
          <p:cNvPr id="10" name="Shape 8"/>
          <p:cNvSpPr/>
          <p:nvPr/>
        </p:nvSpPr>
        <p:spPr>
          <a:xfrm>
            <a:off x="2525725" y="1920240"/>
            <a:ext cx="1620469" cy="2103120"/>
          </a:xfrm>
          <a:prstGeom prst="roundRect">
            <a:avLst>
              <a:gd name="adj" fmla="val 3386"/>
            </a:avLst>
          </a:prstGeom>
          <a:solidFill>
            <a:srgbClr val="161D2A"/>
          </a:solidFill>
          <a:ln w="9525">
            <a:solidFill>
              <a:srgbClr val="222C3E"/>
            </a:solidFill>
            <a:prstDash val="solid"/>
          </a:ln>
        </p:spPr>
      </p:sp>
      <p:sp>
        <p:nvSpPr>
          <p:cNvPr id="11" name="Text 9"/>
          <p:cNvSpPr txBox="1"/>
          <p:nvPr/>
        </p:nvSpPr>
        <p:spPr>
          <a:xfrm>
            <a:off x="2708605" y="2048256"/>
            <a:ext cx="1254709" cy="292608"/>
          </a:xfrm>
          <a:prstGeom prst="rect">
            <a:avLst/>
          </a:prstGeom>
          <a:noFill/>
          <a:ln/>
        </p:spPr>
        <p:txBody>
          <a:bodyPr wrap="square" lIns="0" tIns="0" rIns="0" bIns="0" rtlCol="0" anchor="ctr"/>
          <a:lstStyle/>
          <a:p>
            <a:pPr indent="0" marL="0">
              <a:buNone/>
            </a:pPr>
            <a:r>
              <a:rPr lang="en-US" sz="1250" dirty="0">
                <a:solidFill>
                  <a:srgbClr val="5E6B7E"/>
                </a:solidFill>
                <a:latin typeface="Courier New" pitchFamily="34" charset="0"/>
                <a:ea typeface="Courier New" pitchFamily="34" charset="-122"/>
                <a:cs typeface="Courier New" pitchFamily="34" charset="-120"/>
              </a:rPr>
              <a:t>02</a:t>
            </a:r>
            <a:endParaRPr lang="en-US" sz="1250" dirty="0"/>
          </a:p>
        </p:txBody>
      </p:sp>
      <p:sp>
        <p:nvSpPr>
          <p:cNvPr id="12" name="Text 10"/>
          <p:cNvSpPr txBox="1"/>
          <p:nvPr/>
        </p:nvSpPr>
        <p:spPr>
          <a:xfrm>
            <a:off x="2708605" y="2395728"/>
            <a:ext cx="1254709" cy="384048"/>
          </a:xfrm>
          <a:prstGeom prst="rect">
            <a:avLst/>
          </a:prstGeom>
          <a:noFill/>
          <a:ln/>
        </p:spPr>
        <p:txBody>
          <a:bodyPr wrap="square" lIns="0" tIns="0" rIns="0" bIns="0" rtlCol="0" anchor="ctr"/>
          <a:lstStyle/>
          <a:p>
            <a:pPr indent="0" marL="0">
              <a:buNone/>
            </a:pPr>
            <a:r>
              <a:rPr lang="en-US" sz="1500" b="1" dirty="0">
                <a:solidFill>
                  <a:srgbClr val="E9EDF3"/>
                </a:solidFill>
                <a:latin typeface="Cambria" pitchFamily="34" charset="0"/>
                <a:ea typeface="Cambria" pitchFamily="34" charset="-122"/>
                <a:cs typeface="Cambria" pitchFamily="34" charset="-120"/>
              </a:rPr>
              <a:t>AI writes it</a:t>
            </a:r>
            <a:endParaRPr lang="en-US" sz="1500" dirty="0"/>
          </a:p>
        </p:txBody>
      </p:sp>
      <p:sp>
        <p:nvSpPr>
          <p:cNvPr id="13" name="Text 11"/>
          <p:cNvSpPr txBox="1"/>
          <p:nvPr/>
        </p:nvSpPr>
        <p:spPr>
          <a:xfrm>
            <a:off x="2708605" y="2816352"/>
            <a:ext cx="1254709" cy="1170432"/>
          </a:xfrm>
          <a:prstGeom prst="rect">
            <a:avLst/>
          </a:prstGeom>
          <a:noFill/>
          <a:ln/>
        </p:spPr>
        <p:txBody>
          <a:bodyPr wrap="square" lIns="0" tIns="0" rIns="0" bIns="0" rtlCol="0" anchor="ctr"/>
          <a:lstStyle/>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Codex fills in</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the code. It</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cannot change</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the rules</a:t>
            </a:r>
            <a:endParaRPr lang="en-US" sz="1050" dirty="0"/>
          </a:p>
        </p:txBody>
      </p:sp>
      <p:sp>
        <p:nvSpPr>
          <p:cNvPr id="14" name="Shape 12"/>
          <p:cNvSpPr/>
          <p:nvPr/>
        </p:nvSpPr>
        <p:spPr>
          <a:xfrm>
            <a:off x="4365650" y="1920240"/>
            <a:ext cx="1620469" cy="2103120"/>
          </a:xfrm>
          <a:prstGeom prst="roundRect">
            <a:avLst>
              <a:gd name="adj" fmla="val 3386"/>
            </a:avLst>
          </a:prstGeom>
          <a:solidFill>
            <a:srgbClr val="161D2A"/>
          </a:solidFill>
          <a:ln w="9525">
            <a:solidFill>
              <a:srgbClr val="222C3E"/>
            </a:solidFill>
            <a:prstDash val="solid"/>
          </a:ln>
        </p:spPr>
      </p:sp>
      <p:sp>
        <p:nvSpPr>
          <p:cNvPr id="15" name="Text 13"/>
          <p:cNvSpPr txBox="1"/>
          <p:nvPr/>
        </p:nvSpPr>
        <p:spPr>
          <a:xfrm>
            <a:off x="4548530" y="2048256"/>
            <a:ext cx="1254709" cy="292608"/>
          </a:xfrm>
          <a:prstGeom prst="rect">
            <a:avLst/>
          </a:prstGeom>
          <a:noFill/>
          <a:ln/>
        </p:spPr>
        <p:txBody>
          <a:bodyPr wrap="square" lIns="0" tIns="0" rIns="0" bIns="0" rtlCol="0" anchor="ctr"/>
          <a:lstStyle/>
          <a:p>
            <a:pPr indent="0" marL="0">
              <a:buNone/>
            </a:pPr>
            <a:r>
              <a:rPr lang="en-US" sz="1250" dirty="0">
                <a:solidFill>
                  <a:srgbClr val="5E6B7E"/>
                </a:solidFill>
                <a:latin typeface="Courier New" pitchFamily="34" charset="0"/>
                <a:ea typeface="Courier New" pitchFamily="34" charset="-122"/>
                <a:cs typeface="Courier New" pitchFamily="34" charset="-120"/>
              </a:rPr>
              <a:t>03</a:t>
            </a:r>
            <a:endParaRPr lang="en-US" sz="1250" dirty="0"/>
          </a:p>
        </p:txBody>
      </p:sp>
      <p:sp>
        <p:nvSpPr>
          <p:cNvPr id="16" name="Text 14"/>
          <p:cNvSpPr txBox="1"/>
          <p:nvPr/>
        </p:nvSpPr>
        <p:spPr>
          <a:xfrm>
            <a:off x="4548530" y="2395728"/>
            <a:ext cx="1254709" cy="384048"/>
          </a:xfrm>
          <a:prstGeom prst="rect">
            <a:avLst/>
          </a:prstGeom>
          <a:noFill/>
          <a:ln/>
        </p:spPr>
        <p:txBody>
          <a:bodyPr wrap="square" lIns="0" tIns="0" rIns="0" bIns="0" rtlCol="0" anchor="ctr"/>
          <a:lstStyle/>
          <a:p>
            <a:pPr indent="0" marL="0">
              <a:buNone/>
            </a:pPr>
            <a:r>
              <a:rPr lang="en-US" sz="1500" b="1" dirty="0">
                <a:solidFill>
                  <a:srgbClr val="E9EDF3"/>
                </a:solidFill>
                <a:latin typeface="Cambria" pitchFamily="34" charset="0"/>
                <a:ea typeface="Cambria" pitchFamily="34" charset="-122"/>
                <a:cs typeface="Cambria" pitchFamily="34" charset="-120"/>
              </a:rPr>
              <a:t>Auto check</a:t>
            </a:r>
            <a:endParaRPr lang="en-US" sz="1500" dirty="0"/>
          </a:p>
        </p:txBody>
      </p:sp>
      <p:sp>
        <p:nvSpPr>
          <p:cNvPr id="17" name="Text 15"/>
          <p:cNvSpPr txBox="1"/>
          <p:nvPr/>
        </p:nvSpPr>
        <p:spPr>
          <a:xfrm>
            <a:off x="4548530" y="2816352"/>
            <a:ext cx="1254709" cy="1170432"/>
          </a:xfrm>
          <a:prstGeom prst="rect">
            <a:avLst/>
          </a:prstGeom>
          <a:noFill/>
          <a:ln/>
        </p:spPr>
        <p:txBody>
          <a:bodyPr wrap="square" lIns="0" tIns="0" rIns="0" bIns="0" rtlCol="0" anchor="ctr"/>
          <a:lstStyle/>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8 text rules.</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One hit and it</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goes back</a:t>
            </a:r>
            <a:endParaRPr lang="en-US" sz="1050" dirty="0"/>
          </a:p>
        </p:txBody>
      </p:sp>
      <p:sp>
        <p:nvSpPr>
          <p:cNvPr id="18" name="Shape 16"/>
          <p:cNvSpPr/>
          <p:nvPr/>
        </p:nvSpPr>
        <p:spPr>
          <a:xfrm>
            <a:off x="6205576" y="1920240"/>
            <a:ext cx="1620469" cy="2103120"/>
          </a:xfrm>
          <a:prstGeom prst="roundRect">
            <a:avLst>
              <a:gd name="adj" fmla="val 3386"/>
            </a:avLst>
          </a:prstGeom>
          <a:solidFill>
            <a:srgbClr val="161D2A"/>
          </a:solidFill>
          <a:ln w="9525">
            <a:solidFill>
              <a:srgbClr val="222C3E"/>
            </a:solidFill>
            <a:prstDash val="solid"/>
          </a:ln>
        </p:spPr>
      </p:sp>
      <p:sp>
        <p:nvSpPr>
          <p:cNvPr id="19" name="Text 17"/>
          <p:cNvSpPr txBox="1"/>
          <p:nvPr/>
        </p:nvSpPr>
        <p:spPr>
          <a:xfrm>
            <a:off x="6388456" y="2048256"/>
            <a:ext cx="1254709" cy="292608"/>
          </a:xfrm>
          <a:prstGeom prst="rect">
            <a:avLst/>
          </a:prstGeom>
          <a:noFill/>
          <a:ln/>
        </p:spPr>
        <p:txBody>
          <a:bodyPr wrap="square" lIns="0" tIns="0" rIns="0" bIns="0" rtlCol="0" anchor="ctr"/>
          <a:lstStyle/>
          <a:p>
            <a:pPr indent="0" marL="0">
              <a:buNone/>
            </a:pPr>
            <a:r>
              <a:rPr lang="en-US" sz="1250" dirty="0">
                <a:solidFill>
                  <a:srgbClr val="5E6B7E"/>
                </a:solidFill>
                <a:latin typeface="Courier New" pitchFamily="34" charset="0"/>
                <a:ea typeface="Courier New" pitchFamily="34" charset="-122"/>
                <a:cs typeface="Courier New" pitchFamily="34" charset="-120"/>
              </a:rPr>
              <a:t>04</a:t>
            </a:r>
            <a:endParaRPr lang="en-US" sz="1250" dirty="0"/>
          </a:p>
        </p:txBody>
      </p:sp>
      <p:sp>
        <p:nvSpPr>
          <p:cNvPr id="20" name="Text 18"/>
          <p:cNvSpPr txBox="1"/>
          <p:nvPr/>
        </p:nvSpPr>
        <p:spPr>
          <a:xfrm>
            <a:off x="6388456" y="2395728"/>
            <a:ext cx="1254709" cy="384048"/>
          </a:xfrm>
          <a:prstGeom prst="rect">
            <a:avLst/>
          </a:prstGeom>
          <a:noFill/>
          <a:ln/>
        </p:spPr>
        <p:txBody>
          <a:bodyPr wrap="square" lIns="0" tIns="0" rIns="0" bIns="0" rtlCol="0" anchor="ctr"/>
          <a:lstStyle/>
          <a:p>
            <a:pPr indent="0" marL="0">
              <a:buNone/>
            </a:pPr>
            <a:r>
              <a:rPr lang="en-US" sz="1500" b="1" dirty="0">
                <a:solidFill>
                  <a:srgbClr val="E9EDF3"/>
                </a:solidFill>
                <a:latin typeface="Cambria" pitchFamily="34" charset="0"/>
                <a:ea typeface="Cambria" pitchFamily="34" charset="-122"/>
                <a:cs typeface="Cambria" pitchFamily="34" charset="-120"/>
              </a:rPr>
              <a:t>Build it</a:t>
            </a:r>
            <a:endParaRPr lang="en-US" sz="1500" dirty="0"/>
          </a:p>
        </p:txBody>
      </p:sp>
      <p:sp>
        <p:nvSpPr>
          <p:cNvPr id="21" name="Text 19"/>
          <p:cNvSpPr txBox="1"/>
          <p:nvPr/>
        </p:nvSpPr>
        <p:spPr>
          <a:xfrm>
            <a:off x="6388456" y="2816352"/>
            <a:ext cx="1254709" cy="1170432"/>
          </a:xfrm>
          <a:prstGeom prst="rect">
            <a:avLst/>
          </a:prstGeom>
          <a:noFill/>
          <a:ln/>
        </p:spPr>
        <p:txBody>
          <a:bodyPr wrap="square" lIns="0" tIns="0" rIns="0" bIns="0" rtlCol="0" anchor="ctr"/>
          <a:lstStyle/>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Unity builds it</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with no window.</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Real errors</a:t>
            </a:r>
            <a:endParaRPr lang="en-US" sz="1050" dirty="0"/>
          </a:p>
        </p:txBody>
      </p:sp>
      <p:sp>
        <p:nvSpPr>
          <p:cNvPr id="22" name="Shape 20"/>
          <p:cNvSpPr/>
          <p:nvPr/>
        </p:nvSpPr>
        <p:spPr>
          <a:xfrm>
            <a:off x="8045501" y="1920240"/>
            <a:ext cx="1620469" cy="2103120"/>
          </a:xfrm>
          <a:prstGeom prst="roundRect">
            <a:avLst>
              <a:gd name="adj" fmla="val 3386"/>
            </a:avLst>
          </a:prstGeom>
          <a:solidFill>
            <a:srgbClr val="161D2A"/>
          </a:solidFill>
          <a:ln w="9525">
            <a:solidFill>
              <a:srgbClr val="222C3E"/>
            </a:solidFill>
            <a:prstDash val="solid"/>
          </a:ln>
        </p:spPr>
      </p:sp>
      <p:sp>
        <p:nvSpPr>
          <p:cNvPr id="23" name="Text 21"/>
          <p:cNvSpPr txBox="1"/>
          <p:nvPr/>
        </p:nvSpPr>
        <p:spPr>
          <a:xfrm>
            <a:off x="8228381" y="2048256"/>
            <a:ext cx="1254709" cy="292608"/>
          </a:xfrm>
          <a:prstGeom prst="rect">
            <a:avLst/>
          </a:prstGeom>
          <a:noFill/>
          <a:ln/>
        </p:spPr>
        <p:txBody>
          <a:bodyPr wrap="square" lIns="0" tIns="0" rIns="0" bIns="0" rtlCol="0" anchor="ctr"/>
          <a:lstStyle/>
          <a:p>
            <a:pPr indent="0" marL="0">
              <a:buNone/>
            </a:pPr>
            <a:r>
              <a:rPr lang="en-US" sz="1250" dirty="0">
                <a:solidFill>
                  <a:srgbClr val="5E6B7E"/>
                </a:solidFill>
                <a:latin typeface="Courier New" pitchFamily="34" charset="0"/>
                <a:ea typeface="Courier New" pitchFamily="34" charset="-122"/>
                <a:cs typeface="Courier New" pitchFamily="34" charset="-120"/>
              </a:rPr>
              <a:t>05</a:t>
            </a:r>
            <a:endParaRPr lang="en-US" sz="1250" dirty="0"/>
          </a:p>
        </p:txBody>
      </p:sp>
      <p:sp>
        <p:nvSpPr>
          <p:cNvPr id="24" name="Text 22"/>
          <p:cNvSpPr txBox="1"/>
          <p:nvPr/>
        </p:nvSpPr>
        <p:spPr>
          <a:xfrm>
            <a:off x="8228381" y="2395728"/>
            <a:ext cx="1254709" cy="384048"/>
          </a:xfrm>
          <a:prstGeom prst="rect">
            <a:avLst/>
          </a:prstGeom>
          <a:noFill/>
          <a:ln/>
        </p:spPr>
        <p:txBody>
          <a:bodyPr wrap="square" lIns="0" tIns="0" rIns="0" bIns="0" rtlCol="0" anchor="ctr"/>
          <a:lstStyle/>
          <a:p>
            <a:pPr indent="0" marL="0">
              <a:buNone/>
            </a:pPr>
            <a:r>
              <a:rPr lang="en-US" sz="1500" b="1" dirty="0">
                <a:solidFill>
                  <a:srgbClr val="E9EDF3"/>
                </a:solidFill>
                <a:latin typeface="Cambria" pitchFamily="34" charset="0"/>
                <a:ea typeface="Cambria" pitchFamily="34" charset="-122"/>
                <a:cs typeface="Cambria" pitchFamily="34" charset="-120"/>
              </a:rPr>
              <a:t>Self check</a:t>
            </a:r>
            <a:endParaRPr lang="en-US" sz="1500" dirty="0"/>
          </a:p>
        </p:txBody>
      </p:sp>
      <p:sp>
        <p:nvSpPr>
          <p:cNvPr id="25" name="Text 23"/>
          <p:cNvSpPr txBox="1"/>
          <p:nvPr/>
        </p:nvSpPr>
        <p:spPr>
          <a:xfrm>
            <a:off x="8228381" y="2816352"/>
            <a:ext cx="1254709" cy="1170432"/>
          </a:xfrm>
          <a:prstGeom prst="rect">
            <a:avLst/>
          </a:prstGeom>
          <a:noFill/>
          <a:ln/>
        </p:spPr>
        <p:txBody>
          <a:bodyPr wrap="square" lIns="0" tIns="0" rIns="0" bIns="0" rtlCol="0" anchor="ctr"/>
          <a:lstStyle/>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The AI answers</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18 questions</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about its work</a:t>
            </a:r>
            <a:endParaRPr lang="en-US" sz="1050" dirty="0"/>
          </a:p>
        </p:txBody>
      </p:sp>
      <p:sp>
        <p:nvSpPr>
          <p:cNvPr id="26" name="Shape 24"/>
          <p:cNvSpPr/>
          <p:nvPr/>
        </p:nvSpPr>
        <p:spPr>
          <a:xfrm>
            <a:off x="9885426" y="1920240"/>
            <a:ext cx="1620469" cy="2103120"/>
          </a:xfrm>
          <a:prstGeom prst="roundRect">
            <a:avLst>
              <a:gd name="adj" fmla="val 3386"/>
            </a:avLst>
          </a:prstGeom>
          <a:solidFill>
            <a:srgbClr val="222C3E"/>
          </a:solidFill>
          <a:ln w="9525">
            <a:solidFill>
              <a:srgbClr val="222C3E"/>
            </a:solidFill>
            <a:prstDash val="solid"/>
          </a:ln>
        </p:spPr>
      </p:sp>
      <p:sp>
        <p:nvSpPr>
          <p:cNvPr id="27" name="Text 25"/>
          <p:cNvSpPr txBox="1"/>
          <p:nvPr/>
        </p:nvSpPr>
        <p:spPr>
          <a:xfrm>
            <a:off x="10068306" y="2048256"/>
            <a:ext cx="1254709" cy="292608"/>
          </a:xfrm>
          <a:prstGeom prst="rect">
            <a:avLst/>
          </a:prstGeom>
          <a:noFill/>
          <a:ln/>
        </p:spPr>
        <p:txBody>
          <a:bodyPr wrap="square" lIns="0" tIns="0" rIns="0" bIns="0" rtlCol="0" anchor="ctr"/>
          <a:lstStyle/>
          <a:p>
            <a:pPr indent="0" marL="0">
              <a:buNone/>
            </a:pPr>
            <a:r>
              <a:rPr lang="en-US" sz="1250" dirty="0">
                <a:solidFill>
                  <a:srgbClr val="A9C6E4"/>
                </a:solidFill>
                <a:latin typeface="Courier New" pitchFamily="34" charset="0"/>
                <a:ea typeface="Courier New" pitchFamily="34" charset="-122"/>
                <a:cs typeface="Courier New" pitchFamily="34" charset="-120"/>
              </a:rPr>
              <a:t>06</a:t>
            </a:r>
            <a:endParaRPr lang="en-US" sz="1250" dirty="0"/>
          </a:p>
        </p:txBody>
      </p:sp>
      <p:sp>
        <p:nvSpPr>
          <p:cNvPr id="28" name="Text 26"/>
          <p:cNvSpPr txBox="1"/>
          <p:nvPr/>
        </p:nvSpPr>
        <p:spPr>
          <a:xfrm>
            <a:off x="10068306" y="2395728"/>
            <a:ext cx="1254709" cy="384048"/>
          </a:xfrm>
          <a:prstGeom prst="rect">
            <a:avLst/>
          </a:prstGeom>
          <a:noFill/>
          <a:ln/>
        </p:spPr>
        <p:txBody>
          <a:bodyPr wrap="square" lIns="0" tIns="0" rIns="0" bIns="0" rtlCol="0" anchor="ctr"/>
          <a:lstStyle/>
          <a:p>
            <a:pPr indent="0" marL="0">
              <a:buNone/>
            </a:pPr>
            <a:r>
              <a:rPr lang="en-US" sz="1500" b="1" dirty="0">
                <a:solidFill>
                  <a:srgbClr val="A9C6E4"/>
                </a:solidFill>
                <a:latin typeface="Cambria" pitchFamily="34" charset="0"/>
                <a:ea typeface="Cambria" pitchFamily="34" charset="-122"/>
                <a:cs typeface="Cambria" pitchFamily="34" charset="-120"/>
              </a:rPr>
              <a:t>We read it</a:t>
            </a:r>
            <a:endParaRPr lang="en-US" sz="1500" dirty="0"/>
          </a:p>
        </p:txBody>
      </p:sp>
      <p:sp>
        <p:nvSpPr>
          <p:cNvPr id="29" name="Text 27"/>
          <p:cNvSpPr txBox="1"/>
          <p:nvPr/>
        </p:nvSpPr>
        <p:spPr>
          <a:xfrm>
            <a:off x="10068306" y="2816352"/>
            <a:ext cx="1254709" cy="1170432"/>
          </a:xfrm>
          <a:prstGeom prst="rect">
            <a:avLst/>
          </a:prstGeom>
          <a:noFill/>
          <a:ln/>
        </p:spPr>
        <p:txBody>
          <a:bodyPr wrap="square" lIns="0" tIns="0" rIns="0" bIns="0" rtlCol="0" anchor="ctr"/>
          <a:lstStyle/>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A person reads</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the changes and</a:t>
            </a:r>
            <a:endParaRPr lang="en-US" sz="1050" dirty="0"/>
          </a:p>
          <a:p>
            <a:pPr indent="0" marL="0">
              <a:lnSpc>
                <a:spcPts val="1500"/>
              </a:lnSpc>
              <a:buNone/>
            </a:pPr>
            <a:r>
              <a:rPr lang="en-US" sz="1050" dirty="0">
                <a:solidFill>
                  <a:srgbClr val="8D9AAD"/>
                </a:solidFill>
                <a:latin typeface="Calibri" pitchFamily="34" charset="0"/>
                <a:ea typeface="Calibri" pitchFamily="34" charset="-122"/>
                <a:cs typeface="Calibri" pitchFamily="34" charset="-120"/>
              </a:rPr>
              <a:t>says yes or no</a:t>
            </a:r>
            <a:endParaRPr lang="en-US" sz="1050" dirty="0"/>
          </a:p>
        </p:txBody>
      </p:sp>
      <p:sp>
        <p:nvSpPr>
          <p:cNvPr id="30" name="Text 28"/>
          <p:cNvSpPr txBox="1"/>
          <p:nvPr/>
        </p:nvSpPr>
        <p:spPr>
          <a:xfrm>
            <a:off x="685800" y="4169664"/>
            <a:ext cx="10820095" cy="310896"/>
          </a:xfrm>
          <a:prstGeom prst="rect">
            <a:avLst/>
          </a:prstGeom>
          <a:noFill/>
          <a:ln/>
        </p:spPr>
        <p:txBody>
          <a:bodyPr wrap="square" lIns="0" tIns="0" rIns="0" bIns="0" rtlCol="0" anchor="ctr"/>
          <a:lstStyle/>
          <a:p>
            <a:pPr algn="ctr" indent="0" marL="0">
              <a:buNone/>
            </a:pPr>
            <a:r>
              <a:rPr lang="en-US" sz="1300" i="1" dirty="0">
                <a:solidFill>
                  <a:srgbClr val="8D9AAD"/>
                </a:solidFill>
                <a:latin typeface="Calibri" pitchFamily="34" charset="0"/>
                <a:ea typeface="Calibri" pitchFamily="34" charset="-122"/>
                <a:cs typeface="Calibri" pitchFamily="34" charset="-120"/>
              </a:rPr>
              <a:t>If step 3 or step 4 fails, it goes back to step 2 with the error text. Two tries, then it stops.</a:t>
            </a:r>
            <a:endParaRPr lang="en-US" sz="1300" dirty="0"/>
          </a:p>
        </p:txBody>
      </p:sp>
      <p:sp>
        <p:nvSpPr>
          <p:cNvPr id="31" name="Shape 29"/>
          <p:cNvSpPr/>
          <p:nvPr/>
        </p:nvSpPr>
        <p:spPr>
          <a:xfrm>
            <a:off x="685800" y="4645152"/>
            <a:ext cx="10820095" cy="1316736"/>
          </a:xfrm>
          <a:prstGeom prst="roundRect">
            <a:avLst>
              <a:gd name="adj" fmla="val 4167"/>
            </a:avLst>
          </a:prstGeom>
          <a:solidFill>
            <a:srgbClr val="222C3E"/>
          </a:solidFill>
          <a:ln w="9525">
            <a:solidFill>
              <a:srgbClr val="222C3E"/>
            </a:solidFill>
            <a:prstDash val="solid"/>
          </a:ln>
        </p:spPr>
      </p:sp>
      <p:sp>
        <p:nvSpPr>
          <p:cNvPr id="32" name="Text 30"/>
          <p:cNvSpPr txBox="1"/>
          <p:nvPr/>
        </p:nvSpPr>
        <p:spPr>
          <a:xfrm>
            <a:off x="1097280" y="4791456"/>
            <a:ext cx="9997135" cy="365760"/>
          </a:xfrm>
          <a:prstGeom prst="rect">
            <a:avLst/>
          </a:prstGeom>
          <a:noFill/>
          <a:ln/>
        </p:spPr>
        <p:txBody>
          <a:bodyPr wrap="square" lIns="0" tIns="0" rIns="0" bIns="0" rtlCol="0" anchor="ctr"/>
          <a:lstStyle/>
          <a:p>
            <a:pPr indent="0" marL="0">
              <a:buNone/>
            </a:pPr>
            <a:r>
              <a:rPr lang="en-US" sz="1700" b="1" dirty="0">
                <a:solidFill>
                  <a:srgbClr val="E9EDF3"/>
                </a:solidFill>
                <a:latin typeface="Calibri" pitchFamily="34" charset="0"/>
                <a:ea typeface="Calibri" pitchFamily="34" charset="-122"/>
                <a:cs typeface="Calibri" pitchFamily="34" charset="-120"/>
              </a:rPr>
              <a:t>People decide what to build and whether it is good. The AI writes it.</a:t>
            </a:r>
            <a:endParaRPr lang="en-US" sz="1700" dirty="0"/>
          </a:p>
        </p:txBody>
      </p:sp>
      <p:sp>
        <p:nvSpPr>
          <p:cNvPr id="33" name="Text 31"/>
          <p:cNvSpPr txBox="1"/>
          <p:nvPr/>
        </p:nvSpPr>
        <p:spPr>
          <a:xfrm>
            <a:off x="1097280" y="5193792"/>
            <a:ext cx="9997135" cy="676656"/>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The person who writes it and the person who checks it cannot be the same. We are new to 3D games, so we made the rules very strict before we started: the message board, the interfaces and the data files were all agreed first, and the AI could only fill in behind them. An AI can write every script in this project in a day. Only a person can tell whether the game feels right.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13 — GATES</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13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Eight rules the code has to pass</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An AI never gets tired, but it makes the same mistake again and again</a:t>
            </a:r>
            <a:endParaRPr lang="en-US" sz="1450" dirty="0"/>
          </a:p>
        </p:txBody>
      </p:sp>
      <p:sp>
        <p:nvSpPr>
          <p:cNvPr id="6" name="Shape 4"/>
          <p:cNvSpPr/>
          <p:nvPr/>
        </p:nvSpPr>
        <p:spPr>
          <a:xfrm>
            <a:off x="685800" y="1883664"/>
            <a:ext cx="6309360" cy="438912"/>
          </a:xfrm>
          <a:prstGeom prst="roundRect">
            <a:avLst>
              <a:gd name="adj" fmla="val 8333"/>
            </a:avLst>
          </a:prstGeom>
          <a:solidFill>
            <a:srgbClr val="161D2A"/>
          </a:solidFill>
          <a:ln w="9525">
            <a:solidFill>
              <a:srgbClr val="222C3E"/>
            </a:solidFill>
            <a:prstDash val="solid"/>
          </a:ln>
        </p:spPr>
      </p:sp>
      <p:sp>
        <p:nvSpPr>
          <p:cNvPr id="7" name="Text 5"/>
          <p:cNvSpPr txBox="1"/>
          <p:nvPr/>
        </p:nvSpPr>
        <p:spPr>
          <a:xfrm>
            <a:off x="905256" y="1883664"/>
            <a:ext cx="640080" cy="438912"/>
          </a:xfrm>
          <a:prstGeom prst="rect">
            <a:avLst/>
          </a:prstGeom>
          <a:noFill/>
          <a:ln/>
        </p:spPr>
        <p:txBody>
          <a:bodyPr wrap="square" lIns="0" tIns="0" rIns="0" bIns="0" rtlCol="0" anchor="ctr"/>
          <a:lstStyle/>
          <a:p>
            <a:pPr indent="0" marL="0">
              <a:buNone/>
            </a:pPr>
            <a:r>
              <a:rPr lang="en-US" sz="1250" b="1" dirty="0">
                <a:solidFill>
                  <a:srgbClr val="E0505E"/>
                </a:solidFill>
                <a:latin typeface="Courier New" pitchFamily="34" charset="0"/>
                <a:ea typeface="Courier New" pitchFamily="34" charset="-122"/>
                <a:cs typeface="Courier New" pitchFamily="34" charset="-120"/>
              </a:rPr>
              <a:t>G01</a:t>
            </a:r>
            <a:endParaRPr lang="en-US" sz="1250" dirty="0"/>
          </a:p>
        </p:txBody>
      </p:sp>
      <p:sp>
        <p:nvSpPr>
          <p:cNvPr id="8" name="Text 6"/>
          <p:cNvSpPr txBox="1"/>
          <p:nvPr/>
        </p:nvSpPr>
        <p:spPr>
          <a:xfrm>
            <a:off x="1618488" y="1883664"/>
            <a:ext cx="4389120" cy="438912"/>
          </a:xfrm>
          <a:prstGeom prst="rect">
            <a:avLst/>
          </a:prstGeom>
          <a:noFill/>
          <a:ln/>
        </p:spPr>
        <p:txBody>
          <a:bodyPr wrap="square" lIns="0" tIns="0" rIns="0" bIns="0" rtlCol="0" anchor="ctr"/>
          <a:lstStyle/>
          <a:p>
            <a:pPr indent="0" marL="0">
              <a:buNone/>
            </a:pPr>
            <a:r>
              <a:rPr lang="en-US" sz="1300" dirty="0">
                <a:solidFill>
                  <a:srgbClr val="E9EDF3"/>
                </a:solidFill>
                <a:latin typeface="Calibri" pitchFamily="34" charset="0"/>
                <a:ea typeface="Calibri" pitchFamily="34" charset="-122"/>
                <a:cs typeface="Calibri" pitchFamily="34" charset="-120"/>
              </a:rPr>
              <a:t>The old Find functions are not allowed</a:t>
            </a:r>
            <a:endParaRPr lang="en-US" sz="1300" dirty="0"/>
          </a:p>
        </p:txBody>
      </p:sp>
      <p:sp>
        <p:nvSpPr>
          <p:cNvPr id="9" name="Text 7"/>
          <p:cNvSpPr txBox="1"/>
          <p:nvPr/>
        </p:nvSpPr>
        <p:spPr>
          <a:xfrm>
            <a:off x="6080760" y="1883664"/>
            <a:ext cx="694944" cy="43891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error</a:t>
            </a:r>
            <a:endParaRPr lang="en-US" sz="1050" dirty="0"/>
          </a:p>
        </p:txBody>
      </p:sp>
      <p:sp>
        <p:nvSpPr>
          <p:cNvPr id="10" name="Shape 8"/>
          <p:cNvSpPr/>
          <p:nvPr/>
        </p:nvSpPr>
        <p:spPr>
          <a:xfrm>
            <a:off x="685800" y="2395728"/>
            <a:ext cx="6309360" cy="438912"/>
          </a:xfrm>
          <a:prstGeom prst="roundRect">
            <a:avLst>
              <a:gd name="adj" fmla="val 8333"/>
            </a:avLst>
          </a:prstGeom>
          <a:solidFill>
            <a:srgbClr val="161D2A"/>
          </a:solidFill>
          <a:ln w="9525">
            <a:solidFill>
              <a:srgbClr val="222C3E"/>
            </a:solidFill>
            <a:prstDash val="solid"/>
          </a:ln>
        </p:spPr>
      </p:sp>
      <p:sp>
        <p:nvSpPr>
          <p:cNvPr id="11" name="Text 9"/>
          <p:cNvSpPr txBox="1"/>
          <p:nvPr/>
        </p:nvSpPr>
        <p:spPr>
          <a:xfrm>
            <a:off x="905256" y="2395728"/>
            <a:ext cx="640080" cy="438912"/>
          </a:xfrm>
          <a:prstGeom prst="rect">
            <a:avLst/>
          </a:prstGeom>
          <a:noFill/>
          <a:ln/>
        </p:spPr>
        <p:txBody>
          <a:bodyPr wrap="square" lIns="0" tIns="0" rIns="0" bIns="0" rtlCol="0" anchor="ctr"/>
          <a:lstStyle/>
          <a:p>
            <a:pPr indent="0" marL="0">
              <a:buNone/>
            </a:pPr>
            <a:r>
              <a:rPr lang="en-US" sz="1250" b="1" dirty="0">
                <a:solidFill>
                  <a:srgbClr val="E0505E"/>
                </a:solidFill>
                <a:latin typeface="Courier New" pitchFamily="34" charset="0"/>
                <a:ea typeface="Courier New" pitchFamily="34" charset="-122"/>
                <a:cs typeface="Courier New" pitchFamily="34" charset="-120"/>
              </a:rPr>
              <a:t>G02</a:t>
            </a:r>
            <a:endParaRPr lang="en-US" sz="1250" dirty="0"/>
          </a:p>
        </p:txBody>
      </p:sp>
      <p:sp>
        <p:nvSpPr>
          <p:cNvPr id="12" name="Text 10"/>
          <p:cNvSpPr txBox="1"/>
          <p:nvPr/>
        </p:nvSpPr>
        <p:spPr>
          <a:xfrm>
            <a:off x="1618488" y="2395728"/>
            <a:ext cx="4389120" cy="438912"/>
          </a:xfrm>
          <a:prstGeom prst="rect">
            <a:avLst/>
          </a:prstGeom>
          <a:noFill/>
          <a:ln/>
        </p:spPr>
        <p:txBody>
          <a:bodyPr wrap="square" lIns="0" tIns="0" rIns="0" bIns="0" rtlCol="0" anchor="ctr"/>
          <a:lstStyle/>
          <a:p>
            <a:pPr indent="0" marL="0">
              <a:buNone/>
            </a:pPr>
            <a:r>
              <a:rPr lang="en-US" sz="1300" dirty="0">
                <a:solidFill>
                  <a:srgbClr val="E9EDF3"/>
                </a:solidFill>
                <a:latin typeface="Calibri" pitchFamily="34" charset="0"/>
                <a:ea typeface="Calibri" pitchFamily="34" charset="-122"/>
                <a:cs typeface="Calibri" pitchFamily="34" charset="-120"/>
              </a:rPr>
              <a:t>Rigidbody.velocity is now linearVelocity</a:t>
            </a:r>
            <a:endParaRPr lang="en-US" sz="1300" dirty="0"/>
          </a:p>
        </p:txBody>
      </p:sp>
      <p:sp>
        <p:nvSpPr>
          <p:cNvPr id="13" name="Text 11"/>
          <p:cNvSpPr txBox="1"/>
          <p:nvPr/>
        </p:nvSpPr>
        <p:spPr>
          <a:xfrm>
            <a:off x="6080760" y="2395728"/>
            <a:ext cx="694944" cy="43891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error</a:t>
            </a:r>
            <a:endParaRPr lang="en-US" sz="1050" dirty="0"/>
          </a:p>
        </p:txBody>
      </p:sp>
      <p:sp>
        <p:nvSpPr>
          <p:cNvPr id="14" name="Shape 12"/>
          <p:cNvSpPr/>
          <p:nvPr/>
        </p:nvSpPr>
        <p:spPr>
          <a:xfrm>
            <a:off x="685800" y="2907792"/>
            <a:ext cx="6309360" cy="438912"/>
          </a:xfrm>
          <a:prstGeom prst="roundRect">
            <a:avLst>
              <a:gd name="adj" fmla="val 8333"/>
            </a:avLst>
          </a:prstGeom>
          <a:solidFill>
            <a:srgbClr val="161D2A"/>
          </a:solidFill>
          <a:ln w="9525">
            <a:solidFill>
              <a:srgbClr val="222C3E"/>
            </a:solidFill>
            <a:prstDash val="solid"/>
          </a:ln>
        </p:spPr>
      </p:sp>
      <p:sp>
        <p:nvSpPr>
          <p:cNvPr id="15" name="Text 13"/>
          <p:cNvSpPr txBox="1"/>
          <p:nvPr/>
        </p:nvSpPr>
        <p:spPr>
          <a:xfrm>
            <a:off x="905256" y="2907792"/>
            <a:ext cx="640080" cy="438912"/>
          </a:xfrm>
          <a:prstGeom prst="rect">
            <a:avLst/>
          </a:prstGeom>
          <a:noFill/>
          <a:ln/>
        </p:spPr>
        <p:txBody>
          <a:bodyPr wrap="square" lIns="0" tIns="0" rIns="0" bIns="0" rtlCol="0" anchor="ctr"/>
          <a:lstStyle/>
          <a:p>
            <a:pPr indent="0" marL="0">
              <a:buNone/>
            </a:pPr>
            <a:r>
              <a:rPr lang="en-US" sz="1250" b="1" dirty="0">
                <a:solidFill>
                  <a:srgbClr val="E0505E"/>
                </a:solidFill>
                <a:latin typeface="Courier New" pitchFamily="34" charset="0"/>
                <a:ea typeface="Courier New" pitchFamily="34" charset="-122"/>
                <a:cs typeface="Courier New" pitchFamily="34" charset="-120"/>
              </a:rPr>
              <a:t>G03</a:t>
            </a:r>
            <a:endParaRPr lang="en-US" sz="1250" dirty="0"/>
          </a:p>
        </p:txBody>
      </p:sp>
      <p:sp>
        <p:nvSpPr>
          <p:cNvPr id="16" name="Text 14"/>
          <p:cNvSpPr txBox="1"/>
          <p:nvPr/>
        </p:nvSpPr>
        <p:spPr>
          <a:xfrm>
            <a:off x="1618488" y="2907792"/>
            <a:ext cx="4389120" cy="438912"/>
          </a:xfrm>
          <a:prstGeom prst="rect">
            <a:avLst/>
          </a:prstGeom>
          <a:noFill/>
          <a:ln/>
        </p:spPr>
        <p:txBody>
          <a:bodyPr wrap="square" lIns="0" tIns="0" rIns="0" bIns="0" rtlCol="0" anchor="ctr"/>
          <a:lstStyle/>
          <a:p>
            <a:pPr indent="0" marL="0">
              <a:buNone/>
            </a:pPr>
            <a:r>
              <a:rPr lang="en-US" sz="1300" dirty="0">
                <a:solidFill>
                  <a:srgbClr val="E9EDF3"/>
                </a:solidFill>
                <a:latin typeface="Calibri" pitchFamily="34" charset="0"/>
                <a:ea typeface="Calibri" pitchFamily="34" charset="-122"/>
                <a:cs typeface="Calibri" pitchFamily="34" charset="-120"/>
              </a:rPr>
              <a:t>Do not use the old Input Manager</a:t>
            </a:r>
            <a:endParaRPr lang="en-US" sz="1300" dirty="0"/>
          </a:p>
        </p:txBody>
      </p:sp>
      <p:sp>
        <p:nvSpPr>
          <p:cNvPr id="17" name="Text 15"/>
          <p:cNvSpPr txBox="1"/>
          <p:nvPr/>
        </p:nvSpPr>
        <p:spPr>
          <a:xfrm>
            <a:off x="6080760" y="2907792"/>
            <a:ext cx="694944" cy="43891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error</a:t>
            </a:r>
            <a:endParaRPr lang="en-US" sz="1050" dirty="0"/>
          </a:p>
        </p:txBody>
      </p:sp>
      <p:sp>
        <p:nvSpPr>
          <p:cNvPr id="18" name="Shape 16"/>
          <p:cNvSpPr/>
          <p:nvPr/>
        </p:nvSpPr>
        <p:spPr>
          <a:xfrm>
            <a:off x="685800" y="3419856"/>
            <a:ext cx="6309360" cy="438912"/>
          </a:xfrm>
          <a:prstGeom prst="roundRect">
            <a:avLst>
              <a:gd name="adj" fmla="val 8333"/>
            </a:avLst>
          </a:prstGeom>
          <a:solidFill>
            <a:srgbClr val="161D2A"/>
          </a:solidFill>
          <a:ln w="9525">
            <a:solidFill>
              <a:srgbClr val="222C3E"/>
            </a:solidFill>
            <a:prstDash val="solid"/>
          </a:ln>
        </p:spPr>
      </p:sp>
      <p:sp>
        <p:nvSpPr>
          <p:cNvPr id="19" name="Text 17"/>
          <p:cNvSpPr txBox="1"/>
          <p:nvPr/>
        </p:nvSpPr>
        <p:spPr>
          <a:xfrm>
            <a:off x="905256" y="3419856"/>
            <a:ext cx="640080" cy="438912"/>
          </a:xfrm>
          <a:prstGeom prst="rect">
            <a:avLst/>
          </a:prstGeom>
          <a:noFill/>
          <a:ln/>
        </p:spPr>
        <p:txBody>
          <a:bodyPr wrap="square" lIns="0" tIns="0" rIns="0" bIns="0" rtlCol="0" anchor="ctr"/>
          <a:lstStyle/>
          <a:p>
            <a:pPr indent="0" marL="0">
              <a:buNone/>
            </a:pPr>
            <a:r>
              <a:rPr lang="en-US" sz="1250" b="1" dirty="0">
                <a:solidFill>
                  <a:srgbClr val="E0505E"/>
                </a:solidFill>
                <a:latin typeface="Courier New" pitchFamily="34" charset="0"/>
                <a:ea typeface="Courier New" pitchFamily="34" charset="-122"/>
                <a:cs typeface="Courier New" pitchFamily="34" charset="-120"/>
              </a:rPr>
              <a:t>G04</a:t>
            </a:r>
            <a:endParaRPr lang="en-US" sz="1250" dirty="0"/>
          </a:p>
        </p:txBody>
      </p:sp>
      <p:sp>
        <p:nvSpPr>
          <p:cNvPr id="20" name="Text 18"/>
          <p:cNvSpPr txBox="1"/>
          <p:nvPr/>
        </p:nvSpPr>
        <p:spPr>
          <a:xfrm>
            <a:off x="1618488" y="3419856"/>
            <a:ext cx="4389120" cy="438912"/>
          </a:xfrm>
          <a:prstGeom prst="rect">
            <a:avLst/>
          </a:prstGeom>
          <a:noFill/>
          <a:ln/>
        </p:spPr>
        <p:txBody>
          <a:bodyPr wrap="square" lIns="0" tIns="0" rIns="0" bIns="0" rtlCol="0" anchor="ctr"/>
          <a:lstStyle/>
          <a:p>
            <a:pPr indent="0" marL="0">
              <a:buNone/>
            </a:pPr>
            <a:r>
              <a:rPr lang="en-US" sz="1300" dirty="0">
                <a:solidFill>
                  <a:srgbClr val="E9EDF3"/>
                </a:solidFill>
                <a:latin typeface="Calibri" pitchFamily="34" charset="0"/>
                <a:ea typeface="Calibri" pitchFamily="34" charset="-122"/>
                <a:cs typeface="Calibri" pitchFamily="34" charset="-120"/>
              </a:rPr>
              <a:t>CinemachineVirtualCamera has a new name</a:t>
            </a:r>
            <a:endParaRPr lang="en-US" sz="1300" dirty="0"/>
          </a:p>
        </p:txBody>
      </p:sp>
      <p:sp>
        <p:nvSpPr>
          <p:cNvPr id="21" name="Text 19"/>
          <p:cNvSpPr txBox="1"/>
          <p:nvPr/>
        </p:nvSpPr>
        <p:spPr>
          <a:xfrm>
            <a:off x="6080760" y="3419856"/>
            <a:ext cx="694944" cy="43891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error</a:t>
            </a:r>
            <a:endParaRPr lang="en-US" sz="1050" dirty="0"/>
          </a:p>
        </p:txBody>
      </p:sp>
      <p:sp>
        <p:nvSpPr>
          <p:cNvPr id="22" name="Shape 20"/>
          <p:cNvSpPr/>
          <p:nvPr/>
        </p:nvSpPr>
        <p:spPr>
          <a:xfrm>
            <a:off x="685800" y="3931920"/>
            <a:ext cx="6309360" cy="438912"/>
          </a:xfrm>
          <a:prstGeom prst="roundRect">
            <a:avLst>
              <a:gd name="adj" fmla="val 8333"/>
            </a:avLst>
          </a:prstGeom>
          <a:solidFill>
            <a:srgbClr val="161D2A"/>
          </a:solidFill>
          <a:ln w="9525">
            <a:solidFill>
              <a:srgbClr val="222C3E"/>
            </a:solidFill>
            <a:prstDash val="solid"/>
          </a:ln>
        </p:spPr>
      </p:sp>
      <p:sp>
        <p:nvSpPr>
          <p:cNvPr id="23" name="Text 21"/>
          <p:cNvSpPr txBox="1"/>
          <p:nvPr/>
        </p:nvSpPr>
        <p:spPr>
          <a:xfrm>
            <a:off x="905256" y="3931920"/>
            <a:ext cx="640080" cy="438912"/>
          </a:xfrm>
          <a:prstGeom prst="rect">
            <a:avLst/>
          </a:prstGeom>
          <a:noFill/>
          <a:ln/>
        </p:spPr>
        <p:txBody>
          <a:bodyPr wrap="square" lIns="0" tIns="0" rIns="0" bIns="0" rtlCol="0" anchor="ctr"/>
          <a:lstStyle/>
          <a:p>
            <a:pPr indent="0" marL="0">
              <a:buNone/>
            </a:pPr>
            <a:r>
              <a:rPr lang="en-US" sz="1250" b="1" dirty="0">
                <a:solidFill>
                  <a:srgbClr val="E0505E"/>
                </a:solidFill>
                <a:latin typeface="Courier New" pitchFamily="34" charset="0"/>
                <a:ea typeface="Courier New" pitchFamily="34" charset="-122"/>
                <a:cs typeface="Courier New" pitchFamily="34" charset="-120"/>
              </a:rPr>
              <a:t>G05</a:t>
            </a:r>
            <a:endParaRPr lang="en-US" sz="1250" dirty="0"/>
          </a:p>
        </p:txBody>
      </p:sp>
      <p:sp>
        <p:nvSpPr>
          <p:cNvPr id="24" name="Text 22"/>
          <p:cNvSpPr txBox="1"/>
          <p:nvPr/>
        </p:nvSpPr>
        <p:spPr>
          <a:xfrm>
            <a:off x="1618488" y="3931920"/>
            <a:ext cx="4389120" cy="438912"/>
          </a:xfrm>
          <a:prstGeom prst="rect">
            <a:avLst/>
          </a:prstGeom>
          <a:noFill/>
          <a:ln/>
        </p:spPr>
        <p:txBody>
          <a:bodyPr wrap="square" lIns="0" tIns="0" rIns="0" bIns="0" rtlCol="0" anchor="ctr"/>
          <a:lstStyle/>
          <a:p>
            <a:pPr indent="0" marL="0">
              <a:buNone/>
            </a:pPr>
            <a:r>
              <a:rPr lang="en-US" sz="1300" dirty="0">
                <a:solidFill>
                  <a:srgbClr val="E9EDF3"/>
                </a:solidFill>
                <a:latin typeface="Calibri" pitchFamily="34" charset="0"/>
                <a:ea typeface="Calibri" pitchFamily="34" charset="-122"/>
                <a:cs typeface="Calibri" pitchFamily="34" charset="-120"/>
              </a:rPr>
              <a:t>No part may import another part</a:t>
            </a:r>
            <a:endParaRPr lang="en-US" sz="1300" dirty="0"/>
          </a:p>
        </p:txBody>
      </p:sp>
      <p:sp>
        <p:nvSpPr>
          <p:cNvPr id="25" name="Text 23"/>
          <p:cNvSpPr txBox="1"/>
          <p:nvPr/>
        </p:nvSpPr>
        <p:spPr>
          <a:xfrm>
            <a:off x="6080760" y="3931920"/>
            <a:ext cx="694944" cy="43891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error</a:t>
            </a:r>
            <a:endParaRPr lang="en-US" sz="1050" dirty="0"/>
          </a:p>
        </p:txBody>
      </p:sp>
      <p:sp>
        <p:nvSpPr>
          <p:cNvPr id="26" name="Shape 24"/>
          <p:cNvSpPr/>
          <p:nvPr/>
        </p:nvSpPr>
        <p:spPr>
          <a:xfrm>
            <a:off x="685800" y="4443984"/>
            <a:ext cx="6309360" cy="438912"/>
          </a:xfrm>
          <a:prstGeom prst="roundRect">
            <a:avLst>
              <a:gd name="adj" fmla="val 8333"/>
            </a:avLst>
          </a:prstGeom>
          <a:solidFill>
            <a:srgbClr val="161D2A"/>
          </a:solidFill>
          <a:ln w="9525">
            <a:solidFill>
              <a:srgbClr val="222C3E"/>
            </a:solidFill>
            <a:prstDash val="solid"/>
          </a:ln>
        </p:spPr>
      </p:sp>
      <p:sp>
        <p:nvSpPr>
          <p:cNvPr id="27" name="Text 25"/>
          <p:cNvSpPr txBox="1"/>
          <p:nvPr/>
        </p:nvSpPr>
        <p:spPr>
          <a:xfrm>
            <a:off x="905256" y="4443984"/>
            <a:ext cx="640080" cy="43891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G06</a:t>
            </a:r>
            <a:endParaRPr lang="en-US" sz="1250" dirty="0"/>
          </a:p>
        </p:txBody>
      </p:sp>
      <p:sp>
        <p:nvSpPr>
          <p:cNvPr id="28" name="Text 26"/>
          <p:cNvSpPr txBox="1"/>
          <p:nvPr/>
        </p:nvSpPr>
        <p:spPr>
          <a:xfrm>
            <a:off x="1618488" y="4443984"/>
            <a:ext cx="4389120" cy="438912"/>
          </a:xfrm>
          <a:prstGeom prst="rect">
            <a:avLst/>
          </a:prstGeom>
          <a:noFill/>
          <a:ln/>
        </p:spPr>
        <p:txBody>
          <a:bodyPr wrap="square" lIns="0" tIns="0" rIns="0" bIns="0" rtlCol="0" anchor="ctr"/>
          <a:lstStyle/>
          <a:p>
            <a:pPr indent="0" marL="0">
              <a:buNone/>
            </a:pPr>
            <a:r>
              <a:rPr lang="en-US" sz="1300" dirty="0">
                <a:solidFill>
                  <a:srgbClr val="E9EDF3"/>
                </a:solidFill>
                <a:latin typeface="Calibri" pitchFamily="34" charset="0"/>
                <a:ea typeface="Calibri" pitchFamily="34" charset="-122"/>
                <a:cs typeface="Calibri" pitchFamily="34" charset="-120"/>
              </a:rPr>
              <a:t>Numbers must be SerializeField private</a:t>
            </a:r>
            <a:endParaRPr lang="en-US" sz="1300" dirty="0"/>
          </a:p>
        </p:txBody>
      </p:sp>
      <p:sp>
        <p:nvSpPr>
          <p:cNvPr id="29" name="Text 27"/>
          <p:cNvSpPr txBox="1"/>
          <p:nvPr/>
        </p:nvSpPr>
        <p:spPr>
          <a:xfrm>
            <a:off x="6080760" y="4443984"/>
            <a:ext cx="694944" cy="43891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warn</a:t>
            </a:r>
            <a:endParaRPr lang="en-US" sz="1050" dirty="0"/>
          </a:p>
        </p:txBody>
      </p:sp>
      <p:sp>
        <p:nvSpPr>
          <p:cNvPr id="30" name="Shape 28"/>
          <p:cNvSpPr/>
          <p:nvPr/>
        </p:nvSpPr>
        <p:spPr>
          <a:xfrm>
            <a:off x="685800" y="4956048"/>
            <a:ext cx="6309360" cy="438912"/>
          </a:xfrm>
          <a:prstGeom prst="roundRect">
            <a:avLst>
              <a:gd name="adj" fmla="val 8333"/>
            </a:avLst>
          </a:prstGeom>
          <a:solidFill>
            <a:srgbClr val="161D2A"/>
          </a:solidFill>
          <a:ln w="9525">
            <a:solidFill>
              <a:srgbClr val="222C3E"/>
            </a:solidFill>
            <a:prstDash val="solid"/>
          </a:ln>
        </p:spPr>
      </p:sp>
      <p:sp>
        <p:nvSpPr>
          <p:cNvPr id="31" name="Text 29"/>
          <p:cNvSpPr txBox="1"/>
          <p:nvPr/>
        </p:nvSpPr>
        <p:spPr>
          <a:xfrm>
            <a:off x="905256" y="4956048"/>
            <a:ext cx="640080" cy="43891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G07</a:t>
            </a:r>
            <a:endParaRPr lang="en-US" sz="1250" dirty="0"/>
          </a:p>
        </p:txBody>
      </p:sp>
      <p:sp>
        <p:nvSpPr>
          <p:cNvPr id="32" name="Text 30"/>
          <p:cNvSpPr txBox="1"/>
          <p:nvPr/>
        </p:nvSpPr>
        <p:spPr>
          <a:xfrm>
            <a:off x="1618488" y="4956048"/>
            <a:ext cx="4389120" cy="438912"/>
          </a:xfrm>
          <a:prstGeom prst="rect">
            <a:avLst/>
          </a:prstGeom>
          <a:noFill/>
          <a:ln/>
        </p:spPr>
        <p:txBody>
          <a:bodyPr wrap="square" lIns="0" tIns="0" rIns="0" bIns="0" rtlCol="0" anchor="ctr"/>
          <a:lstStyle/>
          <a:p>
            <a:pPr indent="0" marL="0">
              <a:buNone/>
            </a:pPr>
            <a:r>
              <a:rPr lang="en-US" sz="1300" dirty="0">
                <a:solidFill>
                  <a:srgbClr val="E9EDF3"/>
                </a:solidFill>
                <a:latin typeface="Calibri" pitchFamily="34" charset="0"/>
                <a:ea typeface="Calibri" pitchFamily="34" charset="-122"/>
                <a:cs typeface="Calibri" pitchFamily="34" charset="-120"/>
              </a:rPr>
              <a:t>Do not use GameObject.Find by name</a:t>
            </a:r>
            <a:endParaRPr lang="en-US" sz="1300" dirty="0"/>
          </a:p>
        </p:txBody>
      </p:sp>
      <p:sp>
        <p:nvSpPr>
          <p:cNvPr id="33" name="Text 31"/>
          <p:cNvSpPr txBox="1"/>
          <p:nvPr/>
        </p:nvSpPr>
        <p:spPr>
          <a:xfrm>
            <a:off x="6080760" y="4956048"/>
            <a:ext cx="694944" cy="43891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warn</a:t>
            </a:r>
            <a:endParaRPr lang="en-US" sz="1050" dirty="0"/>
          </a:p>
        </p:txBody>
      </p:sp>
      <p:sp>
        <p:nvSpPr>
          <p:cNvPr id="34" name="Shape 32"/>
          <p:cNvSpPr/>
          <p:nvPr/>
        </p:nvSpPr>
        <p:spPr>
          <a:xfrm>
            <a:off x="685800" y="5468112"/>
            <a:ext cx="6309360" cy="438912"/>
          </a:xfrm>
          <a:prstGeom prst="roundRect">
            <a:avLst>
              <a:gd name="adj" fmla="val 8333"/>
            </a:avLst>
          </a:prstGeom>
          <a:solidFill>
            <a:srgbClr val="161D2A"/>
          </a:solidFill>
          <a:ln w="9525">
            <a:solidFill>
              <a:srgbClr val="222C3E"/>
            </a:solidFill>
            <a:prstDash val="solid"/>
          </a:ln>
        </p:spPr>
      </p:sp>
      <p:sp>
        <p:nvSpPr>
          <p:cNvPr id="35" name="Text 33"/>
          <p:cNvSpPr txBox="1"/>
          <p:nvPr/>
        </p:nvSpPr>
        <p:spPr>
          <a:xfrm>
            <a:off x="905256" y="5468112"/>
            <a:ext cx="640080" cy="43891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G08</a:t>
            </a:r>
            <a:endParaRPr lang="en-US" sz="1250" dirty="0"/>
          </a:p>
        </p:txBody>
      </p:sp>
      <p:sp>
        <p:nvSpPr>
          <p:cNvPr id="36" name="Text 34"/>
          <p:cNvSpPr txBox="1"/>
          <p:nvPr/>
        </p:nvSpPr>
        <p:spPr>
          <a:xfrm>
            <a:off x="1618488" y="5468112"/>
            <a:ext cx="4389120" cy="438912"/>
          </a:xfrm>
          <a:prstGeom prst="rect">
            <a:avLst/>
          </a:prstGeom>
          <a:noFill/>
          <a:ln/>
        </p:spPr>
        <p:txBody>
          <a:bodyPr wrap="square" lIns="0" tIns="0" rIns="0" bIns="0" rtlCol="0" anchor="ctr"/>
          <a:lstStyle/>
          <a:p>
            <a:pPr indent="0" marL="0">
              <a:buNone/>
            </a:pPr>
            <a:r>
              <a:rPr lang="en-US" sz="1300" dirty="0">
                <a:solidFill>
                  <a:srgbClr val="E9EDF3"/>
                </a:solidFill>
                <a:latin typeface="Calibri" pitchFamily="34" charset="0"/>
                <a:ea typeface="Calibri" pitchFamily="34" charset="-122"/>
                <a:cs typeface="Calibri" pitchFamily="34" charset="-120"/>
              </a:rPr>
              <a:t>Take the debug logs out before saving</a:t>
            </a:r>
            <a:endParaRPr lang="en-US" sz="1300" dirty="0"/>
          </a:p>
        </p:txBody>
      </p:sp>
      <p:sp>
        <p:nvSpPr>
          <p:cNvPr id="37" name="Text 35"/>
          <p:cNvSpPr txBox="1"/>
          <p:nvPr/>
        </p:nvSpPr>
        <p:spPr>
          <a:xfrm>
            <a:off x="6080760" y="5468112"/>
            <a:ext cx="694944" cy="43891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warn</a:t>
            </a:r>
            <a:endParaRPr lang="en-US" sz="1050" dirty="0"/>
          </a:p>
        </p:txBody>
      </p:sp>
      <p:sp>
        <p:nvSpPr>
          <p:cNvPr id="38" name="Shape 36"/>
          <p:cNvSpPr/>
          <p:nvPr/>
        </p:nvSpPr>
        <p:spPr>
          <a:xfrm>
            <a:off x="7452360" y="1883664"/>
            <a:ext cx="4053535" cy="1371600"/>
          </a:xfrm>
          <a:prstGeom prst="roundRect">
            <a:avLst>
              <a:gd name="adj" fmla="val 4000"/>
            </a:avLst>
          </a:prstGeom>
          <a:solidFill>
            <a:srgbClr val="222C3E"/>
          </a:solidFill>
          <a:ln w="9525">
            <a:solidFill>
              <a:srgbClr val="222C3E"/>
            </a:solidFill>
            <a:prstDash val="solid"/>
          </a:ln>
        </p:spPr>
      </p:sp>
      <p:sp>
        <p:nvSpPr>
          <p:cNvPr id="39" name="Text 37"/>
          <p:cNvSpPr txBox="1"/>
          <p:nvPr/>
        </p:nvSpPr>
        <p:spPr>
          <a:xfrm>
            <a:off x="7726680" y="2029968"/>
            <a:ext cx="3504895" cy="310896"/>
          </a:xfrm>
          <a:prstGeom prst="rect">
            <a:avLst/>
          </a:prstGeom>
          <a:noFill/>
          <a:ln/>
        </p:spPr>
        <p:txBody>
          <a:bodyPr wrap="square" lIns="0" tIns="0" rIns="0" bIns="0" rtlCol="0" anchor="ctr"/>
          <a:lstStyle/>
          <a:p>
            <a:pPr indent="0" marL="0">
              <a:buNone/>
            </a:pPr>
            <a:r>
              <a:rPr lang="en-US" sz="1600" b="1" dirty="0">
                <a:solidFill>
                  <a:srgbClr val="A9C6E4"/>
                </a:solidFill>
                <a:latin typeface="Calibri" pitchFamily="34" charset="0"/>
                <a:ea typeface="Calibri" pitchFamily="34" charset="-122"/>
                <a:cs typeface="Calibri" pitchFamily="34" charset="-120"/>
              </a:rPr>
              <a:t>Plus 18 questions to answer</a:t>
            </a:r>
            <a:endParaRPr lang="en-US" sz="1600" dirty="0"/>
          </a:p>
        </p:txBody>
      </p:sp>
      <p:sp>
        <p:nvSpPr>
          <p:cNvPr id="40" name="Text 38"/>
          <p:cNvSpPr txBox="1"/>
          <p:nvPr/>
        </p:nvSpPr>
        <p:spPr>
          <a:xfrm>
            <a:off x="7726680" y="2395728"/>
            <a:ext cx="3504895" cy="749808"/>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The AI answers all 18 when it hands work in, and lists anything it decided by itself. Those decisions are usually where the next bug comes from.</a:t>
            </a:r>
            <a:endParaRPr lang="en-US" sz="1200" dirty="0"/>
          </a:p>
        </p:txBody>
      </p:sp>
      <p:sp>
        <p:nvSpPr>
          <p:cNvPr id="41" name="Shape 39"/>
          <p:cNvSpPr/>
          <p:nvPr/>
        </p:nvSpPr>
        <p:spPr>
          <a:xfrm>
            <a:off x="7452360" y="3401568"/>
            <a:ext cx="4053535" cy="1207008"/>
          </a:xfrm>
          <a:prstGeom prst="roundRect">
            <a:avLst>
              <a:gd name="adj" fmla="val 4545"/>
            </a:avLst>
          </a:prstGeom>
          <a:solidFill>
            <a:srgbClr val="161D2A"/>
          </a:solidFill>
          <a:ln w="9525">
            <a:solidFill>
              <a:srgbClr val="222C3E"/>
            </a:solidFill>
            <a:prstDash val="solid"/>
          </a:ln>
        </p:spPr>
      </p:sp>
      <p:sp>
        <p:nvSpPr>
          <p:cNvPr id="42" name="Text 40"/>
          <p:cNvSpPr txBox="1"/>
          <p:nvPr/>
        </p:nvSpPr>
        <p:spPr>
          <a:xfrm>
            <a:off x="7726680" y="3547872"/>
            <a:ext cx="3504895" cy="310896"/>
          </a:xfrm>
          <a:prstGeom prst="rect">
            <a:avLst/>
          </a:prstGeom>
          <a:noFill/>
          <a:ln/>
        </p:spPr>
        <p:txBody>
          <a:bodyPr wrap="square" lIns="0" tIns="0" rIns="0" bIns="0" rtlCol="0" anchor="ctr"/>
          <a:lstStyle/>
          <a:p>
            <a:pPr indent="0" marL="0">
              <a:buNone/>
            </a:pPr>
            <a:r>
              <a:rPr lang="en-US" sz="1500" b="1" dirty="0">
                <a:solidFill>
                  <a:srgbClr val="E9EDF3"/>
                </a:solidFill>
                <a:latin typeface="Calibri" pitchFamily="34" charset="0"/>
                <a:ea typeface="Calibri" pitchFamily="34" charset="-122"/>
                <a:cs typeface="Calibri" pitchFamily="34" charset="-120"/>
              </a:rPr>
              <a:t>The auto check wins</a:t>
            </a:r>
            <a:endParaRPr lang="en-US" sz="1500" dirty="0"/>
          </a:p>
        </p:txBody>
      </p:sp>
      <p:sp>
        <p:nvSpPr>
          <p:cNvPr id="43" name="Text 41"/>
          <p:cNvSpPr txBox="1"/>
          <p:nvPr/>
        </p:nvSpPr>
        <p:spPr>
          <a:xfrm>
            <a:off x="7726680" y="3895344"/>
            <a:ext cx="3504895" cy="603504"/>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The self check is what the AI says about itself. The auto check reads the real code.</a:t>
            </a:r>
            <a:endParaRPr lang="en-US" sz="1200" dirty="0"/>
          </a:p>
        </p:txBody>
      </p:sp>
      <p:sp>
        <p:nvSpPr>
          <p:cNvPr id="44" name="Shape 42"/>
          <p:cNvSpPr/>
          <p:nvPr/>
        </p:nvSpPr>
        <p:spPr>
          <a:xfrm>
            <a:off x="7452360" y="4754880"/>
            <a:ext cx="4053535" cy="1207008"/>
          </a:xfrm>
          <a:prstGeom prst="roundRect">
            <a:avLst>
              <a:gd name="adj" fmla="val 4545"/>
            </a:avLst>
          </a:prstGeom>
          <a:solidFill>
            <a:srgbClr val="161D2A"/>
          </a:solidFill>
          <a:ln w="9525">
            <a:solidFill>
              <a:srgbClr val="222C3E"/>
            </a:solidFill>
            <a:prstDash val="solid"/>
          </a:ln>
        </p:spPr>
      </p:sp>
      <p:sp>
        <p:nvSpPr>
          <p:cNvPr id="45" name="Text 43"/>
          <p:cNvSpPr txBox="1"/>
          <p:nvPr/>
        </p:nvSpPr>
        <p:spPr>
          <a:xfrm>
            <a:off x="7726680" y="4882896"/>
            <a:ext cx="3504895" cy="329184"/>
          </a:xfrm>
          <a:prstGeom prst="rect">
            <a:avLst/>
          </a:prstGeom>
          <a:noFill/>
          <a:ln/>
        </p:spPr>
        <p:txBody>
          <a:bodyPr wrap="square" lIns="0" tIns="0" rIns="0" bIns="0" rtlCol="0" anchor="ctr"/>
          <a:lstStyle/>
          <a:p>
            <a:pPr indent="0" marL="0">
              <a:buNone/>
            </a:pPr>
            <a:r>
              <a:rPr lang="en-US" sz="1450" b="1" dirty="0">
                <a:solidFill>
                  <a:srgbClr val="E0505E"/>
                </a:solidFill>
                <a:latin typeface="Calibri" pitchFamily="34" charset="0"/>
                <a:ea typeface="Calibri" pitchFamily="34" charset="-122"/>
                <a:cs typeface="Calibri" pitchFamily="34" charset="-120"/>
              </a:rPr>
              <a:t>A check must not blame good code</a:t>
            </a:r>
            <a:endParaRPr lang="en-US" sz="1450" dirty="0"/>
          </a:p>
        </p:txBody>
      </p:sp>
      <p:sp>
        <p:nvSpPr>
          <p:cNvPr id="46" name="Text 44"/>
          <p:cNvSpPr txBox="1"/>
          <p:nvPr/>
        </p:nvSpPr>
        <p:spPr>
          <a:xfrm>
            <a:off x="7726680" y="5248656"/>
            <a:ext cx="3504895" cy="621792"/>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Our first version found 2 errors and 15 warnings in code that was fine. All of them were wrong, and that wastes a whole round of work.</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14 — NUMBERS</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14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Eight days, in numbers</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You can check every one of these in our repository</a:t>
            </a:r>
            <a:endParaRPr lang="en-US" sz="1450" dirty="0"/>
          </a:p>
        </p:txBody>
      </p:sp>
      <p:sp>
        <p:nvSpPr>
          <p:cNvPr id="6" name="Shape 4"/>
          <p:cNvSpPr/>
          <p:nvPr/>
        </p:nvSpPr>
        <p:spPr>
          <a:xfrm>
            <a:off x="685800" y="1920240"/>
            <a:ext cx="3387242" cy="1792224"/>
          </a:xfrm>
          <a:prstGeom prst="roundRect">
            <a:avLst>
              <a:gd name="adj" fmla="val 3061"/>
            </a:avLst>
          </a:prstGeom>
          <a:solidFill>
            <a:srgbClr val="161D2A"/>
          </a:solidFill>
          <a:ln w="9525">
            <a:solidFill>
              <a:srgbClr val="222C3E"/>
            </a:solidFill>
            <a:prstDash val="solid"/>
          </a:ln>
        </p:spPr>
      </p:sp>
      <p:sp>
        <p:nvSpPr>
          <p:cNvPr id="7" name="Text 5"/>
          <p:cNvSpPr txBox="1"/>
          <p:nvPr/>
        </p:nvSpPr>
        <p:spPr>
          <a:xfrm>
            <a:off x="960120" y="2084832"/>
            <a:ext cx="2838602" cy="786384"/>
          </a:xfrm>
          <a:prstGeom prst="rect">
            <a:avLst/>
          </a:prstGeom>
          <a:noFill/>
          <a:ln/>
        </p:spPr>
        <p:txBody>
          <a:bodyPr wrap="square" lIns="0" tIns="0" rIns="0" bIns="0" rtlCol="0" anchor="ctr"/>
          <a:lstStyle/>
          <a:p>
            <a:pPr indent="0" marL="0">
              <a:buNone/>
            </a:pPr>
            <a:r>
              <a:rPr lang="en-US" sz="4800" b="1" dirty="0">
                <a:solidFill>
                  <a:srgbClr val="A9C6E4"/>
                </a:solidFill>
                <a:latin typeface="Cambria" pitchFamily="34" charset="0"/>
                <a:ea typeface="Cambria" pitchFamily="34" charset="-122"/>
                <a:cs typeface="Cambria" pitchFamily="34" charset="-120"/>
              </a:rPr>
              <a:t>59</a:t>
            </a:r>
            <a:endParaRPr lang="en-US" sz="4800" dirty="0"/>
          </a:p>
        </p:txBody>
      </p:sp>
      <p:sp>
        <p:nvSpPr>
          <p:cNvPr id="8" name="Text 6"/>
          <p:cNvSpPr txBox="1"/>
          <p:nvPr/>
        </p:nvSpPr>
        <p:spPr>
          <a:xfrm>
            <a:off x="960120" y="2871216"/>
            <a:ext cx="2838602" cy="310896"/>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task specs</a:t>
            </a:r>
            <a:endParaRPr lang="en-US" sz="1550" dirty="0"/>
          </a:p>
        </p:txBody>
      </p:sp>
      <p:sp>
        <p:nvSpPr>
          <p:cNvPr id="9" name="Text 7"/>
          <p:cNvSpPr txBox="1"/>
          <p:nvPr/>
        </p:nvSpPr>
        <p:spPr>
          <a:xfrm>
            <a:off x="960120" y="3200400"/>
            <a:ext cx="2838602"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Each one lists the files, the numbers, and how we would test it</a:t>
            </a:r>
            <a:endParaRPr lang="en-US" sz="1150" dirty="0"/>
          </a:p>
        </p:txBody>
      </p:sp>
      <p:sp>
        <p:nvSpPr>
          <p:cNvPr id="10" name="Shape 8"/>
          <p:cNvSpPr/>
          <p:nvPr/>
        </p:nvSpPr>
        <p:spPr>
          <a:xfrm>
            <a:off x="4402226" y="1920240"/>
            <a:ext cx="3387242" cy="1792224"/>
          </a:xfrm>
          <a:prstGeom prst="roundRect">
            <a:avLst>
              <a:gd name="adj" fmla="val 3061"/>
            </a:avLst>
          </a:prstGeom>
          <a:solidFill>
            <a:srgbClr val="161D2A"/>
          </a:solidFill>
          <a:ln w="9525">
            <a:solidFill>
              <a:srgbClr val="222C3E"/>
            </a:solidFill>
            <a:prstDash val="solid"/>
          </a:ln>
        </p:spPr>
      </p:sp>
      <p:sp>
        <p:nvSpPr>
          <p:cNvPr id="11" name="Text 9"/>
          <p:cNvSpPr txBox="1"/>
          <p:nvPr/>
        </p:nvSpPr>
        <p:spPr>
          <a:xfrm>
            <a:off x="4676546" y="2084832"/>
            <a:ext cx="2838602" cy="786384"/>
          </a:xfrm>
          <a:prstGeom prst="rect">
            <a:avLst/>
          </a:prstGeom>
          <a:noFill/>
          <a:ln/>
        </p:spPr>
        <p:txBody>
          <a:bodyPr wrap="square" lIns="0" tIns="0" rIns="0" bIns="0" rtlCol="0" anchor="ctr"/>
          <a:lstStyle/>
          <a:p>
            <a:pPr indent="0" marL="0">
              <a:buNone/>
            </a:pPr>
            <a:r>
              <a:rPr lang="en-US" sz="4800" b="1" dirty="0">
                <a:solidFill>
                  <a:srgbClr val="A9C6E4"/>
                </a:solidFill>
                <a:latin typeface="Cambria" pitchFamily="34" charset="0"/>
                <a:ea typeface="Cambria" pitchFamily="34" charset="-122"/>
                <a:cs typeface="Cambria" pitchFamily="34" charset="-120"/>
              </a:rPr>
              <a:t>58</a:t>
            </a:r>
            <a:endParaRPr lang="en-US" sz="4800" dirty="0"/>
          </a:p>
        </p:txBody>
      </p:sp>
      <p:sp>
        <p:nvSpPr>
          <p:cNvPr id="12" name="Text 10"/>
          <p:cNvSpPr txBox="1"/>
          <p:nvPr/>
        </p:nvSpPr>
        <p:spPr>
          <a:xfrm>
            <a:off x="4676546" y="2871216"/>
            <a:ext cx="2838602" cy="310896"/>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tool runs</a:t>
            </a:r>
            <a:endParaRPr lang="en-US" sz="1550" dirty="0"/>
          </a:p>
        </p:txBody>
      </p:sp>
      <p:sp>
        <p:nvSpPr>
          <p:cNvPr id="13" name="Text 11"/>
          <p:cNvSpPr txBox="1"/>
          <p:nvPr/>
        </p:nvSpPr>
        <p:spPr>
          <a:xfrm>
            <a:off x="4676546" y="3200400"/>
            <a:ext cx="2838602"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Auto check, build and self check, all the way through</a:t>
            </a:r>
            <a:endParaRPr lang="en-US" sz="1150" dirty="0"/>
          </a:p>
        </p:txBody>
      </p:sp>
      <p:sp>
        <p:nvSpPr>
          <p:cNvPr id="14" name="Shape 12"/>
          <p:cNvSpPr/>
          <p:nvPr/>
        </p:nvSpPr>
        <p:spPr>
          <a:xfrm>
            <a:off x="8118653" y="1920240"/>
            <a:ext cx="3387242" cy="1792224"/>
          </a:xfrm>
          <a:prstGeom prst="roundRect">
            <a:avLst>
              <a:gd name="adj" fmla="val 3061"/>
            </a:avLst>
          </a:prstGeom>
          <a:solidFill>
            <a:srgbClr val="161D2A"/>
          </a:solidFill>
          <a:ln w="9525">
            <a:solidFill>
              <a:srgbClr val="222C3E"/>
            </a:solidFill>
            <a:prstDash val="solid"/>
          </a:ln>
        </p:spPr>
      </p:sp>
      <p:sp>
        <p:nvSpPr>
          <p:cNvPr id="15" name="Text 13"/>
          <p:cNvSpPr txBox="1"/>
          <p:nvPr/>
        </p:nvSpPr>
        <p:spPr>
          <a:xfrm>
            <a:off x="8392973" y="2084832"/>
            <a:ext cx="2838602" cy="786384"/>
          </a:xfrm>
          <a:prstGeom prst="rect">
            <a:avLst/>
          </a:prstGeom>
          <a:noFill/>
          <a:ln/>
        </p:spPr>
        <p:txBody>
          <a:bodyPr wrap="square" lIns="0" tIns="0" rIns="0" bIns="0" rtlCol="0" anchor="ctr"/>
          <a:lstStyle/>
          <a:p>
            <a:pPr indent="0" marL="0">
              <a:buNone/>
            </a:pPr>
            <a:r>
              <a:rPr lang="en-US" sz="4800" b="1" dirty="0">
                <a:solidFill>
                  <a:srgbClr val="A9C6E4"/>
                </a:solidFill>
                <a:latin typeface="Cambria" pitchFamily="34" charset="0"/>
                <a:ea typeface="Cambria" pitchFamily="34" charset="-122"/>
                <a:cs typeface="Cambria" pitchFamily="34" charset="-120"/>
              </a:rPr>
              <a:t>182</a:t>
            </a:r>
            <a:endParaRPr lang="en-US" sz="4800" dirty="0"/>
          </a:p>
        </p:txBody>
      </p:sp>
      <p:sp>
        <p:nvSpPr>
          <p:cNvPr id="16" name="Text 14"/>
          <p:cNvSpPr txBox="1"/>
          <p:nvPr/>
        </p:nvSpPr>
        <p:spPr>
          <a:xfrm>
            <a:off x="8392973" y="2871216"/>
            <a:ext cx="2838602" cy="310896"/>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commits</a:t>
            </a:r>
            <a:endParaRPr lang="en-US" sz="1550" dirty="0"/>
          </a:p>
        </p:txBody>
      </p:sp>
      <p:sp>
        <p:nvSpPr>
          <p:cNvPr id="17" name="Text 15"/>
          <p:cNvSpPr txBox="1"/>
          <p:nvPr/>
        </p:nvSpPr>
        <p:spPr>
          <a:xfrm>
            <a:off x="8392973" y="3200400"/>
            <a:ext cx="2838602"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We kept code, scene and documents in separate commits</a:t>
            </a:r>
            <a:endParaRPr lang="en-US" sz="1150" dirty="0"/>
          </a:p>
        </p:txBody>
      </p:sp>
      <p:sp>
        <p:nvSpPr>
          <p:cNvPr id="18" name="Shape 16"/>
          <p:cNvSpPr/>
          <p:nvPr/>
        </p:nvSpPr>
        <p:spPr>
          <a:xfrm>
            <a:off x="685800" y="3913632"/>
            <a:ext cx="3387242" cy="1792224"/>
          </a:xfrm>
          <a:prstGeom prst="roundRect">
            <a:avLst>
              <a:gd name="adj" fmla="val 3061"/>
            </a:avLst>
          </a:prstGeom>
          <a:solidFill>
            <a:srgbClr val="161D2A"/>
          </a:solidFill>
          <a:ln w="9525">
            <a:solidFill>
              <a:srgbClr val="222C3E"/>
            </a:solidFill>
            <a:prstDash val="solid"/>
          </a:ln>
        </p:spPr>
      </p:sp>
      <p:sp>
        <p:nvSpPr>
          <p:cNvPr id="19" name="Text 17"/>
          <p:cNvSpPr txBox="1"/>
          <p:nvPr/>
        </p:nvSpPr>
        <p:spPr>
          <a:xfrm>
            <a:off x="960120" y="4078224"/>
            <a:ext cx="2838602" cy="786384"/>
          </a:xfrm>
          <a:prstGeom prst="rect">
            <a:avLst/>
          </a:prstGeom>
          <a:noFill/>
          <a:ln/>
        </p:spPr>
        <p:txBody>
          <a:bodyPr wrap="square" lIns="0" tIns="0" rIns="0" bIns="0" rtlCol="0" anchor="ctr"/>
          <a:lstStyle/>
          <a:p>
            <a:pPr indent="0" marL="0">
              <a:buNone/>
            </a:pPr>
            <a:r>
              <a:rPr lang="en-US" sz="4800" b="1" dirty="0">
                <a:solidFill>
                  <a:srgbClr val="A9C6E4"/>
                </a:solidFill>
                <a:latin typeface="Cambria" pitchFamily="34" charset="0"/>
                <a:ea typeface="Cambria" pitchFamily="34" charset="-122"/>
                <a:cs typeface="Cambria" pitchFamily="34" charset="-120"/>
              </a:rPr>
              <a:t>43</a:t>
            </a:r>
            <a:endParaRPr lang="en-US" sz="4800" dirty="0"/>
          </a:p>
        </p:txBody>
      </p:sp>
      <p:sp>
        <p:nvSpPr>
          <p:cNvPr id="20" name="Text 18"/>
          <p:cNvSpPr txBox="1"/>
          <p:nvPr/>
        </p:nvSpPr>
        <p:spPr>
          <a:xfrm>
            <a:off x="960120" y="4864608"/>
            <a:ext cx="2838602" cy="310896"/>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C# scripts</a:t>
            </a:r>
            <a:endParaRPr lang="en-US" sz="1550" dirty="0"/>
          </a:p>
        </p:txBody>
      </p:sp>
      <p:sp>
        <p:nvSpPr>
          <p:cNvPr id="21" name="Text 19"/>
          <p:cNvSpPr txBox="1"/>
          <p:nvPr/>
        </p:nvSpPr>
        <p:spPr>
          <a:xfrm>
            <a:off x="960120" y="5193792"/>
            <a:ext cx="2838602"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34 in the game, plus 9 editor tools we wrote to help us</a:t>
            </a:r>
            <a:endParaRPr lang="en-US" sz="1150" dirty="0"/>
          </a:p>
        </p:txBody>
      </p:sp>
      <p:sp>
        <p:nvSpPr>
          <p:cNvPr id="22" name="Shape 20"/>
          <p:cNvSpPr/>
          <p:nvPr/>
        </p:nvSpPr>
        <p:spPr>
          <a:xfrm>
            <a:off x="4402226" y="3913632"/>
            <a:ext cx="3387242" cy="1792224"/>
          </a:xfrm>
          <a:prstGeom prst="roundRect">
            <a:avLst>
              <a:gd name="adj" fmla="val 3061"/>
            </a:avLst>
          </a:prstGeom>
          <a:solidFill>
            <a:srgbClr val="161D2A"/>
          </a:solidFill>
          <a:ln w="9525">
            <a:solidFill>
              <a:srgbClr val="222C3E"/>
            </a:solidFill>
            <a:prstDash val="solid"/>
          </a:ln>
        </p:spPr>
      </p:sp>
      <p:sp>
        <p:nvSpPr>
          <p:cNvPr id="23" name="Text 21"/>
          <p:cNvSpPr txBox="1"/>
          <p:nvPr/>
        </p:nvSpPr>
        <p:spPr>
          <a:xfrm>
            <a:off x="4676546" y="4078224"/>
            <a:ext cx="2838602" cy="786384"/>
          </a:xfrm>
          <a:prstGeom prst="rect">
            <a:avLst/>
          </a:prstGeom>
          <a:noFill/>
          <a:ln/>
        </p:spPr>
        <p:txBody>
          <a:bodyPr wrap="square" lIns="0" tIns="0" rIns="0" bIns="0" rtlCol="0" anchor="ctr"/>
          <a:lstStyle/>
          <a:p>
            <a:pPr indent="0" marL="0">
              <a:buNone/>
            </a:pPr>
            <a:r>
              <a:rPr lang="en-US" sz="4800" b="1" dirty="0">
                <a:solidFill>
                  <a:srgbClr val="A9C6E4"/>
                </a:solidFill>
                <a:latin typeface="Cambria" pitchFamily="34" charset="0"/>
                <a:ea typeface="Cambria" pitchFamily="34" charset="-122"/>
                <a:cs typeface="Cambria" pitchFamily="34" charset="-120"/>
              </a:rPr>
              <a:t>16,467</a:t>
            </a:r>
            <a:endParaRPr lang="en-US" sz="4800" dirty="0"/>
          </a:p>
        </p:txBody>
      </p:sp>
      <p:sp>
        <p:nvSpPr>
          <p:cNvPr id="24" name="Text 22"/>
          <p:cNvSpPr txBox="1"/>
          <p:nvPr/>
        </p:nvSpPr>
        <p:spPr>
          <a:xfrm>
            <a:off x="4676546" y="4864608"/>
            <a:ext cx="2838602" cy="310896"/>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lines of C#</a:t>
            </a:r>
            <a:endParaRPr lang="en-US" sz="1550" dirty="0"/>
          </a:p>
        </p:txBody>
      </p:sp>
      <p:sp>
        <p:nvSpPr>
          <p:cNvPr id="25" name="Text 23"/>
          <p:cNvSpPr txBox="1"/>
          <p:nvPr/>
        </p:nvSpPr>
        <p:spPr>
          <a:xfrm>
            <a:off x="4676546" y="5193792"/>
            <a:ext cx="2838602"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The AI wrote the game code, inside the rules we set</a:t>
            </a:r>
            <a:endParaRPr lang="en-US" sz="1150" dirty="0"/>
          </a:p>
        </p:txBody>
      </p:sp>
      <p:sp>
        <p:nvSpPr>
          <p:cNvPr id="26" name="Shape 24"/>
          <p:cNvSpPr/>
          <p:nvPr/>
        </p:nvSpPr>
        <p:spPr>
          <a:xfrm>
            <a:off x="8118653" y="3913632"/>
            <a:ext cx="3387242" cy="1792224"/>
          </a:xfrm>
          <a:prstGeom prst="roundRect">
            <a:avLst>
              <a:gd name="adj" fmla="val 3061"/>
            </a:avLst>
          </a:prstGeom>
          <a:solidFill>
            <a:srgbClr val="161D2A"/>
          </a:solidFill>
          <a:ln w="9525">
            <a:solidFill>
              <a:srgbClr val="222C3E"/>
            </a:solidFill>
            <a:prstDash val="solid"/>
          </a:ln>
        </p:spPr>
      </p:sp>
      <p:sp>
        <p:nvSpPr>
          <p:cNvPr id="27" name="Text 25"/>
          <p:cNvSpPr txBox="1"/>
          <p:nvPr/>
        </p:nvSpPr>
        <p:spPr>
          <a:xfrm>
            <a:off x="8392973" y="4078224"/>
            <a:ext cx="2838602" cy="786384"/>
          </a:xfrm>
          <a:prstGeom prst="rect">
            <a:avLst/>
          </a:prstGeom>
          <a:noFill/>
          <a:ln/>
        </p:spPr>
        <p:txBody>
          <a:bodyPr wrap="square" lIns="0" tIns="0" rIns="0" bIns="0" rtlCol="0" anchor="ctr"/>
          <a:lstStyle/>
          <a:p>
            <a:pPr indent="0" marL="0">
              <a:buNone/>
            </a:pPr>
            <a:r>
              <a:rPr lang="en-US" sz="4800" b="1" dirty="0">
                <a:solidFill>
                  <a:srgbClr val="A9C6E4"/>
                </a:solidFill>
                <a:latin typeface="Cambria" pitchFamily="34" charset="0"/>
                <a:ea typeface="Cambria" pitchFamily="34" charset="-122"/>
                <a:cs typeface="Cambria" pitchFamily="34" charset="-120"/>
              </a:rPr>
              <a:t>3,017</a:t>
            </a:r>
            <a:endParaRPr lang="en-US" sz="4800" dirty="0"/>
          </a:p>
        </p:txBody>
      </p:sp>
      <p:sp>
        <p:nvSpPr>
          <p:cNvPr id="28" name="Text 26"/>
          <p:cNvSpPr txBox="1"/>
          <p:nvPr/>
        </p:nvSpPr>
        <p:spPr>
          <a:xfrm>
            <a:off x="8392973" y="4864608"/>
            <a:ext cx="2838602" cy="310896"/>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lines of documents</a:t>
            </a:r>
            <a:endParaRPr lang="en-US" sz="1550" dirty="0"/>
          </a:p>
        </p:txBody>
      </p:sp>
      <p:sp>
        <p:nvSpPr>
          <p:cNvPr id="29" name="Text 27"/>
          <p:cNvSpPr txBox="1"/>
          <p:nvPr/>
        </p:nvSpPr>
        <p:spPr>
          <a:xfrm>
            <a:off x="8392973" y="5193792"/>
            <a:ext cx="2838602"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Design, plan, review steps, and a setup guide for the team</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15 — SCHEDULE</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15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Seven days, and two cut-off days</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If we missed a date, we cut features. We did not stay up all night.</a:t>
            </a:r>
            <a:endParaRPr lang="en-US" sz="1450" dirty="0"/>
          </a:p>
        </p:txBody>
      </p:sp>
      <p:sp>
        <p:nvSpPr>
          <p:cNvPr id="6" name="Shape 4"/>
          <p:cNvSpPr/>
          <p:nvPr/>
        </p:nvSpPr>
        <p:spPr>
          <a:xfrm>
            <a:off x="685800" y="1883664"/>
            <a:ext cx="10820095" cy="484632"/>
          </a:xfrm>
          <a:prstGeom prst="roundRect">
            <a:avLst>
              <a:gd name="adj" fmla="val 7547"/>
            </a:avLst>
          </a:prstGeom>
          <a:solidFill>
            <a:srgbClr val="161D2A"/>
          </a:solidFill>
          <a:ln w="9525">
            <a:solidFill>
              <a:srgbClr val="222C3E"/>
            </a:solidFill>
            <a:prstDash val="solid"/>
          </a:ln>
        </p:spPr>
      </p:sp>
      <p:sp>
        <p:nvSpPr>
          <p:cNvPr id="7" name="Text 5"/>
          <p:cNvSpPr txBox="1"/>
          <p:nvPr/>
        </p:nvSpPr>
        <p:spPr>
          <a:xfrm>
            <a:off x="941832" y="1883664"/>
            <a:ext cx="868680" cy="48463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Day 0</a:t>
            </a:r>
            <a:endParaRPr lang="en-US" sz="1250" dirty="0"/>
          </a:p>
        </p:txBody>
      </p:sp>
      <p:sp>
        <p:nvSpPr>
          <p:cNvPr id="8" name="Text 6"/>
          <p:cNvSpPr txBox="1"/>
          <p:nvPr/>
        </p:nvSpPr>
        <p:spPr>
          <a:xfrm>
            <a:off x="1920240" y="1883664"/>
            <a:ext cx="2286000" cy="484632"/>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Pitch and setup</a:t>
            </a:r>
            <a:endParaRPr lang="en-US" sz="1400" dirty="0"/>
          </a:p>
        </p:txBody>
      </p:sp>
      <p:sp>
        <p:nvSpPr>
          <p:cNvPr id="9" name="Text 7"/>
          <p:cNvSpPr txBox="1"/>
          <p:nvPr/>
        </p:nvSpPr>
        <p:spPr>
          <a:xfrm>
            <a:off x="4343400" y="1883664"/>
            <a:ext cx="5059375" cy="484632"/>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The project runs, and both of us can open it</a:t>
            </a:r>
            <a:endParaRPr lang="en-US" sz="1250" dirty="0"/>
          </a:p>
        </p:txBody>
      </p:sp>
      <p:sp>
        <p:nvSpPr>
          <p:cNvPr id="10" name="Shape 8"/>
          <p:cNvSpPr/>
          <p:nvPr/>
        </p:nvSpPr>
        <p:spPr>
          <a:xfrm>
            <a:off x="685800" y="2418588"/>
            <a:ext cx="10820095" cy="484632"/>
          </a:xfrm>
          <a:prstGeom prst="roundRect">
            <a:avLst>
              <a:gd name="adj" fmla="val 7547"/>
            </a:avLst>
          </a:prstGeom>
          <a:solidFill>
            <a:srgbClr val="161D2A"/>
          </a:solidFill>
          <a:ln w="9525">
            <a:solidFill>
              <a:srgbClr val="222C3E"/>
            </a:solidFill>
            <a:prstDash val="solid"/>
          </a:ln>
        </p:spPr>
      </p:sp>
      <p:sp>
        <p:nvSpPr>
          <p:cNvPr id="11" name="Text 9"/>
          <p:cNvSpPr txBox="1"/>
          <p:nvPr/>
        </p:nvSpPr>
        <p:spPr>
          <a:xfrm>
            <a:off x="941832" y="2418588"/>
            <a:ext cx="868680" cy="48463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Day 1</a:t>
            </a:r>
            <a:endParaRPr lang="en-US" sz="1250" dirty="0"/>
          </a:p>
        </p:txBody>
      </p:sp>
      <p:sp>
        <p:nvSpPr>
          <p:cNvPr id="12" name="Text 10"/>
          <p:cNvSpPr txBox="1"/>
          <p:nvPr/>
        </p:nvSpPr>
        <p:spPr>
          <a:xfrm>
            <a:off x="1920240" y="2418588"/>
            <a:ext cx="2286000" cy="484632"/>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Walk and look</a:t>
            </a:r>
            <a:endParaRPr lang="en-US" sz="1400" dirty="0"/>
          </a:p>
        </p:txBody>
      </p:sp>
      <p:sp>
        <p:nvSpPr>
          <p:cNvPr id="13" name="Text 11"/>
          <p:cNvSpPr txBox="1"/>
          <p:nvPr/>
        </p:nvSpPr>
        <p:spPr>
          <a:xfrm>
            <a:off x="4343400" y="2418588"/>
            <a:ext cx="5059375" cy="484632"/>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First-person movement, doors, and the AI path map</a:t>
            </a:r>
            <a:endParaRPr lang="en-US" sz="1250" dirty="0"/>
          </a:p>
        </p:txBody>
      </p:sp>
      <p:sp>
        <p:nvSpPr>
          <p:cNvPr id="14" name="Shape 12"/>
          <p:cNvSpPr/>
          <p:nvPr/>
        </p:nvSpPr>
        <p:spPr>
          <a:xfrm>
            <a:off x="685800" y="2953512"/>
            <a:ext cx="10820095" cy="484632"/>
          </a:xfrm>
          <a:prstGeom prst="roundRect">
            <a:avLst>
              <a:gd name="adj" fmla="val 7547"/>
            </a:avLst>
          </a:prstGeom>
          <a:solidFill>
            <a:srgbClr val="161D2A"/>
          </a:solidFill>
          <a:ln w="9525">
            <a:solidFill>
              <a:srgbClr val="222C3E"/>
            </a:solidFill>
            <a:prstDash val="solid"/>
          </a:ln>
        </p:spPr>
      </p:sp>
      <p:sp>
        <p:nvSpPr>
          <p:cNvPr id="15" name="Text 13"/>
          <p:cNvSpPr txBox="1"/>
          <p:nvPr/>
        </p:nvSpPr>
        <p:spPr>
          <a:xfrm>
            <a:off x="941832" y="2953512"/>
            <a:ext cx="868680" cy="48463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Day 2</a:t>
            </a:r>
            <a:endParaRPr lang="en-US" sz="1250" dirty="0"/>
          </a:p>
        </p:txBody>
      </p:sp>
      <p:sp>
        <p:nvSpPr>
          <p:cNvPr id="16" name="Text 14"/>
          <p:cNvSpPr txBox="1"/>
          <p:nvPr/>
        </p:nvSpPr>
        <p:spPr>
          <a:xfrm>
            <a:off x="1920240" y="2953512"/>
            <a:ext cx="2286000" cy="484632"/>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Tools in hand</a:t>
            </a:r>
            <a:endParaRPr lang="en-US" sz="1400" dirty="0"/>
          </a:p>
        </p:txBody>
      </p:sp>
      <p:sp>
        <p:nvSpPr>
          <p:cNvPr id="17" name="Text 15"/>
          <p:cNvSpPr txBox="1"/>
          <p:nvPr/>
        </p:nvSpPr>
        <p:spPr>
          <a:xfrm>
            <a:off x="4343400" y="2953512"/>
            <a:ext cx="5059375" cy="484632"/>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Tool slots, flashlight, rooms, and the on-screen display</a:t>
            </a:r>
            <a:endParaRPr lang="en-US" sz="1250" dirty="0"/>
          </a:p>
        </p:txBody>
      </p:sp>
      <p:sp>
        <p:nvSpPr>
          <p:cNvPr id="18" name="Shape 16"/>
          <p:cNvSpPr/>
          <p:nvPr/>
        </p:nvSpPr>
        <p:spPr>
          <a:xfrm>
            <a:off x="685800" y="3488436"/>
            <a:ext cx="10820095" cy="484632"/>
          </a:xfrm>
          <a:prstGeom prst="roundRect">
            <a:avLst>
              <a:gd name="adj" fmla="val 7547"/>
            </a:avLst>
          </a:prstGeom>
          <a:solidFill>
            <a:srgbClr val="2A1519"/>
          </a:solidFill>
          <a:ln w="13970">
            <a:solidFill>
              <a:srgbClr val="B3202E"/>
            </a:solidFill>
            <a:prstDash val="solid"/>
          </a:ln>
        </p:spPr>
      </p:sp>
      <p:sp>
        <p:nvSpPr>
          <p:cNvPr id="19" name="Text 17"/>
          <p:cNvSpPr txBox="1"/>
          <p:nvPr/>
        </p:nvSpPr>
        <p:spPr>
          <a:xfrm>
            <a:off x="941832" y="3488436"/>
            <a:ext cx="868680" cy="484632"/>
          </a:xfrm>
          <a:prstGeom prst="rect">
            <a:avLst/>
          </a:prstGeom>
          <a:noFill/>
          <a:ln/>
        </p:spPr>
        <p:txBody>
          <a:bodyPr wrap="square" lIns="0" tIns="0" rIns="0" bIns="0" rtlCol="0" anchor="ctr"/>
          <a:lstStyle/>
          <a:p>
            <a:pPr indent="0" marL="0">
              <a:buNone/>
            </a:pPr>
            <a:r>
              <a:rPr lang="en-US" sz="1250" b="1" dirty="0">
                <a:solidFill>
                  <a:srgbClr val="E0505E"/>
                </a:solidFill>
                <a:latin typeface="Courier New" pitchFamily="34" charset="0"/>
                <a:ea typeface="Courier New" pitchFamily="34" charset="-122"/>
                <a:cs typeface="Courier New" pitchFamily="34" charset="-120"/>
              </a:rPr>
              <a:t>Day 3</a:t>
            </a:r>
            <a:endParaRPr lang="en-US" sz="1250" dirty="0"/>
          </a:p>
        </p:txBody>
      </p:sp>
      <p:sp>
        <p:nvSpPr>
          <p:cNvPr id="20" name="Text 18"/>
          <p:cNvSpPr txBox="1"/>
          <p:nvPr/>
        </p:nvSpPr>
        <p:spPr>
          <a:xfrm>
            <a:off x="1920240" y="3488436"/>
            <a:ext cx="2286000" cy="484632"/>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Clues work</a:t>
            </a:r>
            <a:endParaRPr lang="en-US" sz="1400" dirty="0"/>
          </a:p>
        </p:txBody>
      </p:sp>
      <p:sp>
        <p:nvSpPr>
          <p:cNvPr id="21" name="Text 19"/>
          <p:cNvSpPr txBox="1"/>
          <p:nvPr/>
        </p:nvSpPr>
        <p:spPr>
          <a:xfrm>
            <a:off x="4343400" y="3488436"/>
            <a:ext cx="5059375" cy="484632"/>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EMF, UV prints, ghost writing, and the clue tracker</a:t>
            </a:r>
            <a:endParaRPr lang="en-US" sz="1250" dirty="0"/>
          </a:p>
        </p:txBody>
      </p:sp>
      <p:sp>
        <p:nvSpPr>
          <p:cNvPr id="22" name="Text 20"/>
          <p:cNvSpPr txBox="1"/>
          <p:nvPr/>
        </p:nvSpPr>
        <p:spPr>
          <a:xfrm>
            <a:off x="9585655" y="3488436"/>
            <a:ext cx="1682496" cy="484632"/>
          </a:xfrm>
          <a:prstGeom prst="rect">
            <a:avLst/>
          </a:prstGeom>
          <a:noFill/>
          <a:ln/>
        </p:spPr>
        <p:txBody>
          <a:bodyPr wrap="square" lIns="0" tIns="0" rIns="0" bIns="0" rtlCol="0" anchor="ctr"/>
          <a:lstStyle/>
          <a:p>
            <a:pPr algn="r" indent="0" marL="0">
              <a:buNone/>
            </a:pPr>
            <a:r>
              <a:rPr lang="en-US" sz="1150" b="1" dirty="0">
                <a:solidFill>
                  <a:srgbClr val="E0505E"/>
                </a:solidFill>
                <a:latin typeface="Courier New" pitchFamily="34" charset="0"/>
                <a:ea typeface="Courier New" pitchFamily="34" charset="-122"/>
                <a:cs typeface="Courier New" pitchFamily="34" charset="-120"/>
              </a:rPr>
              <a:t>CUT-OFF DAY</a:t>
            </a:r>
            <a:endParaRPr lang="en-US" sz="1150" dirty="0"/>
          </a:p>
        </p:txBody>
      </p:sp>
      <p:sp>
        <p:nvSpPr>
          <p:cNvPr id="23" name="Shape 21"/>
          <p:cNvSpPr/>
          <p:nvPr/>
        </p:nvSpPr>
        <p:spPr>
          <a:xfrm>
            <a:off x="685800" y="4023360"/>
            <a:ext cx="10820095" cy="484632"/>
          </a:xfrm>
          <a:prstGeom prst="roundRect">
            <a:avLst>
              <a:gd name="adj" fmla="val 7547"/>
            </a:avLst>
          </a:prstGeom>
          <a:solidFill>
            <a:srgbClr val="2A1519"/>
          </a:solidFill>
          <a:ln w="13970">
            <a:solidFill>
              <a:srgbClr val="B3202E"/>
            </a:solidFill>
            <a:prstDash val="solid"/>
          </a:ln>
        </p:spPr>
      </p:sp>
      <p:sp>
        <p:nvSpPr>
          <p:cNvPr id="24" name="Text 22"/>
          <p:cNvSpPr txBox="1"/>
          <p:nvPr/>
        </p:nvSpPr>
        <p:spPr>
          <a:xfrm>
            <a:off x="941832" y="4023360"/>
            <a:ext cx="868680" cy="484632"/>
          </a:xfrm>
          <a:prstGeom prst="rect">
            <a:avLst/>
          </a:prstGeom>
          <a:noFill/>
          <a:ln/>
        </p:spPr>
        <p:txBody>
          <a:bodyPr wrap="square" lIns="0" tIns="0" rIns="0" bIns="0" rtlCol="0" anchor="ctr"/>
          <a:lstStyle/>
          <a:p>
            <a:pPr indent="0" marL="0">
              <a:buNone/>
            </a:pPr>
            <a:r>
              <a:rPr lang="en-US" sz="1250" b="1" dirty="0">
                <a:solidFill>
                  <a:srgbClr val="E0505E"/>
                </a:solidFill>
                <a:latin typeface="Courier New" pitchFamily="34" charset="0"/>
                <a:ea typeface="Courier New" pitchFamily="34" charset="-122"/>
                <a:cs typeface="Courier New" pitchFamily="34" charset="-120"/>
              </a:rPr>
              <a:t>Day 4</a:t>
            </a:r>
            <a:endParaRPr lang="en-US" sz="1250" dirty="0"/>
          </a:p>
        </p:txBody>
      </p:sp>
      <p:sp>
        <p:nvSpPr>
          <p:cNvPr id="25" name="Text 23"/>
          <p:cNvSpPr txBox="1"/>
          <p:nvPr/>
        </p:nvSpPr>
        <p:spPr>
          <a:xfrm>
            <a:off x="1920240" y="4023360"/>
            <a:ext cx="2286000" cy="484632"/>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The ghost</a:t>
            </a:r>
            <a:endParaRPr lang="en-US" sz="1400" dirty="0"/>
          </a:p>
        </p:txBody>
      </p:sp>
      <p:sp>
        <p:nvSpPr>
          <p:cNvPr id="26" name="Text 24"/>
          <p:cNvSpPr txBox="1"/>
          <p:nvPr/>
        </p:nvSpPr>
        <p:spPr>
          <a:xfrm>
            <a:off x="4343400" y="4023360"/>
            <a:ext cx="5059375" cy="484632"/>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Ghost AI and hunts — our hardest day by far</a:t>
            </a:r>
            <a:endParaRPr lang="en-US" sz="1250" dirty="0"/>
          </a:p>
        </p:txBody>
      </p:sp>
      <p:sp>
        <p:nvSpPr>
          <p:cNvPr id="27" name="Text 25"/>
          <p:cNvSpPr txBox="1"/>
          <p:nvPr/>
        </p:nvSpPr>
        <p:spPr>
          <a:xfrm>
            <a:off x="9585655" y="4023360"/>
            <a:ext cx="1682496" cy="484632"/>
          </a:xfrm>
          <a:prstGeom prst="rect">
            <a:avLst/>
          </a:prstGeom>
          <a:noFill/>
          <a:ln/>
        </p:spPr>
        <p:txBody>
          <a:bodyPr wrap="square" lIns="0" tIns="0" rIns="0" bIns="0" rtlCol="0" anchor="ctr"/>
          <a:lstStyle/>
          <a:p>
            <a:pPr algn="r" indent="0" marL="0">
              <a:buNone/>
            </a:pPr>
            <a:r>
              <a:rPr lang="en-US" sz="1150" b="1" dirty="0">
                <a:solidFill>
                  <a:srgbClr val="E0505E"/>
                </a:solidFill>
                <a:latin typeface="Courier New" pitchFamily="34" charset="0"/>
                <a:ea typeface="Courier New" pitchFamily="34" charset="-122"/>
                <a:cs typeface="Courier New" pitchFamily="34" charset="-120"/>
              </a:rPr>
              <a:t>CUT-OFF DAY</a:t>
            </a:r>
            <a:endParaRPr lang="en-US" sz="1150" dirty="0"/>
          </a:p>
        </p:txBody>
      </p:sp>
      <p:sp>
        <p:nvSpPr>
          <p:cNvPr id="28" name="Shape 26"/>
          <p:cNvSpPr/>
          <p:nvPr/>
        </p:nvSpPr>
        <p:spPr>
          <a:xfrm>
            <a:off x="685800" y="4558284"/>
            <a:ext cx="10820095" cy="484632"/>
          </a:xfrm>
          <a:prstGeom prst="roundRect">
            <a:avLst>
              <a:gd name="adj" fmla="val 7547"/>
            </a:avLst>
          </a:prstGeom>
          <a:solidFill>
            <a:srgbClr val="161D2A"/>
          </a:solidFill>
          <a:ln w="9525">
            <a:solidFill>
              <a:srgbClr val="222C3E"/>
            </a:solidFill>
            <a:prstDash val="solid"/>
          </a:ln>
        </p:spPr>
      </p:sp>
      <p:sp>
        <p:nvSpPr>
          <p:cNvPr id="29" name="Text 27"/>
          <p:cNvSpPr txBox="1"/>
          <p:nvPr/>
        </p:nvSpPr>
        <p:spPr>
          <a:xfrm>
            <a:off x="941832" y="4558284"/>
            <a:ext cx="868680" cy="48463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Day 5</a:t>
            </a:r>
            <a:endParaRPr lang="en-US" sz="1250" dirty="0"/>
          </a:p>
        </p:txBody>
      </p:sp>
      <p:sp>
        <p:nvSpPr>
          <p:cNvPr id="30" name="Text 28"/>
          <p:cNvSpPr txBox="1"/>
          <p:nvPr/>
        </p:nvSpPr>
        <p:spPr>
          <a:xfrm>
            <a:off x="1920240" y="4558284"/>
            <a:ext cx="2286000" cy="484632"/>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The whole game runs</a:t>
            </a:r>
            <a:endParaRPr lang="en-US" sz="1400" dirty="0"/>
          </a:p>
        </p:txBody>
      </p:sp>
      <p:sp>
        <p:nvSpPr>
          <p:cNvPr id="31" name="Text 29"/>
          <p:cNvSpPr txBox="1"/>
          <p:nvPr/>
        </p:nvSpPr>
        <p:spPr>
          <a:xfrm>
            <a:off x="4343400" y="4558284"/>
            <a:ext cx="5059375" cy="484632"/>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Round manager, notebook, and the results screen</a:t>
            </a:r>
            <a:endParaRPr lang="en-US" sz="1250" dirty="0"/>
          </a:p>
        </p:txBody>
      </p:sp>
      <p:sp>
        <p:nvSpPr>
          <p:cNvPr id="32" name="Shape 30"/>
          <p:cNvSpPr/>
          <p:nvPr/>
        </p:nvSpPr>
        <p:spPr>
          <a:xfrm>
            <a:off x="685800" y="5093208"/>
            <a:ext cx="10820095" cy="484632"/>
          </a:xfrm>
          <a:prstGeom prst="roundRect">
            <a:avLst>
              <a:gd name="adj" fmla="val 7547"/>
            </a:avLst>
          </a:prstGeom>
          <a:solidFill>
            <a:srgbClr val="161D2A"/>
          </a:solidFill>
          <a:ln w="9525">
            <a:solidFill>
              <a:srgbClr val="222C3E"/>
            </a:solidFill>
            <a:prstDash val="solid"/>
          </a:ln>
        </p:spPr>
      </p:sp>
      <p:sp>
        <p:nvSpPr>
          <p:cNvPr id="33" name="Text 31"/>
          <p:cNvSpPr txBox="1"/>
          <p:nvPr/>
        </p:nvSpPr>
        <p:spPr>
          <a:xfrm>
            <a:off x="941832" y="5093208"/>
            <a:ext cx="868680" cy="48463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Day 6</a:t>
            </a:r>
            <a:endParaRPr lang="en-US" sz="1250" dirty="0"/>
          </a:p>
        </p:txBody>
      </p:sp>
      <p:sp>
        <p:nvSpPr>
          <p:cNvPr id="34" name="Text 32"/>
          <p:cNvSpPr txBox="1"/>
          <p:nvPr/>
        </p:nvSpPr>
        <p:spPr>
          <a:xfrm>
            <a:off x="1920240" y="5093208"/>
            <a:ext cx="2286000" cy="484632"/>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Art goes in</a:t>
            </a:r>
            <a:endParaRPr lang="en-US" sz="1400" dirty="0"/>
          </a:p>
        </p:txBody>
      </p:sp>
      <p:sp>
        <p:nvSpPr>
          <p:cNvPr id="35" name="Text 33"/>
          <p:cNvSpPr txBox="1"/>
          <p:nvPr/>
        </p:nvSpPr>
        <p:spPr>
          <a:xfrm>
            <a:off x="4343400" y="5093208"/>
            <a:ext cx="5059375" cy="484632"/>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Swap in models, rebuild the AI path map, play it all again</a:t>
            </a:r>
            <a:endParaRPr lang="en-US" sz="1250" dirty="0"/>
          </a:p>
        </p:txBody>
      </p:sp>
      <p:sp>
        <p:nvSpPr>
          <p:cNvPr id="36" name="Shape 34"/>
          <p:cNvSpPr/>
          <p:nvPr/>
        </p:nvSpPr>
        <p:spPr>
          <a:xfrm>
            <a:off x="685800" y="5628132"/>
            <a:ext cx="10820095" cy="484632"/>
          </a:xfrm>
          <a:prstGeom prst="roundRect">
            <a:avLst>
              <a:gd name="adj" fmla="val 7547"/>
            </a:avLst>
          </a:prstGeom>
          <a:solidFill>
            <a:srgbClr val="161D2A"/>
          </a:solidFill>
          <a:ln w="9525">
            <a:solidFill>
              <a:srgbClr val="222C3E"/>
            </a:solidFill>
            <a:prstDash val="solid"/>
          </a:ln>
        </p:spPr>
      </p:sp>
      <p:sp>
        <p:nvSpPr>
          <p:cNvPr id="37" name="Text 35"/>
          <p:cNvSpPr txBox="1"/>
          <p:nvPr/>
        </p:nvSpPr>
        <p:spPr>
          <a:xfrm>
            <a:off x="941832" y="5628132"/>
            <a:ext cx="868680" cy="484632"/>
          </a:xfrm>
          <a:prstGeom prst="rect">
            <a:avLst/>
          </a:prstGeom>
          <a:noFill/>
          <a:ln/>
        </p:spPr>
        <p:txBody>
          <a:bodyPr wrap="square" lIns="0" tIns="0" rIns="0" bIns="0" rtlCol="0" anchor="ctr"/>
          <a:lstStyle/>
          <a:p>
            <a:pPr indent="0" marL="0">
              <a:buNone/>
            </a:pPr>
            <a:r>
              <a:rPr lang="en-US" sz="1250" b="1" dirty="0">
                <a:solidFill>
                  <a:srgbClr val="7FA6CC"/>
                </a:solidFill>
                <a:latin typeface="Courier New" pitchFamily="34" charset="0"/>
                <a:ea typeface="Courier New" pitchFamily="34" charset="-122"/>
                <a:cs typeface="Courier New" pitchFamily="34" charset="-120"/>
              </a:rPr>
              <a:t>Day 7</a:t>
            </a:r>
            <a:endParaRPr lang="en-US" sz="1250" dirty="0"/>
          </a:p>
        </p:txBody>
      </p:sp>
      <p:sp>
        <p:nvSpPr>
          <p:cNvPr id="38" name="Text 36"/>
          <p:cNvSpPr txBox="1"/>
          <p:nvPr/>
        </p:nvSpPr>
        <p:spPr>
          <a:xfrm>
            <a:off x="1920240" y="5628132"/>
            <a:ext cx="2286000" cy="484632"/>
          </a:xfrm>
          <a:prstGeom prst="rect">
            <a:avLst/>
          </a:prstGeom>
          <a:noFill/>
          <a:ln/>
        </p:spPr>
        <p:txBody>
          <a:bodyPr wrap="square" lIns="0" tIns="0" rIns="0" bIns="0" rtlCol="0" anchor="ctr"/>
          <a:lstStyle/>
          <a:p>
            <a:pPr indent="0" marL="0">
              <a:buNone/>
            </a:pPr>
            <a:r>
              <a:rPr lang="en-US" sz="1400" b="1" dirty="0">
                <a:solidFill>
                  <a:srgbClr val="E9EDF3"/>
                </a:solidFill>
                <a:latin typeface="Calibri" pitchFamily="34" charset="0"/>
                <a:ea typeface="Calibri" pitchFamily="34" charset="-122"/>
                <a:cs typeface="Calibri" pitchFamily="34" charset="-120"/>
              </a:rPr>
              <a:t>Polish</a:t>
            </a:r>
            <a:endParaRPr lang="en-US" sz="1400" dirty="0"/>
          </a:p>
        </p:txBody>
      </p:sp>
      <p:sp>
        <p:nvSpPr>
          <p:cNvPr id="39" name="Text 37"/>
          <p:cNvSpPr txBox="1"/>
          <p:nvPr/>
        </p:nvSpPr>
        <p:spPr>
          <a:xfrm>
            <a:off x="4343400" y="5628132"/>
            <a:ext cx="5059375" cy="484632"/>
          </a:xfrm>
          <a:prstGeom prst="rect">
            <a:avLst/>
          </a:prstGeom>
          <a:noFill/>
          <a:ln/>
        </p:spPr>
        <p:txBody>
          <a:bodyPr wrap="square" lIns="0" tIns="0" rIns="0" bIns="0" rtlCol="0" anchor="ctr"/>
          <a:lstStyle/>
          <a:p>
            <a:pPr indent="0" marL="0">
              <a:buNone/>
            </a:pPr>
            <a:r>
              <a:rPr lang="en-US" sz="1250" dirty="0">
                <a:solidFill>
                  <a:srgbClr val="8D9AAD"/>
                </a:solidFill>
                <a:latin typeface="Calibri" pitchFamily="34" charset="0"/>
                <a:ea typeface="Calibri" pitchFamily="34" charset="-122"/>
                <a:cs typeface="Calibri" pitchFamily="34" charset="-120"/>
              </a:rPr>
              <a:t>Sound, lights, main menu, and a full test pass</a:t>
            </a:r>
            <a:endParaRPr lang="en-US" sz="1250" dirty="0"/>
          </a:p>
        </p:txBody>
      </p:sp>
      <p:sp>
        <p:nvSpPr>
          <p:cNvPr id="40" name="Text 38"/>
          <p:cNvSpPr txBox="1"/>
          <p:nvPr/>
        </p:nvSpPr>
        <p:spPr>
          <a:xfrm>
            <a:off x="685800" y="6126480"/>
            <a:ext cx="9265615" cy="384048"/>
          </a:xfrm>
          <a:prstGeom prst="rect">
            <a:avLst/>
          </a:prstGeom>
          <a:noFill/>
          <a:ln/>
        </p:spPr>
        <p:txBody>
          <a:bodyPr wrap="square" lIns="0" tIns="0" rIns="0" bIns="0" rtlCol="0" anchor="ctr"/>
          <a:lstStyle/>
          <a:p>
            <a:pPr indent="0" marL="0">
              <a:buNone/>
            </a:pPr>
            <a:r>
              <a:rPr lang="en-US" sz="1300" i="1" dirty="0">
                <a:solidFill>
                  <a:srgbClr val="A9C6E4"/>
                </a:solidFill>
                <a:latin typeface="Calibri" pitchFamily="34" charset="0"/>
                <a:ea typeface="Calibri" pitchFamily="34" charset="-122"/>
                <a:cs typeface="Calibri" pitchFamily="34" charset="-120"/>
              </a:rPr>
              <a:t>If the clues did not work by Day 3, we would drop ghost writing and use a 2 × 3 table. If the ghost AI did not work by Day 4, the art day would move. We did not have to do either.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16 — NON-GOALS</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16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Seven things we chose not to build</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We wrote this list down so the week would not disappear</a:t>
            </a:r>
            <a:endParaRPr lang="en-US" sz="1450" dirty="0"/>
          </a:p>
        </p:txBody>
      </p:sp>
      <p:sp>
        <p:nvSpPr>
          <p:cNvPr id="6" name="Shape 4"/>
          <p:cNvSpPr/>
          <p:nvPr/>
        </p:nvSpPr>
        <p:spPr>
          <a:xfrm>
            <a:off x="685800" y="1920240"/>
            <a:ext cx="5227168" cy="768096"/>
          </a:xfrm>
          <a:prstGeom prst="roundRect">
            <a:avLst>
              <a:gd name="adj" fmla="val 7143"/>
            </a:avLst>
          </a:prstGeom>
          <a:solidFill>
            <a:srgbClr val="161D2A"/>
          </a:solidFill>
          <a:ln w="9525">
            <a:solidFill>
              <a:srgbClr val="222C3E"/>
            </a:solidFill>
            <a:prstDash val="solid"/>
          </a:ln>
        </p:spPr>
      </p:sp>
      <p:sp>
        <p:nvSpPr>
          <p:cNvPr id="7" name="Text 5"/>
          <p:cNvSpPr txBox="1"/>
          <p:nvPr/>
        </p:nvSpPr>
        <p:spPr>
          <a:xfrm>
            <a:off x="923544" y="1920240"/>
            <a:ext cx="365760" cy="768096"/>
          </a:xfrm>
          <a:prstGeom prst="rect">
            <a:avLst/>
          </a:prstGeom>
          <a:noFill/>
          <a:ln/>
        </p:spPr>
        <p:txBody>
          <a:bodyPr wrap="square" lIns="0" tIns="0" rIns="0" bIns="0" rtlCol="0" anchor="ctr"/>
          <a:lstStyle/>
          <a:p>
            <a:pPr indent="0" marL="0">
              <a:buNone/>
            </a:pPr>
            <a:r>
              <a:rPr lang="en-US" sz="1700" b="1" dirty="0">
                <a:solidFill>
                  <a:srgbClr val="E0505E"/>
                </a:solidFill>
                <a:latin typeface="Calibri" pitchFamily="34" charset="0"/>
                <a:ea typeface="Calibri" pitchFamily="34" charset="-122"/>
                <a:cs typeface="Calibri" pitchFamily="34" charset="-120"/>
              </a:rPr>
              <a:t>✕</a:t>
            </a:r>
            <a:endParaRPr lang="en-US" sz="1700" dirty="0"/>
          </a:p>
        </p:txBody>
      </p:sp>
      <p:sp>
        <p:nvSpPr>
          <p:cNvPr id="8" name="Text 6"/>
          <p:cNvSpPr txBox="1"/>
          <p:nvPr/>
        </p:nvSpPr>
        <p:spPr>
          <a:xfrm>
            <a:off x="1362456" y="2029968"/>
            <a:ext cx="4312768"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Online multiplayer</a:t>
            </a:r>
            <a:endParaRPr lang="en-US" sz="1550" dirty="0"/>
          </a:p>
        </p:txBody>
      </p:sp>
      <p:sp>
        <p:nvSpPr>
          <p:cNvPr id="9" name="Text 7"/>
          <p:cNvSpPr txBox="1"/>
          <p:nvPr/>
        </p:nvSpPr>
        <p:spPr>
          <a:xfrm>
            <a:off x="1362456" y="2313432"/>
            <a:ext cx="4312768" cy="310896"/>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Network code costs 3 days at least. It would have eaten the whole project.</a:t>
            </a:r>
            <a:endParaRPr lang="en-US" sz="1150" dirty="0"/>
          </a:p>
        </p:txBody>
      </p:sp>
      <p:sp>
        <p:nvSpPr>
          <p:cNvPr id="10" name="Shape 8"/>
          <p:cNvSpPr/>
          <p:nvPr/>
        </p:nvSpPr>
        <p:spPr>
          <a:xfrm>
            <a:off x="6278728" y="1920240"/>
            <a:ext cx="5227168" cy="768096"/>
          </a:xfrm>
          <a:prstGeom prst="roundRect">
            <a:avLst>
              <a:gd name="adj" fmla="val 7143"/>
            </a:avLst>
          </a:prstGeom>
          <a:solidFill>
            <a:srgbClr val="161D2A"/>
          </a:solidFill>
          <a:ln w="9525">
            <a:solidFill>
              <a:srgbClr val="222C3E"/>
            </a:solidFill>
            <a:prstDash val="solid"/>
          </a:ln>
        </p:spPr>
      </p:sp>
      <p:sp>
        <p:nvSpPr>
          <p:cNvPr id="11" name="Text 9"/>
          <p:cNvSpPr txBox="1"/>
          <p:nvPr/>
        </p:nvSpPr>
        <p:spPr>
          <a:xfrm>
            <a:off x="6516472" y="1920240"/>
            <a:ext cx="365760" cy="768096"/>
          </a:xfrm>
          <a:prstGeom prst="rect">
            <a:avLst/>
          </a:prstGeom>
          <a:noFill/>
          <a:ln/>
        </p:spPr>
        <p:txBody>
          <a:bodyPr wrap="square" lIns="0" tIns="0" rIns="0" bIns="0" rtlCol="0" anchor="ctr"/>
          <a:lstStyle/>
          <a:p>
            <a:pPr indent="0" marL="0">
              <a:buNone/>
            </a:pPr>
            <a:r>
              <a:rPr lang="en-US" sz="1700" b="1" dirty="0">
                <a:solidFill>
                  <a:srgbClr val="E0505E"/>
                </a:solidFill>
                <a:latin typeface="Calibri" pitchFamily="34" charset="0"/>
                <a:ea typeface="Calibri" pitchFamily="34" charset="-122"/>
                <a:cs typeface="Calibri" pitchFamily="34" charset="-120"/>
              </a:rPr>
              <a:t>✕</a:t>
            </a:r>
            <a:endParaRPr lang="en-US" sz="1700" dirty="0"/>
          </a:p>
        </p:txBody>
      </p:sp>
      <p:sp>
        <p:nvSpPr>
          <p:cNvPr id="12" name="Text 10"/>
          <p:cNvSpPr txBox="1"/>
          <p:nvPr/>
        </p:nvSpPr>
        <p:spPr>
          <a:xfrm>
            <a:off x="6955384" y="2029968"/>
            <a:ext cx="4312768"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Voice input</a:t>
            </a:r>
            <a:endParaRPr lang="en-US" sz="1550" dirty="0"/>
          </a:p>
        </p:txBody>
      </p:sp>
      <p:sp>
        <p:nvSpPr>
          <p:cNvPr id="13" name="Text 11"/>
          <p:cNvSpPr txBox="1"/>
          <p:nvPr/>
        </p:nvSpPr>
        <p:spPr>
          <a:xfrm>
            <a:off x="6955384" y="2313432"/>
            <a:ext cx="4312768" cy="310896"/>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It needs software from someone else. Too risky for one week.</a:t>
            </a:r>
            <a:endParaRPr lang="en-US" sz="1150" dirty="0"/>
          </a:p>
        </p:txBody>
      </p:sp>
      <p:sp>
        <p:nvSpPr>
          <p:cNvPr id="14" name="Shape 12"/>
          <p:cNvSpPr/>
          <p:nvPr/>
        </p:nvSpPr>
        <p:spPr>
          <a:xfrm>
            <a:off x="685800" y="2798064"/>
            <a:ext cx="5227168" cy="768096"/>
          </a:xfrm>
          <a:prstGeom prst="roundRect">
            <a:avLst>
              <a:gd name="adj" fmla="val 7143"/>
            </a:avLst>
          </a:prstGeom>
          <a:solidFill>
            <a:srgbClr val="161D2A"/>
          </a:solidFill>
          <a:ln w="9525">
            <a:solidFill>
              <a:srgbClr val="222C3E"/>
            </a:solidFill>
            <a:prstDash val="solid"/>
          </a:ln>
        </p:spPr>
      </p:sp>
      <p:sp>
        <p:nvSpPr>
          <p:cNvPr id="15" name="Text 13"/>
          <p:cNvSpPr txBox="1"/>
          <p:nvPr/>
        </p:nvSpPr>
        <p:spPr>
          <a:xfrm>
            <a:off x="923544" y="2798064"/>
            <a:ext cx="365760" cy="768096"/>
          </a:xfrm>
          <a:prstGeom prst="rect">
            <a:avLst/>
          </a:prstGeom>
          <a:noFill/>
          <a:ln/>
        </p:spPr>
        <p:txBody>
          <a:bodyPr wrap="square" lIns="0" tIns="0" rIns="0" bIns="0" rtlCol="0" anchor="ctr"/>
          <a:lstStyle/>
          <a:p>
            <a:pPr indent="0" marL="0">
              <a:buNone/>
            </a:pPr>
            <a:r>
              <a:rPr lang="en-US" sz="1700" b="1" dirty="0">
                <a:solidFill>
                  <a:srgbClr val="E0505E"/>
                </a:solidFill>
                <a:latin typeface="Calibri" pitchFamily="34" charset="0"/>
                <a:ea typeface="Calibri" pitchFamily="34" charset="-122"/>
                <a:cs typeface="Calibri" pitchFamily="34" charset="-120"/>
              </a:rPr>
              <a:t>✕</a:t>
            </a:r>
            <a:endParaRPr lang="en-US" sz="1700" dirty="0"/>
          </a:p>
        </p:txBody>
      </p:sp>
      <p:sp>
        <p:nvSpPr>
          <p:cNvPr id="16" name="Text 14"/>
          <p:cNvSpPr txBox="1"/>
          <p:nvPr/>
        </p:nvSpPr>
        <p:spPr>
          <a:xfrm>
            <a:off x="1362456" y="2907792"/>
            <a:ext cx="4312768"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A second map</a:t>
            </a:r>
            <a:endParaRPr lang="en-US" sz="1550" dirty="0"/>
          </a:p>
        </p:txBody>
      </p:sp>
      <p:sp>
        <p:nvSpPr>
          <p:cNvPr id="17" name="Text 15"/>
          <p:cNvSpPr txBox="1"/>
          <p:nvPr/>
        </p:nvSpPr>
        <p:spPr>
          <a:xfrm>
            <a:off x="1362456" y="3191256"/>
            <a:ext cx="4312768" cy="310896"/>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One good map beats three empty ones.</a:t>
            </a:r>
            <a:endParaRPr lang="en-US" sz="1150" dirty="0"/>
          </a:p>
        </p:txBody>
      </p:sp>
      <p:sp>
        <p:nvSpPr>
          <p:cNvPr id="18" name="Shape 16"/>
          <p:cNvSpPr/>
          <p:nvPr/>
        </p:nvSpPr>
        <p:spPr>
          <a:xfrm>
            <a:off x="6278728" y="2798064"/>
            <a:ext cx="5227168" cy="768096"/>
          </a:xfrm>
          <a:prstGeom prst="roundRect">
            <a:avLst>
              <a:gd name="adj" fmla="val 7143"/>
            </a:avLst>
          </a:prstGeom>
          <a:solidFill>
            <a:srgbClr val="161D2A"/>
          </a:solidFill>
          <a:ln w="9525">
            <a:solidFill>
              <a:srgbClr val="222C3E"/>
            </a:solidFill>
            <a:prstDash val="solid"/>
          </a:ln>
        </p:spPr>
      </p:sp>
      <p:sp>
        <p:nvSpPr>
          <p:cNvPr id="19" name="Text 17"/>
          <p:cNvSpPr txBox="1"/>
          <p:nvPr/>
        </p:nvSpPr>
        <p:spPr>
          <a:xfrm>
            <a:off x="6516472" y="2798064"/>
            <a:ext cx="365760" cy="768096"/>
          </a:xfrm>
          <a:prstGeom prst="rect">
            <a:avLst/>
          </a:prstGeom>
          <a:noFill/>
          <a:ln/>
        </p:spPr>
        <p:txBody>
          <a:bodyPr wrap="square" lIns="0" tIns="0" rIns="0" bIns="0" rtlCol="0" anchor="ctr"/>
          <a:lstStyle/>
          <a:p>
            <a:pPr indent="0" marL="0">
              <a:buNone/>
            </a:pPr>
            <a:r>
              <a:rPr lang="en-US" sz="1700" b="1" dirty="0">
                <a:solidFill>
                  <a:srgbClr val="E0505E"/>
                </a:solidFill>
                <a:latin typeface="Calibri" pitchFamily="34" charset="0"/>
                <a:ea typeface="Calibri" pitchFamily="34" charset="-122"/>
                <a:cs typeface="Calibri" pitchFamily="34" charset="-120"/>
              </a:rPr>
              <a:t>✕</a:t>
            </a:r>
            <a:endParaRPr lang="en-US" sz="1700" dirty="0"/>
          </a:p>
        </p:txBody>
      </p:sp>
      <p:sp>
        <p:nvSpPr>
          <p:cNvPr id="20" name="Text 18"/>
          <p:cNvSpPr txBox="1"/>
          <p:nvPr/>
        </p:nvSpPr>
        <p:spPr>
          <a:xfrm>
            <a:off x="6955384" y="2907792"/>
            <a:ext cx="4312768"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A fourth ghost or clue</a:t>
            </a:r>
            <a:endParaRPr lang="en-US" sz="1550" dirty="0"/>
          </a:p>
        </p:txBody>
      </p:sp>
      <p:sp>
        <p:nvSpPr>
          <p:cNvPr id="21" name="Text 19"/>
          <p:cNvSpPr txBox="1"/>
          <p:nvPr/>
        </p:nvSpPr>
        <p:spPr>
          <a:xfrm>
            <a:off x="6955384" y="3191256"/>
            <a:ext cx="4312768" cy="310896"/>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The 3 × 3 table would stop working.</a:t>
            </a:r>
            <a:endParaRPr lang="en-US" sz="1150" dirty="0"/>
          </a:p>
        </p:txBody>
      </p:sp>
      <p:sp>
        <p:nvSpPr>
          <p:cNvPr id="22" name="Shape 20"/>
          <p:cNvSpPr/>
          <p:nvPr/>
        </p:nvSpPr>
        <p:spPr>
          <a:xfrm>
            <a:off x="685800" y="3675888"/>
            <a:ext cx="5227168" cy="768096"/>
          </a:xfrm>
          <a:prstGeom prst="roundRect">
            <a:avLst>
              <a:gd name="adj" fmla="val 7143"/>
            </a:avLst>
          </a:prstGeom>
          <a:solidFill>
            <a:srgbClr val="161D2A"/>
          </a:solidFill>
          <a:ln w="9525">
            <a:solidFill>
              <a:srgbClr val="222C3E"/>
            </a:solidFill>
            <a:prstDash val="solid"/>
          </a:ln>
        </p:spPr>
      </p:sp>
      <p:sp>
        <p:nvSpPr>
          <p:cNvPr id="23" name="Text 21"/>
          <p:cNvSpPr txBox="1"/>
          <p:nvPr/>
        </p:nvSpPr>
        <p:spPr>
          <a:xfrm>
            <a:off x="923544" y="3675888"/>
            <a:ext cx="365760" cy="768096"/>
          </a:xfrm>
          <a:prstGeom prst="rect">
            <a:avLst/>
          </a:prstGeom>
          <a:noFill/>
          <a:ln/>
        </p:spPr>
        <p:txBody>
          <a:bodyPr wrap="square" lIns="0" tIns="0" rIns="0" bIns="0" rtlCol="0" anchor="ctr"/>
          <a:lstStyle/>
          <a:p>
            <a:pPr indent="0" marL="0">
              <a:buNone/>
            </a:pPr>
            <a:r>
              <a:rPr lang="en-US" sz="1700" b="1" dirty="0">
                <a:solidFill>
                  <a:srgbClr val="E0505E"/>
                </a:solidFill>
                <a:latin typeface="Calibri" pitchFamily="34" charset="0"/>
                <a:ea typeface="Calibri" pitchFamily="34" charset="-122"/>
                <a:cs typeface="Calibri" pitchFamily="34" charset="-120"/>
              </a:rPr>
              <a:t>✕</a:t>
            </a:r>
            <a:endParaRPr lang="en-US" sz="1700" dirty="0"/>
          </a:p>
        </p:txBody>
      </p:sp>
      <p:sp>
        <p:nvSpPr>
          <p:cNvPr id="24" name="Text 22"/>
          <p:cNvSpPr txBox="1"/>
          <p:nvPr/>
        </p:nvSpPr>
        <p:spPr>
          <a:xfrm>
            <a:off x="1362456" y="3785616"/>
            <a:ext cx="4312768"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Save files</a:t>
            </a:r>
            <a:endParaRPr lang="en-US" sz="1550" dirty="0"/>
          </a:p>
        </p:txBody>
      </p:sp>
      <p:sp>
        <p:nvSpPr>
          <p:cNvPr id="25" name="Text 23"/>
          <p:cNvSpPr txBox="1"/>
          <p:nvPr/>
        </p:nvSpPr>
        <p:spPr>
          <a:xfrm>
            <a:off x="1362456" y="4069080"/>
            <a:ext cx="4312768" cy="310896"/>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A demo does not need them.</a:t>
            </a:r>
            <a:endParaRPr lang="en-US" sz="1150" dirty="0"/>
          </a:p>
        </p:txBody>
      </p:sp>
      <p:sp>
        <p:nvSpPr>
          <p:cNvPr id="26" name="Shape 24"/>
          <p:cNvSpPr/>
          <p:nvPr/>
        </p:nvSpPr>
        <p:spPr>
          <a:xfrm>
            <a:off x="6278728" y="3675888"/>
            <a:ext cx="5227168" cy="768096"/>
          </a:xfrm>
          <a:prstGeom prst="roundRect">
            <a:avLst>
              <a:gd name="adj" fmla="val 7143"/>
            </a:avLst>
          </a:prstGeom>
          <a:solidFill>
            <a:srgbClr val="161D2A"/>
          </a:solidFill>
          <a:ln w="9525">
            <a:solidFill>
              <a:srgbClr val="222C3E"/>
            </a:solidFill>
            <a:prstDash val="solid"/>
          </a:ln>
        </p:spPr>
      </p:sp>
      <p:sp>
        <p:nvSpPr>
          <p:cNvPr id="27" name="Text 25"/>
          <p:cNvSpPr txBox="1"/>
          <p:nvPr/>
        </p:nvSpPr>
        <p:spPr>
          <a:xfrm>
            <a:off x="6516472" y="3675888"/>
            <a:ext cx="365760" cy="768096"/>
          </a:xfrm>
          <a:prstGeom prst="rect">
            <a:avLst/>
          </a:prstGeom>
          <a:noFill/>
          <a:ln/>
        </p:spPr>
        <p:txBody>
          <a:bodyPr wrap="square" lIns="0" tIns="0" rIns="0" bIns="0" rtlCol="0" anchor="ctr"/>
          <a:lstStyle/>
          <a:p>
            <a:pPr indent="0" marL="0">
              <a:buNone/>
            </a:pPr>
            <a:r>
              <a:rPr lang="en-US" sz="1700" b="1" dirty="0">
                <a:solidFill>
                  <a:srgbClr val="E0505E"/>
                </a:solidFill>
                <a:latin typeface="Calibri" pitchFamily="34" charset="0"/>
                <a:ea typeface="Calibri" pitchFamily="34" charset="-122"/>
                <a:cs typeface="Calibri" pitchFamily="34" charset="-120"/>
              </a:rPr>
              <a:t>✕</a:t>
            </a:r>
            <a:endParaRPr lang="en-US" sz="1700" dirty="0"/>
          </a:p>
        </p:txBody>
      </p:sp>
      <p:sp>
        <p:nvSpPr>
          <p:cNvPr id="28" name="Text 26"/>
          <p:cNvSpPr txBox="1"/>
          <p:nvPr/>
        </p:nvSpPr>
        <p:spPr>
          <a:xfrm>
            <a:off x="6955384" y="3785616"/>
            <a:ext cx="4312768"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Jumping</a:t>
            </a:r>
            <a:endParaRPr lang="en-US" sz="1550" dirty="0"/>
          </a:p>
        </p:txBody>
      </p:sp>
      <p:sp>
        <p:nvSpPr>
          <p:cNvPr id="29" name="Text 27"/>
          <p:cNvSpPr txBox="1"/>
          <p:nvPr/>
        </p:nvSpPr>
        <p:spPr>
          <a:xfrm>
            <a:off x="6955384" y="4069080"/>
            <a:ext cx="4312768" cy="310896"/>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If you can jump you can climb on furniture. That breaks the level and the AI paths.</a:t>
            </a:r>
            <a:endParaRPr lang="en-US" sz="1150" dirty="0"/>
          </a:p>
        </p:txBody>
      </p:sp>
      <p:sp>
        <p:nvSpPr>
          <p:cNvPr id="30" name="Shape 28"/>
          <p:cNvSpPr/>
          <p:nvPr/>
        </p:nvSpPr>
        <p:spPr>
          <a:xfrm>
            <a:off x="685800" y="4553712"/>
            <a:ext cx="5227168" cy="768096"/>
          </a:xfrm>
          <a:prstGeom prst="roundRect">
            <a:avLst>
              <a:gd name="adj" fmla="val 7143"/>
            </a:avLst>
          </a:prstGeom>
          <a:solidFill>
            <a:srgbClr val="161D2A"/>
          </a:solidFill>
          <a:ln w="9525">
            <a:solidFill>
              <a:srgbClr val="222C3E"/>
            </a:solidFill>
            <a:prstDash val="solid"/>
          </a:ln>
        </p:spPr>
      </p:sp>
      <p:sp>
        <p:nvSpPr>
          <p:cNvPr id="31" name="Text 29"/>
          <p:cNvSpPr txBox="1"/>
          <p:nvPr/>
        </p:nvSpPr>
        <p:spPr>
          <a:xfrm>
            <a:off x="923544" y="4553712"/>
            <a:ext cx="365760" cy="768096"/>
          </a:xfrm>
          <a:prstGeom prst="rect">
            <a:avLst/>
          </a:prstGeom>
          <a:noFill/>
          <a:ln/>
        </p:spPr>
        <p:txBody>
          <a:bodyPr wrap="square" lIns="0" tIns="0" rIns="0" bIns="0" rtlCol="0" anchor="ctr"/>
          <a:lstStyle/>
          <a:p>
            <a:pPr indent="0" marL="0">
              <a:buNone/>
            </a:pPr>
            <a:r>
              <a:rPr lang="en-US" sz="1700" b="1" dirty="0">
                <a:solidFill>
                  <a:srgbClr val="E0505E"/>
                </a:solidFill>
                <a:latin typeface="Calibri" pitchFamily="34" charset="0"/>
                <a:ea typeface="Calibri" pitchFamily="34" charset="-122"/>
                <a:cs typeface="Calibri" pitchFamily="34" charset="-120"/>
              </a:rPr>
              <a:t>✕</a:t>
            </a:r>
            <a:endParaRPr lang="en-US" sz="1700" dirty="0"/>
          </a:p>
        </p:txBody>
      </p:sp>
      <p:sp>
        <p:nvSpPr>
          <p:cNvPr id="32" name="Text 30"/>
          <p:cNvSpPr txBox="1"/>
          <p:nvPr/>
        </p:nvSpPr>
        <p:spPr>
          <a:xfrm>
            <a:off x="1362456" y="4663440"/>
            <a:ext cx="4312768" cy="274320"/>
          </a:xfrm>
          <a:prstGeom prst="rect">
            <a:avLst/>
          </a:prstGeom>
          <a:noFill/>
          <a:ln/>
        </p:spPr>
        <p:txBody>
          <a:bodyPr wrap="square" lIns="0" tIns="0" rIns="0" bIns="0" rtlCol="0" anchor="ctr"/>
          <a:lstStyle/>
          <a:p>
            <a:pPr indent="0" marL="0">
              <a:buNone/>
            </a:pPr>
            <a:r>
              <a:rPr lang="en-US" sz="1550" b="1" dirty="0">
                <a:solidFill>
                  <a:srgbClr val="E9EDF3"/>
                </a:solidFill>
                <a:latin typeface="Calibri" pitchFamily="34" charset="0"/>
                <a:ea typeface="Calibri" pitchFamily="34" charset="-122"/>
                <a:cs typeface="Calibri" pitchFamily="34" charset="-120"/>
              </a:rPr>
              <a:t>Our own 3D models</a:t>
            </a:r>
            <a:endParaRPr lang="en-US" sz="1550" dirty="0"/>
          </a:p>
        </p:txBody>
      </p:sp>
      <p:sp>
        <p:nvSpPr>
          <p:cNvPr id="33" name="Text 31"/>
          <p:cNvSpPr txBox="1"/>
          <p:nvPr/>
        </p:nvSpPr>
        <p:spPr>
          <a:xfrm>
            <a:off x="1362456" y="4946904"/>
            <a:ext cx="4312768" cy="310896"/>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We used free ones. One clear style beats one nice-looking chair.</a:t>
            </a:r>
            <a:endParaRPr lang="en-US" sz="1150" dirty="0"/>
          </a:p>
        </p:txBody>
      </p:sp>
      <p:sp>
        <p:nvSpPr>
          <p:cNvPr id="34" name="Shape 32"/>
          <p:cNvSpPr/>
          <p:nvPr/>
        </p:nvSpPr>
        <p:spPr>
          <a:xfrm>
            <a:off x="685800" y="5468112"/>
            <a:ext cx="5227168" cy="768096"/>
          </a:xfrm>
          <a:prstGeom prst="roundRect">
            <a:avLst>
              <a:gd name="adj" fmla="val 7143"/>
            </a:avLst>
          </a:prstGeom>
          <a:solidFill>
            <a:srgbClr val="222C3E"/>
          </a:solidFill>
          <a:ln w="9525">
            <a:solidFill>
              <a:srgbClr val="222C3E"/>
            </a:solidFill>
            <a:prstDash val="solid"/>
          </a:ln>
        </p:spPr>
      </p:sp>
      <p:sp>
        <p:nvSpPr>
          <p:cNvPr id="35" name="Text 33"/>
          <p:cNvSpPr txBox="1"/>
          <p:nvPr/>
        </p:nvSpPr>
        <p:spPr>
          <a:xfrm>
            <a:off x="960120" y="5468112"/>
            <a:ext cx="4678528" cy="768096"/>
          </a:xfrm>
          <a:prstGeom prst="rect">
            <a:avLst/>
          </a:prstGeom>
          <a:noFill/>
          <a:ln/>
        </p:spPr>
        <p:txBody>
          <a:bodyPr wrap="square" lIns="0" tIns="0" rIns="0" bIns="0" rtlCol="0" anchor="ctr"/>
          <a:lstStyle/>
          <a:p>
            <a:pPr indent="0" marL="0">
              <a:buNone/>
            </a:pPr>
            <a:r>
              <a:rPr lang="en-US" sz="1500" b="1" i="1" dirty="0">
                <a:solidFill>
                  <a:srgbClr val="A9C6E4"/>
                </a:solidFill>
                <a:latin typeface="Cambria" pitchFamily="34" charset="0"/>
                <a:ea typeface="Cambria" pitchFamily="34" charset="-122"/>
                <a:cs typeface="Cambria" pitchFamily="34" charset="-120"/>
              </a:rPr>
              <a:t>A team that can tell you what it is NOT making is easier to trust.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310896"/>
            <a:ext cx="6858000" cy="256032"/>
          </a:xfrm>
          <a:prstGeom prst="rect">
            <a:avLst/>
          </a:prstGeom>
          <a:noFill/>
          <a:ln/>
        </p:spPr>
        <p:txBody>
          <a:bodyPr wrap="square" lIns="0" tIns="0" rIns="0" bIns="0" rtlCol="0" anchor="ctr"/>
          <a:lstStyle/>
          <a:p>
            <a:pPr indent="0" marL="0">
              <a:buNone/>
            </a:pPr>
            <a:r>
              <a:rPr lang="en-US" sz="1050" spc="200" kern="0" dirty="0">
                <a:solidFill>
                  <a:srgbClr val="5E6B7E"/>
                </a:solidFill>
                <a:latin typeface="Courier New" pitchFamily="34" charset="0"/>
                <a:ea typeface="Courier New" pitchFamily="34" charset="-122"/>
                <a:cs typeface="Courier New" pitchFamily="34" charset="-120"/>
              </a:rPr>
              <a:t>FILE 17 — DEMO</a:t>
            </a:r>
            <a:endParaRPr lang="en-US" sz="1050" dirty="0"/>
          </a:p>
        </p:txBody>
      </p:sp>
      <p:sp>
        <p:nvSpPr>
          <p:cNvPr id="3" name="Text 1"/>
          <p:cNvSpPr txBox="1"/>
          <p:nvPr/>
        </p:nvSpPr>
        <p:spPr>
          <a:xfrm>
            <a:off x="10225735" y="6327648"/>
            <a:ext cx="1280160" cy="256032"/>
          </a:xfrm>
          <a:prstGeom prst="rect">
            <a:avLst/>
          </a:prstGeom>
          <a:noFill/>
          <a:ln/>
        </p:spPr>
        <p:txBody>
          <a:bodyPr wrap="square" lIns="0" tIns="0" rIns="0" bIns="0" rtlCol="0" anchor="ctr"/>
          <a:lstStyle/>
          <a:p>
            <a:pPr algn="r" indent="0" marL="0">
              <a:buNone/>
            </a:pPr>
            <a:r>
              <a:rPr lang="en-US" sz="1050" dirty="0">
                <a:solidFill>
                  <a:srgbClr val="5E6B7E"/>
                </a:solidFill>
                <a:latin typeface="Courier New" pitchFamily="34" charset="0"/>
                <a:ea typeface="Courier New" pitchFamily="34" charset="-122"/>
                <a:cs typeface="Courier New" pitchFamily="34" charset="-120"/>
              </a:rPr>
              <a:t>17 / 18</a:t>
            </a:r>
            <a:endParaRPr lang="en-US" sz="1050" dirty="0"/>
          </a:p>
        </p:txBody>
      </p:sp>
      <p:sp>
        <p:nvSpPr>
          <p:cNvPr id="4" name="Text 2"/>
          <p:cNvSpPr txBox="1"/>
          <p:nvPr/>
        </p:nvSpPr>
        <p:spPr>
          <a:xfrm>
            <a:off x="685800" y="640080"/>
            <a:ext cx="10820095" cy="585216"/>
          </a:xfrm>
          <a:prstGeom prst="rect">
            <a:avLst/>
          </a:prstGeom>
          <a:noFill/>
          <a:ln/>
        </p:spPr>
        <p:txBody>
          <a:bodyPr wrap="square" lIns="0" tIns="0" rIns="0" bIns="0" rtlCol="0" anchor="ctr"/>
          <a:lstStyle/>
          <a:p>
            <a:pPr indent="0" marL="0">
              <a:buNone/>
            </a:pPr>
            <a:r>
              <a:rPr lang="en-US" sz="3400" b="1" dirty="0">
                <a:solidFill>
                  <a:srgbClr val="E9EDF3"/>
                </a:solidFill>
                <a:latin typeface="Cambria" pitchFamily="34" charset="0"/>
                <a:ea typeface="Cambria" pitchFamily="34" charset="-122"/>
                <a:cs typeface="Cambria" pitchFamily="34" charset="-120"/>
              </a:rPr>
              <a:t>What you are about to watch</a:t>
            </a:r>
            <a:endParaRPr lang="en-US" sz="3400" dirty="0"/>
          </a:p>
        </p:txBody>
      </p:sp>
      <p:sp>
        <p:nvSpPr>
          <p:cNvPr id="5" name="Text 3"/>
          <p:cNvSpPr txBox="1"/>
          <p:nvPr/>
        </p:nvSpPr>
        <p:spPr>
          <a:xfrm>
            <a:off x="685800" y="1261872"/>
            <a:ext cx="10820095" cy="310896"/>
          </a:xfrm>
          <a:prstGeom prst="rect">
            <a:avLst/>
          </a:prstGeom>
          <a:noFill/>
          <a:ln/>
        </p:spPr>
        <p:txBody>
          <a:bodyPr wrap="square" lIns="0" tIns="0" rIns="0" bIns="0" rtlCol="0" anchor="ctr"/>
          <a:lstStyle/>
          <a:p>
            <a:pPr indent="0" marL="0">
              <a:buNone/>
            </a:pPr>
            <a:r>
              <a:rPr lang="en-US" sz="1450" dirty="0">
                <a:solidFill>
                  <a:srgbClr val="7FA6CC"/>
                </a:solidFill>
                <a:latin typeface="Calibri" pitchFamily="34" charset="0"/>
                <a:ea typeface="Calibri" pitchFamily="34" charset="-122"/>
                <a:cs typeface="Calibri" pitchFamily="34" charset="-120"/>
              </a:rPr>
              <a:t>About 8 to 12 minutes, one full game</a:t>
            </a:r>
            <a:endParaRPr lang="en-US" sz="1450" dirty="0"/>
          </a:p>
        </p:txBody>
      </p:sp>
      <p:sp>
        <p:nvSpPr>
          <p:cNvPr id="6" name="Shape 4"/>
          <p:cNvSpPr/>
          <p:nvPr/>
        </p:nvSpPr>
        <p:spPr>
          <a:xfrm>
            <a:off x="685800" y="1883664"/>
            <a:ext cx="3411626" cy="1207008"/>
          </a:xfrm>
          <a:prstGeom prst="roundRect">
            <a:avLst>
              <a:gd name="adj" fmla="val 4545"/>
            </a:avLst>
          </a:prstGeom>
          <a:solidFill>
            <a:srgbClr val="161D2A"/>
          </a:solidFill>
          <a:ln w="9525">
            <a:solidFill>
              <a:srgbClr val="222C3E"/>
            </a:solidFill>
            <a:prstDash val="solid"/>
          </a:ln>
        </p:spPr>
      </p:sp>
      <p:sp>
        <p:nvSpPr>
          <p:cNvPr id="7" name="Text 5"/>
          <p:cNvSpPr txBox="1"/>
          <p:nvPr/>
        </p:nvSpPr>
        <p:spPr>
          <a:xfrm>
            <a:off x="923544" y="1993392"/>
            <a:ext cx="640080" cy="274320"/>
          </a:xfrm>
          <a:prstGeom prst="rect">
            <a:avLst/>
          </a:prstGeom>
          <a:noFill/>
          <a:ln/>
        </p:spPr>
        <p:txBody>
          <a:bodyPr wrap="square" lIns="0" tIns="0" rIns="0" bIns="0" rtlCol="0" anchor="ctr"/>
          <a:lstStyle/>
          <a:p>
            <a:pPr indent="0" marL="0">
              <a:buNone/>
            </a:pPr>
            <a:r>
              <a:rPr lang="en-US" sz="1250" dirty="0">
                <a:solidFill>
                  <a:srgbClr val="7FA6CC"/>
                </a:solidFill>
                <a:latin typeface="Courier New" pitchFamily="34" charset="0"/>
                <a:ea typeface="Courier New" pitchFamily="34" charset="-122"/>
                <a:cs typeface="Courier New" pitchFamily="34" charset="-120"/>
              </a:rPr>
              <a:t>01</a:t>
            </a:r>
            <a:endParaRPr lang="en-US" sz="1250" dirty="0"/>
          </a:p>
        </p:txBody>
      </p:sp>
      <p:sp>
        <p:nvSpPr>
          <p:cNvPr id="8" name="Text 6"/>
          <p:cNvSpPr txBox="1"/>
          <p:nvPr/>
        </p:nvSpPr>
        <p:spPr>
          <a:xfrm>
            <a:off x="923544" y="2267712"/>
            <a:ext cx="2936138" cy="310896"/>
          </a:xfrm>
          <a:prstGeom prst="rect">
            <a:avLst/>
          </a:prstGeom>
          <a:noFill/>
          <a:ln/>
        </p:spPr>
        <p:txBody>
          <a:bodyPr wrap="square" lIns="0" tIns="0" rIns="0" bIns="0" rtlCol="0" anchor="ctr"/>
          <a:lstStyle/>
          <a:p>
            <a:pPr indent="0" marL="0">
              <a:buNone/>
            </a:pPr>
            <a:r>
              <a:rPr lang="en-US" sz="1700" b="1" dirty="0">
                <a:solidFill>
                  <a:srgbClr val="E9EDF3"/>
                </a:solidFill>
                <a:latin typeface="Cambria" pitchFamily="34" charset="0"/>
                <a:ea typeface="Cambria" pitchFamily="34" charset="-122"/>
                <a:cs typeface="Cambria" pitchFamily="34" charset="-120"/>
              </a:rPr>
              <a:t>Go in</a:t>
            </a:r>
            <a:endParaRPr lang="en-US" sz="1700" dirty="0"/>
          </a:p>
        </p:txBody>
      </p:sp>
      <p:sp>
        <p:nvSpPr>
          <p:cNvPr id="9" name="Text 7"/>
          <p:cNvSpPr txBox="1"/>
          <p:nvPr/>
        </p:nvSpPr>
        <p:spPr>
          <a:xfrm>
            <a:off x="923544" y="2615184"/>
            <a:ext cx="2936138"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The lobby is safe. Three tools, and the flashlight takes one slot</a:t>
            </a:r>
            <a:endParaRPr lang="en-US" sz="1150" dirty="0"/>
          </a:p>
        </p:txBody>
      </p:sp>
      <p:sp>
        <p:nvSpPr>
          <p:cNvPr id="10" name="Shape 8"/>
          <p:cNvSpPr/>
          <p:nvPr/>
        </p:nvSpPr>
        <p:spPr>
          <a:xfrm>
            <a:off x="4390034" y="1883664"/>
            <a:ext cx="3411626" cy="1207008"/>
          </a:xfrm>
          <a:prstGeom prst="roundRect">
            <a:avLst>
              <a:gd name="adj" fmla="val 4545"/>
            </a:avLst>
          </a:prstGeom>
          <a:solidFill>
            <a:srgbClr val="161D2A"/>
          </a:solidFill>
          <a:ln w="9525">
            <a:solidFill>
              <a:srgbClr val="222C3E"/>
            </a:solidFill>
            <a:prstDash val="solid"/>
          </a:ln>
        </p:spPr>
      </p:sp>
      <p:sp>
        <p:nvSpPr>
          <p:cNvPr id="11" name="Text 9"/>
          <p:cNvSpPr txBox="1"/>
          <p:nvPr/>
        </p:nvSpPr>
        <p:spPr>
          <a:xfrm>
            <a:off x="4627778" y="1993392"/>
            <a:ext cx="640080" cy="274320"/>
          </a:xfrm>
          <a:prstGeom prst="rect">
            <a:avLst/>
          </a:prstGeom>
          <a:noFill/>
          <a:ln/>
        </p:spPr>
        <p:txBody>
          <a:bodyPr wrap="square" lIns="0" tIns="0" rIns="0" bIns="0" rtlCol="0" anchor="ctr"/>
          <a:lstStyle/>
          <a:p>
            <a:pPr indent="0" marL="0">
              <a:buNone/>
            </a:pPr>
            <a:r>
              <a:rPr lang="en-US" sz="1250" dirty="0">
                <a:solidFill>
                  <a:srgbClr val="7FA6CC"/>
                </a:solidFill>
                <a:latin typeface="Courier New" pitchFamily="34" charset="0"/>
                <a:ea typeface="Courier New" pitchFamily="34" charset="-122"/>
                <a:cs typeface="Courier New" pitchFamily="34" charset="-120"/>
              </a:rPr>
              <a:t>02</a:t>
            </a:r>
            <a:endParaRPr lang="en-US" sz="1250" dirty="0"/>
          </a:p>
        </p:txBody>
      </p:sp>
      <p:sp>
        <p:nvSpPr>
          <p:cNvPr id="12" name="Text 10"/>
          <p:cNvSpPr txBox="1"/>
          <p:nvPr/>
        </p:nvSpPr>
        <p:spPr>
          <a:xfrm>
            <a:off x="4627778" y="2267712"/>
            <a:ext cx="2936138" cy="310896"/>
          </a:xfrm>
          <a:prstGeom prst="rect">
            <a:avLst/>
          </a:prstGeom>
          <a:noFill/>
          <a:ln/>
        </p:spPr>
        <p:txBody>
          <a:bodyPr wrap="square" lIns="0" tIns="0" rIns="0" bIns="0" rtlCol="0" anchor="ctr"/>
          <a:lstStyle/>
          <a:p>
            <a:pPr indent="0" marL="0">
              <a:buNone/>
            </a:pPr>
            <a:r>
              <a:rPr lang="en-US" sz="1700" b="1" dirty="0">
                <a:solidFill>
                  <a:srgbClr val="E9EDF3"/>
                </a:solidFill>
                <a:latin typeface="Cambria" pitchFamily="34" charset="0"/>
                <a:ea typeface="Cambria" pitchFamily="34" charset="-122"/>
                <a:cs typeface="Cambria" pitchFamily="34" charset="-120"/>
              </a:rPr>
              <a:t>Find the ghost room</a:t>
            </a:r>
            <a:endParaRPr lang="en-US" sz="1700" dirty="0"/>
          </a:p>
        </p:txBody>
      </p:sp>
      <p:sp>
        <p:nvSpPr>
          <p:cNvPr id="13" name="Text 11"/>
          <p:cNvSpPr txBox="1"/>
          <p:nvPr/>
        </p:nvSpPr>
        <p:spPr>
          <a:xfrm>
            <a:off x="4627778" y="2615184"/>
            <a:ext cx="2936138"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One of seven, picked at random. Cold air and the EMF reader</a:t>
            </a:r>
            <a:endParaRPr lang="en-US" sz="1150" dirty="0"/>
          </a:p>
        </p:txBody>
      </p:sp>
      <p:sp>
        <p:nvSpPr>
          <p:cNvPr id="14" name="Shape 12"/>
          <p:cNvSpPr/>
          <p:nvPr/>
        </p:nvSpPr>
        <p:spPr>
          <a:xfrm>
            <a:off x="8094269" y="1883664"/>
            <a:ext cx="3411626" cy="1207008"/>
          </a:xfrm>
          <a:prstGeom prst="roundRect">
            <a:avLst>
              <a:gd name="adj" fmla="val 4545"/>
            </a:avLst>
          </a:prstGeom>
          <a:solidFill>
            <a:srgbClr val="161D2A"/>
          </a:solidFill>
          <a:ln w="9525">
            <a:solidFill>
              <a:srgbClr val="222C3E"/>
            </a:solidFill>
            <a:prstDash val="solid"/>
          </a:ln>
        </p:spPr>
      </p:sp>
      <p:sp>
        <p:nvSpPr>
          <p:cNvPr id="15" name="Text 13"/>
          <p:cNvSpPr txBox="1"/>
          <p:nvPr/>
        </p:nvSpPr>
        <p:spPr>
          <a:xfrm>
            <a:off x="8332013" y="1993392"/>
            <a:ext cx="640080" cy="274320"/>
          </a:xfrm>
          <a:prstGeom prst="rect">
            <a:avLst/>
          </a:prstGeom>
          <a:noFill/>
          <a:ln/>
        </p:spPr>
        <p:txBody>
          <a:bodyPr wrap="square" lIns="0" tIns="0" rIns="0" bIns="0" rtlCol="0" anchor="ctr"/>
          <a:lstStyle/>
          <a:p>
            <a:pPr indent="0" marL="0">
              <a:buNone/>
            </a:pPr>
            <a:r>
              <a:rPr lang="en-US" sz="1250" dirty="0">
                <a:solidFill>
                  <a:srgbClr val="7FA6CC"/>
                </a:solidFill>
                <a:latin typeface="Courier New" pitchFamily="34" charset="0"/>
                <a:ea typeface="Courier New" pitchFamily="34" charset="-122"/>
                <a:cs typeface="Courier New" pitchFamily="34" charset="-120"/>
              </a:rPr>
              <a:t>03</a:t>
            </a:r>
            <a:endParaRPr lang="en-US" sz="1250" dirty="0"/>
          </a:p>
        </p:txBody>
      </p:sp>
      <p:sp>
        <p:nvSpPr>
          <p:cNvPr id="16" name="Text 14"/>
          <p:cNvSpPr txBox="1"/>
          <p:nvPr/>
        </p:nvSpPr>
        <p:spPr>
          <a:xfrm>
            <a:off x="8332013" y="2267712"/>
            <a:ext cx="2936138" cy="310896"/>
          </a:xfrm>
          <a:prstGeom prst="rect">
            <a:avLst/>
          </a:prstGeom>
          <a:noFill/>
          <a:ln/>
        </p:spPr>
        <p:txBody>
          <a:bodyPr wrap="square" lIns="0" tIns="0" rIns="0" bIns="0" rtlCol="0" anchor="ctr"/>
          <a:lstStyle/>
          <a:p>
            <a:pPr indent="0" marL="0">
              <a:buNone/>
            </a:pPr>
            <a:r>
              <a:rPr lang="en-US" sz="1700" b="1" dirty="0">
                <a:solidFill>
                  <a:srgbClr val="E9EDF3"/>
                </a:solidFill>
                <a:latin typeface="Cambria" pitchFamily="34" charset="0"/>
                <a:ea typeface="Cambria" pitchFamily="34" charset="-122"/>
                <a:cs typeface="Cambria" pitchFamily="34" charset="-120"/>
              </a:rPr>
              <a:t>Get the clues</a:t>
            </a:r>
            <a:endParaRPr lang="en-US" sz="1700" dirty="0"/>
          </a:p>
        </p:txBody>
      </p:sp>
      <p:sp>
        <p:nvSpPr>
          <p:cNvPr id="17" name="Text 15"/>
          <p:cNvSpPr txBox="1"/>
          <p:nvPr/>
        </p:nvSpPr>
        <p:spPr>
          <a:xfrm>
            <a:off x="8332013" y="2615184"/>
            <a:ext cx="2936138"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Follow the number · look for prints · leave the book and come back</a:t>
            </a:r>
            <a:endParaRPr lang="en-US" sz="1150" dirty="0"/>
          </a:p>
        </p:txBody>
      </p:sp>
      <p:sp>
        <p:nvSpPr>
          <p:cNvPr id="18" name="Shape 16"/>
          <p:cNvSpPr/>
          <p:nvPr/>
        </p:nvSpPr>
        <p:spPr>
          <a:xfrm>
            <a:off x="685800" y="3236976"/>
            <a:ext cx="3411626" cy="1207008"/>
          </a:xfrm>
          <a:prstGeom prst="roundRect">
            <a:avLst>
              <a:gd name="adj" fmla="val 4545"/>
            </a:avLst>
          </a:prstGeom>
          <a:solidFill>
            <a:srgbClr val="161D2A"/>
          </a:solidFill>
          <a:ln w="9525">
            <a:solidFill>
              <a:srgbClr val="222C3E"/>
            </a:solidFill>
            <a:prstDash val="solid"/>
          </a:ln>
        </p:spPr>
      </p:sp>
      <p:sp>
        <p:nvSpPr>
          <p:cNvPr id="19" name="Text 17"/>
          <p:cNvSpPr txBox="1"/>
          <p:nvPr/>
        </p:nvSpPr>
        <p:spPr>
          <a:xfrm>
            <a:off x="923544" y="3346704"/>
            <a:ext cx="640080" cy="274320"/>
          </a:xfrm>
          <a:prstGeom prst="rect">
            <a:avLst/>
          </a:prstGeom>
          <a:noFill/>
          <a:ln/>
        </p:spPr>
        <p:txBody>
          <a:bodyPr wrap="square" lIns="0" tIns="0" rIns="0" bIns="0" rtlCol="0" anchor="ctr"/>
          <a:lstStyle/>
          <a:p>
            <a:pPr indent="0" marL="0">
              <a:buNone/>
            </a:pPr>
            <a:r>
              <a:rPr lang="en-US" sz="1250" dirty="0">
                <a:solidFill>
                  <a:srgbClr val="7FA6CC"/>
                </a:solidFill>
                <a:latin typeface="Courier New" pitchFamily="34" charset="0"/>
                <a:ea typeface="Courier New" pitchFamily="34" charset="-122"/>
                <a:cs typeface="Courier New" pitchFamily="34" charset="-120"/>
              </a:rPr>
              <a:t>04</a:t>
            </a:r>
            <a:endParaRPr lang="en-US" sz="1250" dirty="0"/>
          </a:p>
        </p:txBody>
      </p:sp>
      <p:sp>
        <p:nvSpPr>
          <p:cNvPr id="20" name="Text 18"/>
          <p:cNvSpPr txBox="1"/>
          <p:nvPr/>
        </p:nvSpPr>
        <p:spPr>
          <a:xfrm>
            <a:off x="923544" y="3621024"/>
            <a:ext cx="2936138" cy="310896"/>
          </a:xfrm>
          <a:prstGeom prst="rect">
            <a:avLst/>
          </a:prstGeom>
          <a:noFill/>
          <a:ln/>
        </p:spPr>
        <p:txBody>
          <a:bodyPr wrap="square" lIns="0" tIns="0" rIns="0" bIns="0" rtlCol="0" anchor="ctr"/>
          <a:lstStyle/>
          <a:p>
            <a:pPr indent="0" marL="0">
              <a:buNone/>
            </a:pPr>
            <a:r>
              <a:rPr lang="en-US" sz="1700" b="1" dirty="0">
                <a:solidFill>
                  <a:srgbClr val="E9EDF3"/>
                </a:solidFill>
                <a:latin typeface="Cambria" pitchFamily="34" charset="0"/>
                <a:ea typeface="Cambria" pitchFamily="34" charset="-122"/>
                <a:cs typeface="Cambria" pitchFamily="34" charset="-120"/>
              </a:rPr>
              <a:t>Sanity drops under 50 %</a:t>
            </a:r>
            <a:endParaRPr lang="en-US" sz="1700" dirty="0"/>
          </a:p>
        </p:txBody>
      </p:sp>
      <p:sp>
        <p:nvSpPr>
          <p:cNvPr id="21" name="Text 19"/>
          <p:cNvSpPr txBox="1"/>
          <p:nvPr/>
        </p:nvSpPr>
        <p:spPr>
          <a:xfrm>
            <a:off x="923544" y="3968496"/>
            <a:ext cx="2936138"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Checked every 25 seconds. Lights flicker. A heartbeat starts</a:t>
            </a:r>
            <a:endParaRPr lang="en-US" sz="1150" dirty="0"/>
          </a:p>
        </p:txBody>
      </p:sp>
      <p:sp>
        <p:nvSpPr>
          <p:cNvPr id="22" name="Shape 20"/>
          <p:cNvSpPr/>
          <p:nvPr/>
        </p:nvSpPr>
        <p:spPr>
          <a:xfrm>
            <a:off x="4390034" y="3236976"/>
            <a:ext cx="3411626" cy="1207008"/>
          </a:xfrm>
          <a:prstGeom prst="roundRect">
            <a:avLst>
              <a:gd name="adj" fmla="val 4545"/>
            </a:avLst>
          </a:prstGeom>
          <a:solidFill>
            <a:srgbClr val="231419"/>
          </a:solidFill>
          <a:ln w="9525">
            <a:solidFill>
              <a:srgbClr val="222C3E"/>
            </a:solidFill>
            <a:prstDash val="solid"/>
          </a:ln>
        </p:spPr>
      </p:sp>
      <p:sp>
        <p:nvSpPr>
          <p:cNvPr id="23" name="Text 21"/>
          <p:cNvSpPr txBox="1"/>
          <p:nvPr/>
        </p:nvSpPr>
        <p:spPr>
          <a:xfrm>
            <a:off x="4627778" y="3346704"/>
            <a:ext cx="640080" cy="274320"/>
          </a:xfrm>
          <a:prstGeom prst="rect">
            <a:avLst/>
          </a:prstGeom>
          <a:noFill/>
          <a:ln/>
        </p:spPr>
        <p:txBody>
          <a:bodyPr wrap="square" lIns="0" tIns="0" rIns="0" bIns="0" rtlCol="0" anchor="ctr"/>
          <a:lstStyle/>
          <a:p>
            <a:pPr indent="0" marL="0">
              <a:buNone/>
            </a:pPr>
            <a:r>
              <a:rPr lang="en-US" sz="1250" dirty="0">
                <a:solidFill>
                  <a:srgbClr val="E0505E"/>
                </a:solidFill>
                <a:latin typeface="Courier New" pitchFamily="34" charset="0"/>
                <a:ea typeface="Courier New" pitchFamily="34" charset="-122"/>
                <a:cs typeface="Courier New" pitchFamily="34" charset="-120"/>
              </a:rPr>
              <a:t>05</a:t>
            </a:r>
            <a:endParaRPr lang="en-US" sz="1250" dirty="0"/>
          </a:p>
        </p:txBody>
      </p:sp>
      <p:sp>
        <p:nvSpPr>
          <p:cNvPr id="24" name="Text 22"/>
          <p:cNvSpPr txBox="1"/>
          <p:nvPr/>
        </p:nvSpPr>
        <p:spPr>
          <a:xfrm>
            <a:off x="4627778" y="3621024"/>
            <a:ext cx="2936138" cy="310896"/>
          </a:xfrm>
          <a:prstGeom prst="rect">
            <a:avLst/>
          </a:prstGeom>
          <a:noFill/>
          <a:ln/>
        </p:spPr>
        <p:txBody>
          <a:bodyPr wrap="square" lIns="0" tIns="0" rIns="0" bIns="0" rtlCol="0" anchor="ctr"/>
          <a:lstStyle/>
          <a:p>
            <a:pPr indent="0" marL="0">
              <a:buNone/>
            </a:pPr>
            <a:r>
              <a:rPr lang="en-US" sz="1700" b="1" dirty="0">
                <a:solidFill>
                  <a:srgbClr val="E9EDF3"/>
                </a:solidFill>
                <a:latin typeface="Cambria" pitchFamily="34" charset="0"/>
                <a:ea typeface="Cambria" pitchFamily="34" charset="-122"/>
                <a:cs typeface="Cambria" pitchFamily="34" charset="-120"/>
              </a:rPr>
              <a:t>The hunt</a:t>
            </a:r>
            <a:endParaRPr lang="en-US" sz="1700" dirty="0"/>
          </a:p>
        </p:txBody>
      </p:sp>
      <p:sp>
        <p:nvSpPr>
          <p:cNvPr id="25" name="Text 23"/>
          <p:cNvSpPr txBox="1"/>
          <p:nvPr/>
        </p:nvSpPr>
        <p:spPr>
          <a:xfrm>
            <a:off x="4627778" y="3968496"/>
            <a:ext cx="2936138"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The house turns red, the flashlight dies. Corner, door, get out of sight</a:t>
            </a:r>
            <a:endParaRPr lang="en-US" sz="1150" dirty="0"/>
          </a:p>
        </p:txBody>
      </p:sp>
      <p:sp>
        <p:nvSpPr>
          <p:cNvPr id="26" name="Shape 24"/>
          <p:cNvSpPr/>
          <p:nvPr/>
        </p:nvSpPr>
        <p:spPr>
          <a:xfrm>
            <a:off x="8094269" y="3236976"/>
            <a:ext cx="3411626" cy="1207008"/>
          </a:xfrm>
          <a:prstGeom prst="roundRect">
            <a:avLst>
              <a:gd name="adj" fmla="val 4545"/>
            </a:avLst>
          </a:prstGeom>
          <a:solidFill>
            <a:srgbClr val="231419"/>
          </a:solidFill>
          <a:ln w="9525">
            <a:solidFill>
              <a:srgbClr val="222C3E"/>
            </a:solidFill>
            <a:prstDash val="solid"/>
          </a:ln>
        </p:spPr>
      </p:sp>
      <p:sp>
        <p:nvSpPr>
          <p:cNvPr id="27" name="Text 25"/>
          <p:cNvSpPr txBox="1"/>
          <p:nvPr/>
        </p:nvSpPr>
        <p:spPr>
          <a:xfrm>
            <a:off x="8332013" y="3346704"/>
            <a:ext cx="640080" cy="274320"/>
          </a:xfrm>
          <a:prstGeom prst="rect">
            <a:avLst/>
          </a:prstGeom>
          <a:noFill/>
          <a:ln/>
        </p:spPr>
        <p:txBody>
          <a:bodyPr wrap="square" lIns="0" tIns="0" rIns="0" bIns="0" rtlCol="0" anchor="ctr"/>
          <a:lstStyle/>
          <a:p>
            <a:pPr indent="0" marL="0">
              <a:buNone/>
            </a:pPr>
            <a:r>
              <a:rPr lang="en-US" sz="1250" dirty="0">
                <a:solidFill>
                  <a:srgbClr val="E0505E"/>
                </a:solidFill>
                <a:latin typeface="Courier New" pitchFamily="34" charset="0"/>
                <a:ea typeface="Courier New" pitchFamily="34" charset="-122"/>
                <a:cs typeface="Courier New" pitchFamily="34" charset="-120"/>
              </a:rPr>
              <a:t>06</a:t>
            </a:r>
            <a:endParaRPr lang="en-US" sz="1250" dirty="0"/>
          </a:p>
        </p:txBody>
      </p:sp>
      <p:sp>
        <p:nvSpPr>
          <p:cNvPr id="28" name="Text 26"/>
          <p:cNvSpPr txBox="1"/>
          <p:nvPr/>
        </p:nvSpPr>
        <p:spPr>
          <a:xfrm>
            <a:off x="8332013" y="3621024"/>
            <a:ext cx="2936138" cy="310896"/>
          </a:xfrm>
          <a:prstGeom prst="rect">
            <a:avLst/>
          </a:prstGeom>
          <a:noFill/>
          <a:ln/>
        </p:spPr>
        <p:txBody>
          <a:bodyPr wrap="square" lIns="0" tIns="0" rIns="0" bIns="0" rtlCol="0" anchor="ctr"/>
          <a:lstStyle/>
          <a:p>
            <a:pPr indent="0" marL="0">
              <a:buNone/>
            </a:pPr>
            <a:r>
              <a:rPr lang="en-US" sz="1700" b="1" dirty="0">
                <a:solidFill>
                  <a:srgbClr val="E9EDF3"/>
                </a:solidFill>
                <a:latin typeface="Cambria" pitchFamily="34" charset="0"/>
                <a:ea typeface="Cambria" pitchFamily="34" charset="-122"/>
                <a:cs typeface="Cambria" pitchFamily="34" charset="-120"/>
              </a:rPr>
              <a:t>Leave and answer</a:t>
            </a:r>
            <a:endParaRPr lang="en-US" sz="1700" dirty="0"/>
          </a:p>
        </p:txBody>
      </p:sp>
      <p:sp>
        <p:nvSpPr>
          <p:cNvPr id="29" name="Text 27"/>
          <p:cNvSpPr txBox="1"/>
          <p:nvPr/>
        </p:nvSpPr>
        <p:spPr>
          <a:xfrm>
            <a:off x="8332013" y="3968496"/>
            <a:ext cx="2936138" cy="420624"/>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Back to the lobby, tick two clues, and pick a ghost</a:t>
            </a:r>
            <a:endParaRPr lang="en-US" sz="1150" dirty="0"/>
          </a:p>
        </p:txBody>
      </p:sp>
      <p:sp>
        <p:nvSpPr>
          <p:cNvPr id="30" name="Shape 28"/>
          <p:cNvSpPr/>
          <p:nvPr/>
        </p:nvSpPr>
        <p:spPr>
          <a:xfrm>
            <a:off x="685800" y="4736592"/>
            <a:ext cx="2485568" cy="1170432"/>
          </a:xfrm>
          <a:prstGeom prst="roundRect">
            <a:avLst>
              <a:gd name="adj" fmla="val 4688"/>
            </a:avLst>
          </a:prstGeom>
          <a:solidFill>
            <a:srgbClr val="222C3E"/>
          </a:solidFill>
          <a:ln w="9525">
            <a:solidFill>
              <a:srgbClr val="222C3E"/>
            </a:solidFill>
            <a:prstDash val="solid"/>
          </a:ln>
        </p:spPr>
      </p:sp>
      <p:sp>
        <p:nvSpPr>
          <p:cNvPr id="31" name="Text 29"/>
          <p:cNvSpPr txBox="1"/>
          <p:nvPr/>
        </p:nvSpPr>
        <p:spPr>
          <a:xfrm>
            <a:off x="923544" y="4828032"/>
            <a:ext cx="731520" cy="512064"/>
          </a:xfrm>
          <a:prstGeom prst="rect">
            <a:avLst/>
          </a:prstGeom>
          <a:noFill/>
          <a:ln/>
        </p:spPr>
        <p:txBody>
          <a:bodyPr wrap="square" lIns="0" tIns="0" rIns="0" bIns="0" rtlCol="0" anchor="ctr"/>
          <a:lstStyle/>
          <a:p>
            <a:pPr indent="0" marL="0">
              <a:buNone/>
            </a:pPr>
            <a:r>
              <a:rPr lang="en-US" sz="3200" b="1" dirty="0">
                <a:solidFill>
                  <a:srgbClr val="A9C6E4"/>
                </a:solidFill>
                <a:latin typeface="Cambria" pitchFamily="34" charset="0"/>
                <a:ea typeface="Cambria" pitchFamily="34" charset="-122"/>
                <a:cs typeface="Cambria" pitchFamily="34" charset="-120"/>
              </a:rPr>
              <a:t>S</a:t>
            </a:r>
            <a:endParaRPr lang="en-US" sz="3200" dirty="0"/>
          </a:p>
        </p:txBody>
      </p:sp>
      <p:sp>
        <p:nvSpPr>
          <p:cNvPr id="32" name="Text 30"/>
          <p:cNvSpPr txBox="1"/>
          <p:nvPr/>
        </p:nvSpPr>
        <p:spPr>
          <a:xfrm>
            <a:off x="923544" y="5358384"/>
            <a:ext cx="2010080" cy="457200"/>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Right answer, both clues, sanity over 30 %</a:t>
            </a:r>
            <a:endParaRPr lang="en-US" sz="1150" dirty="0"/>
          </a:p>
        </p:txBody>
      </p:sp>
      <p:sp>
        <p:nvSpPr>
          <p:cNvPr id="33" name="Shape 31"/>
          <p:cNvSpPr/>
          <p:nvPr/>
        </p:nvSpPr>
        <p:spPr>
          <a:xfrm>
            <a:off x="3463976" y="4736592"/>
            <a:ext cx="2485568" cy="1170432"/>
          </a:xfrm>
          <a:prstGeom prst="roundRect">
            <a:avLst>
              <a:gd name="adj" fmla="val 4688"/>
            </a:avLst>
          </a:prstGeom>
          <a:solidFill>
            <a:srgbClr val="222C3E"/>
          </a:solidFill>
          <a:ln w="9525">
            <a:solidFill>
              <a:srgbClr val="222C3E"/>
            </a:solidFill>
            <a:prstDash val="solid"/>
          </a:ln>
        </p:spPr>
      </p:sp>
      <p:sp>
        <p:nvSpPr>
          <p:cNvPr id="34" name="Text 32"/>
          <p:cNvSpPr txBox="1"/>
          <p:nvPr/>
        </p:nvSpPr>
        <p:spPr>
          <a:xfrm>
            <a:off x="3701720" y="4828032"/>
            <a:ext cx="731520" cy="512064"/>
          </a:xfrm>
          <a:prstGeom prst="rect">
            <a:avLst/>
          </a:prstGeom>
          <a:noFill/>
          <a:ln/>
        </p:spPr>
        <p:txBody>
          <a:bodyPr wrap="square" lIns="0" tIns="0" rIns="0" bIns="0" rtlCol="0" anchor="ctr"/>
          <a:lstStyle/>
          <a:p>
            <a:pPr indent="0" marL="0">
              <a:buNone/>
            </a:pPr>
            <a:r>
              <a:rPr lang="en-US" sz="3200" b="1" dirty="0">
                <a:solidFill>
                  <a:srgbClr val="A9C6E4"/>
                </a:solidFill>
                <a:latin typeface="Cambria" pitchFamily="34" charset="0"/>
                <a:ea typeface="Cambria" pitchFamily="34" charset="-122"/>
                <a:cs typeface="Cambria" pitchFamily="34" charset="-120"/>
              </a:rPr>
              <a:t>A</a:t>
            </a:r>
            <a:endParaRPr lang="en-US" sz="3200" dirty="0"/>
          </a:p>
        </p:txBody>
      </p:sp>
      <p:sp>
        <p:nvSpPr>
          <p:cNvPr id="35" name="Text 33"/>
          <p:cNvSpPr txBox="1"/>
          <p:nvPr/>
        </p:nvSpPr>
        <p:spPr>
          <a:xfrm>
            <a:off x="3701720" y="5358384"/>
            <a:ext cx="2010080" cy="457200"/>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Right answer</a:t>
            </a:r>
            <a:endParaRPr lang="en-US" sz="1150" dirty="0"/>
          </a:p>
        </p:txBody>
      </p:sp>
      <p:sp>
        <p:nvSpPr>
          <p:cNvPr id="36" name="Shape 34"/>
          <p:cNvSpPr/>
          <p:nvPr/>
        </p:nvSpPr>
        <p:spPr>
          <a:xfrm>
            <a:off x="6242152" y="4736592"/>
            <a:ext cx="2485568" cy="1170432"/>
          </a:xfrm>
          <a:prstGeom prst="roundRect">
            <a:avLst>
              <a:gd name="adj" fmla="val 4688"/>
            </a:avLst>
          </a:prstGeom>
          <a:solidFill>
            <a:srgbClr val="222C3E"/>
          </a:solidFill>
          <a:ln w="9525">
            <a:solidFill>
              <a:srgbClr val="222C3E"/>
            </a:solidFill>
            <a:prstDash val="solid"/>
          </a:ln>
        </p:spPr>
      </p:sp>
      <p:sp>
        <p:nvSpPr>
          <p:cNvPr id="37" name="Text 35"/>
          <p:cNvSpPr txBox="1"/>
          <p:nvPr/>
        </p:nvSpPr>
        <p:spPr>
          <a:xfrm>
            <a:off x="6479896" y="4828032"/>
            <a:ext cx="731520" cy="512064"/>
          </a:xfrm>
          <a:prstGeom prst="rect">
            <a:avLst/>
          </a:prstGeom>
          <a:noFill/>
          <a:ln/>
        </p:spPr>
        <p:txBody>
          <a:bodyPr wrap="square" lIns="0" tIns="0" rIns="0" bIns="0" rtlCol="0" anchor="ctr"/>
          <a:lstStyle/>
          <a:p>
            <a:pPr indent="0" marL="0">
              <a:buNone/>
            </a:pPr>
            <a:r>
              <a:rPr lang="en-US" sz="3200" b="1" dirty="0">
                <a:solidFill>
                  <a:srgbClr val="A9C6E4"/>
                </a:solidFill>
                <a:latin typeface="Cambria" pitchFamily="34" charset="0"/>
                <a:ea typeface="Cambria" pitchFamily="34" charset="-122"/>
                <a:cs typeface="Cambria" pitchFamily="34" charset="-120"/>
              </a:rPr>
              <a:t>C</a:t>
            </a:r>
            <a:endParaRPr lang="en-US" sz="3200" dirty="0"/>
          </a:p>
        </p:txBody>
      </p:sp>
      <p:sp>
        <p:nvSpPr>
          <p:cNvPr id="38" name="Text 36"/>
          <p:cNvSpPr txBox="1"/>
          <p:nvPr/>
        </p:nvSpPr>
        <p:spPr>
          <a:xfrm>
            <a:off x="6479896" y="5358384"/>
            <a:ext cx="2010080" cy="457200"/>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Wrong answer, but got out alive</a:t>
            </a:r>
            <a:endParaRPr lang="en-US" sz="1150" dirty="0"/>
          </a:p>
        </p:txBody>
      </p:sp>
      <p:sp>
        <p:nvSpPr>
          <p:cNvPr id="39" name="Shape 37"/>
          <p:cNvSpPr/>
          <p:nvPr/>
        </p:nvSpPr>
        <p:spPr>
          <a:xfrm>
            <a:off x="9020327" y="4736592"/>
            <a:ext cx="2485568" cy="1170432"/>
          </a:xfrm>
          <a:prstGeom prst="roundRect">
            <a:avLst>
              <a:gd name="adj" fmla="val 4688"/>
            </a:avLst>
          </a:prstGeom>
          <a:solidFill>
            <a:srgbClr val="222C3E"/>
          </a:solidFill>
          <a:ln w="9525">
            <a:solidFill>
              <a:srgbClr val="222C3E"/>
            </a:solidFill>
            <a:prstDash val="solid"/>
          </a:ln>
        </p:spPr>
      </p:sp>
      <p:sp>
        <p:nvSpPr>
          <p:cNvPr id="40" name="Text 38"/>
          <p:cNvSpPr txBox="1"/>
          <p:nvPr/>
        </p:nvSpPr>
        <p:spPr>
          <a:xfrm>
            <a:off x="9258071" y="4828032"/>
            <a:ext cx="731520" cy="512064"/>
          </a:xfrm>
          <a:prstGeom prst="rect">
            <a:avLst/>
          </a:prstGeom>
          <a:noFill/>
          <a:ln/>
        </p:spPr>
        <p:txBody>
          <a:bodyPr wrap="square" lIns="0" tIns="0" rIns="0" bIns="0" rtlCol="0" anchor="ctr"/>
          <a:lstStyle/>
          <a:p>
            <a:pPr indent="0" marL="0">
              <a:buNone/>
            </a:pPr>
            <a:r>
              <a:rPr lang="en-US" sz="3200" b="1" dirty="0">
                <a:solidFill>
                  <a:srgbClr val="E0505E"/>
                </a:solidFill>
                <a:latin typeface="Cambria" pitchFamily="34" charset="0"/>
                <a:ea typeface="Cambria" pitchFamily="34" charset="-122"/>
                <a:cs typeface="Cambria" pitchFamily="34" charset="-120"/>
              </a:rPr>
              <a:t>F</a:t>
            </a:r>
            <a:endParaRPr lang="en-US" sz="3200" dirty="0"/>
          </a:p>
        </p:txBody>
      </p:sp>
      <p:sp>
        <p:nvSpPr>
          <p:cNvPr id="41" name="Text 39"/>
          <p:cNvSpPr txBox="1"/>
          <p:nvPr/>
        </p:nvSpPr>
        <p:spPr>
          <a:xfrm>
            <a:off x="9258071" y="5358384"/>
            <a:ext cx="2010080" cy="457200"/>
          </a:xfrm>
          <a:prstGeom prst="rect">
            <a:avLst/>
          </a:prstGeom>
          <a:noFill/>
          <a:ln/>
        </p:spPr>
        <p:txBody>
          <a:bodyPr wrap="square" lIns="0" tIns="0" rIns="0" bIns="0" rtlCol="0" anchor="ctr"/>
          <a:lstStyle/>
          <a:p>
            <a:pPr indent="0" marL="0">
              <a:buNone/>
            </a:pPr>
            <a:r>
              <a:rPr lang="en-US" sz="1150" dirty="0">
                <a:solidFill>
                  <a:srgbClr val="8D9AAD"/>
                </a:solidFill>
                <a:latin typeface="Calibri" pitchFamily="34" charset="0"/>
                <a:ea typeface="Calibri" pitchFamily="34" charset="-122"/>
                <a:cs typeface="Calibri" pitchFamily="34" charset="-120"/>
              </a:rPr>
              <a:t>Caught during a hunt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D13"/>
        </a:solidFill>
      </p:bgPr>
    </p:bg>
    <p:spTree>
      <p:nvGrpSpPr>
        <p:cNvPr id="1" name=""/>
        <p:cNvGrpSpPr/>
        <p:nvPr/>
      </p:nvGrpSpPr>
      <p:grpSpPr>
        <a:xfrm>
          <a:off x="0" y="0"/>
          <a:ext cx="0" cy="0"/>
          <a:chOff x="0" y="0"/>
          <a:chExt cx="0" cy="0"/>
        </a:xfrm>
      </p:grpSpPr>
      <p:sp>
        <p:nvSpPr>
          <p:cNvPr id="2" name="Text 0"/>
          <p:cNvSpPr txBox="1"/>
          <p:nvPr/>
        </p:nvSpPr>
        <p:spPr>
          <a:xfrm>
            <a:off x="685800" y="1371600"/>
            <a:ext cx="10820095" cy="822960"/>
          </a:xfrm>
          <a:prstGeom prst="rect">
            <a:avLst/>
          </a:prstGeom>
          <a:noFill/>
          <a:ln/>
        </p:spPr>
        <p:txBody>
          <a:bodyPr wrap="square" lIns="0" tIns="0" rIns="0" bIns="0" rtlCol="0" anchor="ctr"/>
          <a:lstStyle/>
          <a:p>
            <a:pPr indent="0" marL="0">
              <a:buNone/>
            </a:pPr>
            <a:r>
              <a:rPr lang="en-US" sz="3600" b="1" dirty="0">
                <a:solidFill>
                  <a:srgbClr val="E9EDF3"/>
                </a:solidFill>
                <a:latin typeface="Cambria" pitchFamily="34" charset="0"/>
                <a:ea typeface="Cambria" pitchFamily="34" charset="-122"/>
                <a:cs typeface="Cambria" pitchFamily="34" charset="-120"/>
              </a:rPr>
              <a:t>Eight days, from nothing to a playable game.</a:t>
            </a:r>
            <a:endParaRPr lang="en-US" sz="3600" dirty="0"/>
          </a:p>
        </p:txBody>
      </p:sp>
      <p:sp>
        <p:nvSpPr>
          <p:cNvPr id="3" name="Text 1"/>
          <p:cNvSpPr txBox="1"/>
          <p:nvPr/>
        </p:nvSpPr>
        <p:spPr>
          <a:xfrm>
            <a:off x="685800" y="2231136"/>
            <a:ext cx="10820095" cy="420624"/>
          </a:xfrm>
          <a:prstGeom prst="rect">
            <a:avLst/>
          </a:prstGeom>
          <a:noFill/>
          <a:ln/>
        </p:spPr>
        <p:txBody>
          <a:bodyPr wrap="square" lIns="0" tIns="0" rIns="0" bIns="0" rtlCol="0" anchor="ctr"/>
          <a:lstStyle/>
          <a:p>
            <a:pPr indent="0" marL="0">
              <a:buNone/>
            </a:pPr>
            <a:r>
              <a:rPr lang="en-US" sz="1900" dirty="0">
                <a:solidFill>
                  <a:srgbClr val="7FA6CC"/>
                </a:solidFill>
                <a:latin typeface="Calibri" pitchFamily="34" charset="0"/>
                <a:ea typeface="Calibri" pitchFamily="34" charset="-122"/>
                <a:cs typeface="Calibri" pitchFamily="34" charset="-120"/>
              </a:rPr>
              <a:t>We did not make a bigger game. We made one that finishes.</a:t>
            </a:r>
            <a:endParaRPr lang="en-US" sz="1900" dirty="0"/>
          </a:p>
        </p:txBody>
      </p:sp>
      <p:sp>
        <p:nvSpPr>
          <p:cNvPr id="4" name="Shape 2"/>
          <p:cNvSpPr/>
          <p:nvPr/>
        </p:nvSpPr>
        <p:spPr>
          <a:xfrm>
            <a:off x="685800" y="3017520"/>
            <a:ext cx="3387242" cy="1517904"/>
          </a:xfrm>
          <a:prstGeom prst="roundRect">
            <a:avLst>
              <a:gd name="adj" fmla="val 3614"/>
            </a:avLst>
          </a:prstGeom>
          <a:solidFill>
            <a:srgbClr val="161D2A"/>
          </a:solidFill>
          <a:ln w="9525">
            <a:solidFill>
              <a:srgbClr val="222C3E"/>
            </a:solidFill>
            <a:prstDash val="solid"/>
          </a:ln>
        </p:spPr>
      </p:sp>
      <p:sp>
        <p:nvSpPr>
          <p:cNvPr id="5" name="Text 3"/>
          <p:cNvSpPr txBox="1"/>
          <p:nvPr/>
        </p:nvSpPr>
        <p:spPr>
          <a:xfrm>
            <a:off x="960120" y="3127248"/>
            <a:ext cx="914400" cy="292608"/>
          </a:xfrm>
          <a:prstGeom prst="rect">
            <a:avLst/>
          </a:prstGeom>
          <a:noFill/>
          <a:ln/>
        </p:spPr>
        <p:txBody>
          <a:bodyPr wrap="square" lIns="0" tIns="0" rIns="0" bIns="0" rtlCol="0" anchor="ctr"/>
          <a:lstStyle/>
          <a:p>
            <a:pPr indent="0" marL="0">
              <a:buNone/>
            </a:pPr>
            <a:r>
              <a:rPr lang="en-US" sz="1250" dirty="0">
                <a:solidFill>
                  <a:srgbClr val="5E6B7E"/>
                </a:solidFill>
                <a:latin typeface="Courier New" pitchFamily="34" charset="0"/>
                <a:ea typeface="Courier New" pitchFamily="34" charset="-122"/>
                <a:cs typeface="Courier New" pitchFamily="34" charset="-120"/>
              </a:rPr>
              <a:t>01</a:t>
            </a:r>
            <a:endParaRPr lang="en-US" sz="1250" dirty="0"/>
          </a:p>
        </p:txBody>
      </p:sp>
      <p:sp>
        <p:nvSpPr>
          <p:cNvPr id="6" name="Text 4"/>
          <p:cNvSpPr txBox="1"/>
          <p:nvPr/>
        </p:nvSpPr>
        <p:spPr>
          <a:xfrm>
            <a:off x="960120" y="3438144"/>
            <a:ext cx="2838602" cy="566928"/>
          </a:xfrm>
          <a:prstGeom prst="rect">
            <a:avLst/>
          </a:prstGeom>
          <a:noFill/>
          <a:ln/>
        </p:spPr>
        <p:txBody>
          <a:bodyPr wrap="square" lIns="0" tIns="0" rIns="0" bIns="0" rtlCol="0" anchor="ctr"/>
          <a:lstStyle/>
          <a:p>
            <a:pPr indent="0" marL="0">
              <a:buNone/>
            </a:pPr>
            <a:r>
              <a:rPr lang="en-US" sz="1500" b="1" dirty="0">
                <a:solidFill>
                  <a:srgbClr val="A9C6E4"/>
                </a:solidFill>
                <a:latin typeface="Calibri" pitchFamily="34" charset="0"/>
                <a:ea typeface="Calibri" pitchFamily="34" charset="-122"/>
                <a:cs typeface="Calibri" pitchFamily="34" charset="-120"/>
              </a:rPr>
              <a:t>A clue table that always works</a:t>
            </a:r>
            <a:endParaRPr lang="en-US" sz="1500" dirty="0"/>
          </a:p>
        </p:txBody>
      </p:sp>
      <p:sp>
        <p:nvSpPr>
          <p:cNvPr id="7" name="Text 5"/>
          <p:cNvSpPr txBox="1"/>
          <p:nvPr/>
        </p:nvSpPr>
        <p:spPr>
          <a:xfrm>
            <a:off x="960120" y="3986784"/>
            <a:ext cx="2838602" cy="512064"/>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3 ghosts × 3 clues. Two clues give one answer. No luck.</a:t>
            </a:r>
            <a:endParaRPr lang="en-US" sz="1200" dirty="0"/>
          </a:p>
        </p:txBody>
      </p:sp>
      <p:sp>
        <p:nvSpPr>
          <p:cNvPr id="8" name="Shape 6"/>
          <p:cNvSpPr/>
          <p:nvPr/>
        </p:nvSpPr>
        <p:spPr>
          <a:xfrm>
            <a:off x="4402226" y="3017520"/>
            <a:ext cx="3387242" cy="1517904"/>
          </a:xfrm>
          <a:prstGeom prst="roundRect">
            <a:avLst>
              <a:gd name="adj" fmla="val 3614"/>
            </a:avLst>
          </a:prstGeom>
          <a:solidFill>
            <a:srgbClr val="161D2A"/>
          </a:solidFill>
          <a:ln w="9525">
            <a:solidFill>
              <a:srgbClr val="222C3E"/>
            </a:solidFill>
            <a:prstDash val="solid"/>
          </a:ln>
        </p:spPr>
      </p:sp>
      <p:sp>
        <p:nvSpPr>
          <p:cNvPr id="9" name="Text 7"/>
          <p:cNvSpPr txBox="1"/>
          <p:nvPr/>
        </p:nvSpPr>
        <p:spPr>
          <a:xfrm>
            <a:off x="4676546" y="3127248"/>
            <a:ext cx="914400" cy="292608"/>
          </a:xfrm>
          <a:prstGeom prst="rect">
            <a:avLst/>
          </a:prstGeom>
          <a:noFill/>
          <a:ln/>
        </p:spPr>
        <p:txBody>
          <a:bodyPr wrap="square" lIns="0" tIns="0" rIns="0" bIns="0" rtlCol="0" anchor="ctr"/>
          <a:lstStyle/>
          <a:p>
            <a:pPr indent="0" marL="0">
              <a:buNone/>
            </a:pPr>
            <a:r>
              <a:rPr lang="en-US" sz="1250" dirty="0">
                <a:solidFill>
                  <a:srgbClr val="5E6B7E"/>
                </a:solidFill>
                <a:latin typeface="Courier New" pitchFamily="34" charset="0"/>
                <a:ea typeface="Courier New" pitchFamily="34" charset="-122"/>
                <a:cs typeface="Courier New" pitchFamily="34" charset="-120"/>
              </a:rPr>
              <a:t>02</a:t>
            </a:r>
            <a:endParaRPr lang="en-US" sz="1250" dirty="0"/>
          </a:p>
        </p:txBody>
      </p:sp>
      <p:sp>
        <p:nvSpPr>
          <p:cNvPr id="10" name="Text 8"/>
          <p:cNvSpPr txBox="1"/>
          <p:nvPr/>
        </p:nvSpPr>
        <p:spPr>
          <a:xfrm>
            <a:off x="4676546" y="3438144"/>
            <a:ext cx="2838602" cy="566928"/>
          </a:xfrm>
          <a:prstGeom prst="rect">
            <a:avLst/>
          </a:prstGeom>
          <a:noFill/>
          <a:ln/>
        </p:spPr>
        <p:txBody>
          <a:bodyPr wrap="square" lIns="0" tIns="0" rIns="0" bIns="0" rtlCol="0" anchor="ctr"/>
          <a:lstStyle/>
          <a:p>
            <a:pPr indent="0" marL="0">
              <a:buNone/>
            </a:pPr>
            <a:r>
              <a:rPr lang="en-US" sz="1500" b="1" dirty="0">
                <a:solidFill>
                  <a:srgbClr val="A9C6E4"/>
                </a:solidFill>
                <a:latin typeface="Calibri" pitchFamily="34" charset="0"/>
                <a:ea typeface="Calibri" pitchFamily="34" charset="-122"/>
                <a:cs typeface="Calibri" pitchFamily="34" charset="-120"/>
              </a:rPr>
              <a:t>A way of working we can use again</a:t>
            </a:r>
            <a:endParaRPr lang="en-US" sz="1500" dirty="0"/>
          </a:p>
        </p:txBody>
      </p:sp>
      <p:sp>
        <p:nvSpPr>
          <p:cNvPr id="11" name="Text 9"/>
          <p:cNvSpPr txBox="1"/>
          <p:nvPr/>
        </p:nvSpPr>
        <p:spPr>
          <a:xfrm>
            <a:off x="4676546" y="3986784"/>
            <a:ext cx="2838602" cy="512064"/>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Spec → AI → auto check → build → self check → a person reads it</a:t>
            </a:r>
            <a:endParaRPr lang="en-US" sz="1200" dirty="0"/>
          </a:p>
        </p:txBody>
      </p:sp>
      <p:sp>
        <p:nvSpPr>
          <p:cNvPr id="12" name="Shape 10"/>
          <p:cNvSpPr/>
          <p:nvPr/>
        </p:nvSpPr>
        <p:spPr>
          <a:xfrm>
            <a:off x="8118653" y="3017520"/>
            <a:ext cx="3387242" cy="1517904"/>
          </a:xfrm>
          <a:prstGeom prst="roundRect">
            <a:avLst>
              <a:gd name="adj" fmla="val 3614"/>
            </a:avLst>
          </a:prstGeom>
          <a:solidFill>
            <a:srgbClr val="161D2A"/>
          </a:solidFill>
          <a:ln w="9525">
            <a:solidFill>
              <a:srgbClr val="222C3E"/>
            </a:solidFill>
            <a:prstDash val="solid"/>
          </a:ln>
        </p:spPr>
      </p:sp>
      <p:sp>
        <p:nvSpPr>
          <p:cNvPr id="13" name="Text 11"/>
          <p:cNvSpPr txBox="1"/>
          <p:nvPr/>
        </p:nvSpPr>
        <p:spPr>
          <a:xfrm>
            <a:off x="8392973" y="3127248"/>
            <a:ext cx="914400" cy="292608"/>
          </a:xfrm>
          <a:prstGeom prst="rect">
            <a:avLst/>
          </a:prstGeom>
          <a:noFill/>
          <a:ln/>
        </p:spPr>
        <p:txBody>
          <a:bodyPr wrap="square" lIns="0" tIns="0" rIns="0" bIns="0" rtlCol="0" anchor="ctr"/>
          <a:lstStyle/>
          <a:p>
            <a:pPr indent="0" marL="0">
              <a:buNone/>
            </a:pPr>
            <a:r>
              <a:rPr lang="en-US" sz="1250" dirty="0">
                <a:solidFill>
                  <a:srgbClr val="5E6B7E"/>
                </a:solidFill>
                <a:latin typeface="Courier New" pitchFamily="34" charset="0"/>
                <a:ea typeface="Courier New" pitchFamily="34" charset="-122"/>
                <a:cs typeface="Courier New" pitchFamily="34" charset="-120"/>
              </a:rPr>
              <a:t>03</a:t>
            </a:r>
            <a:endParaRPr lang="en-US" sz="1250" dirty="0"/>
          </a:p>
        </p:txBody>
      </p:sp>
      <p:sp>
        <p:nvSpPr>
          <p:cNvPr id="14" name="Text 12"/>
          <p:cNvSpPr txBox="1"/>
          <p:nvPr/>
        </p:nvSpPr>
        <p:spPr>
          <a:xfrm>
            <a:off x="8392973" y="3438144"/>
            <a:ext cx="2838602" cy="566928"/>
          </a:xfrm>
          <a:prstGeom prst="rect">
            <a:avLst/>
          </a:prstGeom>
          <a:noFill/>
          <a:ln/>
        </p:spPr>
        <p:txBody>
          <a:bodyPr wrap="square" lIns="0" tIns="0" rIns="0" bIns="0" rtlCol="0" anchor="ctr"/>
          <a:lstStyle/>
          <a:p>
            <a:pPr indent="0" marL="0">
              <a:buNone/>
            </a:pPr>
            <a:r>
              <a:rPr lang="en-US" sz="1500" b="1" dirty="0">
                <a:solidFill>
                  <a:srgbClr val="A9C6E4"/>
                </a:solidFill>
                <a:latin typeface="Calibri" pitchFamily="34" charset="0"/>
                <a:ea typeface="Calibri" pitchFamily="34" charset="-122"/>
                <a:cs typeface="Calibri" pitchFamily="34" charset="-120"/>
              </a:rPr>
              <a:t>Rules we agreed before we started</a:t>
            </a:r>
            <a:endParaRPr lang="en-US" sz="1500" dirty="0"/>
          </a:p>
        </p:txBody>
      </p:sp>
      <p:sp>
        <p:nvSpPr>
          <p:cNvPr id="15" name="Text 13"/>
          <p:cNvSpPr txBox="1"/>
          <p:nvPr/>
        </p:nvSpPr>
        <p:spPr>
          <a:xfrm>
            <a:off x="8392973" y="3986784"/>
            <a:ext cx="2838602" cy="512064"/>
          </a:xfrm>
          <a:prstGeom prst="rect">
            <a:avLst/>
          </a:prstGeom>
          <a:noFill/>
          <a:ln/>
        </p:spPr>
        <p:txBody>
          <a:bodyPr wrap="square" lIns="0" tIns="0" rIns="0" bIns="0" rtlCol="0" anchor="ctr"/>
          <a:lstStyle/>
          <a:p>
            <a:pPr indent="0" marL="0">
              <a:buNone/>
            </a:pPr>
            <a:r>
              <a:rPr lang="en-US" sz="1200" dirty="0">
                <a:solidFill>
                  <a:srgbClr val="8D9AAD"/>
                </a:solidFill>
                <a:latin typeface="Calibri" pitchFamily="34" charset="0"/>
                <a:ea typeface="Calibri" pitchFamily="34" charset="-122"/>
                <a:cs typeface="Calibri" pitchFamily="34" charset="-120"/>
              </a:rPr>
              <a:t>No part touches another, so we could all work at the same time</a:t>
            </a:r>
            <a:endParaRPr lang="en-US" sz="1200" dirty="0"/>
          </a:p>
        </p:txBody>
      </p:sp>
      <p:sp>
        <p:nvSpPr>
          <p:cNvPr id="16" name="Text 14"/>
          <p:cNvSpPr txBox="1"/>
          <p:nvPr/>
        </p:nvSpPr>
        <p:spPr>
          <a:xfrm>
            <a:off x="685800" y="4791456"/>
            <a:ext cx="10820095" cy="658368"/>
          </a:xfrm>
          <a:prstGeom prst="rect">
            <a:avLst/>
          </a:prstGeom>
          <a:noFill/>
          <a:ln/>
        </p:spPr>
        <p:txBody>
          <a:bodyPr wrap="square" lIns="0" tIns="0" rIns="0" bIns="0" rtlCol="0" anchor="ctr"/>
          <a:lstStyle/>
          <a:p>
            <a:pPr indent="0" marL="0">
              <a:lnSpc>
                <a:spcPts val="2000"/>
              </a:lnSpc>
              <a:buNone/>
            </a:pPr>
            <a:r>
              <a:rPr lang="en-US" sz="1300" dirty="0">
                <a:solidFill>
                  <a:srgbClr val="8D9AAD"/>
                </a:solidFill>
                <a:latin typeface="Calibri" pitchFamily="34" charset="0"/>
                <a:ea typeface="Calibri" pitchFamily="34" charset="-122"/>
                <a:cs typeface="Calibri" pitchFamily="34" charset="-120"/>
              </a:rPr>
              <a:t>This was our first 3D game, and most of the eight days went into deciding what NOT to build.</a:t>
            </a:r>
            <a:endParaRPr lang="en-US" sz="1300" dirty="0"/>
          </a:p>
          <a:p>
            <a:pPr indent="0" marL="0">
              <a:lnSpc>
                <a:spcPts val="2000"/>
              </a:lnSpc>
              <a:buNone/>
            </a:pPr>
            <a:r>
              <a:rPr lang="en-US" sz="1300" dirty="0">
                <a:solidFill>
                  <a:srgbClr val="8D9AAD"/>
                </a:solidFill>
                <a:latin typeface="Calibri" pitchFamily="34" charset="0"/>
                <a:ea typeface="Calibri" pitchFamily="34" charset="-122"/>
                <a:cs typeface="Calibri" pitchFamily="34" charset="-120"/>
              </a:rPr>
              <a:t>Next: a thermometer as a fourth clue, which gives a 4 × 4 table and six ghosts · a second map · two players on one PC</a:t>
            </a:r>
            <a:endParaRPr lang="en-US" sz="1300" dirty="0"/>
          </a:p>
        </p:txBody>
      </p:sp>
      <p:sp>
        <p:nvSpPr>
          <p:cNvPr id="17" name="Text 15"/>
          <p:cNvSpPr txBox="1"/>
          <p:nvPr/>
        </p:nvSpPr>
        <p:spPr>
          <a:xfrm>
            <a:off x="685800" y="5577840"/>
            <a:ext cx="5029200" cy="457200"/>
          </a:xfrm>
          <a:prstGeom prst="rect">
            <a:avLst/>
          </a:prstGeom>
          <a:noFill/>
          <a:ln/>
        </p:spPr>
        <p:txBody>
          <a:bodyPr wrap="square" lIns="0" tIns="0" rIns="0" bIns="0" rtlCol="0" anchor="ctr"/>
          <a:lstStyle/>
          <a:p>
            <a:pPr indent="0" marL="0">
              <a:buNone/>
            </a:pPr>
            <a:r>
              <a:rPr lang="en-US" sz="2400" b="1" spc="400" kern="0" dirty="0">
                <a:solidFill>
                  <a:srgbClr val="E9EDF3"/>
                </a:solidFill>
                <a:latin typeface="Cambria" pitchFamily="34" charset="0"/>
                <a:ea typeface="Cambria" pitchFamily="34" charset="-122"/>
                <a:cs typeface="Cambria" pitchFamily="34" charset="-120"/>
              </a:rPr>
              <a:t>RESIDUUM</a:t>
            </a:r>
            <a:endParaRPr lang="en-US" sz="2400" dirty="0"/>
          </a:p>
        </p:txBody>
      </p:sp>
      <p:sp>
        <p:nvSpPr>
          <p:cNvPr id="18" name="Text 16"/>
          <p:cNvSpPr txBox="1"/>
          <p:nvPr/>
        </p:nvSpPr>
        <p:spPr>
          <a:xfrm>
            <a:off x="7299655" y="5632704"/>
            <a:ext cx="4206240" cy="365760"/>
          </a:xfrm>
          <a:prstGeom prst="rect">
            <a:avLst/>
          </a:prstGeom>
          <a:noFill/>
          <a:ln/>
        </p:spPr>
        <p:txBody>
          <a:bodyPr wrap="square" lIns="0" tIns="0" rIns="0" bIns="0" rtlCol="0" anchor="ctr"/>
          <a:lstStyle/>
          <a:p>
            <a:pPr algn="r" indent="0" marL="0">
              <a:buNone/>
            </a:pPr>
            <a:r>
              <a:rPr lang="en-US" sz="1700" dirty="0">
                <a:solidFill>
                  <a:srgbClr val="7FA6CC"/>
                </a:solidFill>
                <a:latin typeface="Calibri" pitchFamily="34" charset="0"/>
                <a:ea typeface="Calibri" pitchFamily="34" charset="-122"/>
                <a:cs typeface="Calibri" pitchFamily="34" charset="-120"/>
              </a:rPr>
              <a:t>Thank you  ·  Questions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RESIDUUM — Final Presentation</dc:title>
  <dc:subject>PptxGenJS Presentation</dc:subject>
  <dc:creator>Henry</dc:creator>
  <cp:lastModifiedBy>Henry</cp:lastModifiedBy>
  <cp:revision>1</cp:revision>
  <dcterms:created xsi:type="dcterms:W3CDTF">2026-08-28T09:03:27Z</dcterms:created>
  <dcterms:modified xsi:type="dcterms:W3CDTF">2026-08-28T09:03:27Z</dcterms:modified>
</cp:coreProperties>
</file>