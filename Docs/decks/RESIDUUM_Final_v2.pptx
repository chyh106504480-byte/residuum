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8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" y="777240"/>
            <a:ext cx="8229600" cy="4572000"/>
          </a:xfrm>
          <a:prstGeom prst="ellipse">
            <a:avLst/>
          </a:prstGeom>
          <a:solidFill>
            <a:srgbClr val="D89A45">
              <a:alpha val="3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402336" y="1051560"/>
            <a:ext cx="7242048" cy="4023360"/>
          </a:xfrm>
          <a:prstGeom prst="ellipse">
            <a:avLst/>
          </a:prstGeom>
          <a:solidFill>
            <a:srgbClr val="D89A45">
              <a:alpha val="3000"/>
            </a:srgbClr>
          </a:solidFill>
        </p:spPr>
      </p:sp>
      <p:sp>
        <p:nvSpPr>
          <p:cNvPr id="4" name="Shape 2"/>
          <p:cNvSpPr/>
          <p:nvPr/>
        </p:nvSpPr>
        <p:spPr>
          <a:xfrm>
            <a:off x="896112" y="1325880"/>
            <a:ext cx="6254496" cy="3474720"/>
          </a:xfrm>
          <a:prstGeom prst="ellipse">
            <a:avLst/>
          </a:prstGeom>
          <a:solidFill>
            <a:srgbClr val="D89A45">
              <a:alpha val="3000"/>
            </a:srgbClr>
          </a:solidFill>
        </p:spPr>
      </p:sp>
      <p:sp>
        <p:nvSpPr>
          <p:cNvPr id="5" name="Shape 3"/>
          <p:cNvSpPr/>
          <p:nvPr/>
        </p:nvSpPr>
        <p:spPr>
          <a:xfrm>
            <a:off x="1389888" y="1600200"/>
            <a:ext cx="5266944" cy="2926080"/>
          </a:xfrm>
          <a:prstGeom prst="ellipse">
            <a:avLst/>
          </a:prstGeom>
          <a:solidFill>
            <a:srgbClr val="D89A45">
              <a:alpha val="3000"/>
            </a:srgbClr>
          </a:solidFill>
        </p:spPr>
      </p:sp>
      <p:sp>
        <p:nvSpPr>
          <p:cNvPr id="6" name="Shape 4"/>
          <p:cNvSpPr/>
          <p:nvPr/>
        </p:nvSpPr>
        <p:spPr>
          <a:xfrm>
            <a:off x="1842516" y="1851660"/>
            <a:ext cx="4361688" cy="2423160"/>
          </a:xfrm>
          <a:prstGeom prst="ellipse">
            <a:avLst/>
          </a:prstGeom>
          <a:solidFill>
            <a:srgbClr val="D89A45">
              <a:alpha val="3000"/>
            </a:srgbClr>
          </a:solidFill>
        </p:spPr>
      </p:sp>
      <p:sp>
        <p:nvSpPr>
          <p:cNvPr id="7" name="Shape 5"/>
          <p:cNvSpPr/>
          <p:nvPr/>
        </p:nvSpPr>
        <p:spPr>
          <a:xfrm>
            <a:off x="2253996" y="2080260"/>
            <a:ext cx="3538728" cy="1965960"/>
          </a:xfrm>
          <a:prstGeom prst="ellipse">
            <a:avLst/>
          </a:prstGeom>
          <a:solidFill>
            <a:srgbClr val="D89A45">
              <a:alpha val="3000"/>
            </a:srgbClr>
          </a:solidFill>
        </p:spPr>
      </p:sp>
      <p:sp>
        <p:nvSpPr>
          <p:cNvPr id="8" name="Shape 6"/>
          <p:cNvSpPr/>
          <p:nvPr/>
        </p:nvSpPr>
        <p:spPr>
          <a:xfrm>
            <a:off x="2624328" y="2286000"/>
            <a:ext cx="2798064" cy="1554480"/>
          </a:xfrm>
          <a:prstGeom prst="ellipse">
            <a:avLst/>
          </a:prstGeom>
          <a:solidFill>
            <a:srgbClr val="D89A45">
              <a:alpha val="3000"/>
            </a:srgbClr>
          </a:solidFill>
        </p:spPr>
      </p:sp>
      <p:sp>
        <p:nvSpPr>
          <p:cNvPr id="9" name="Shape 7"/>
          <p:cNvSpPr/>
          <p:nvPr/>
        </p:nvSpPr>
        <p:spPr>
          <a:xfrm>
            <a:off x="2953512" y="2468880"/>
            <a:ext cx="2139696" cy="1188720"/>
          </a:xfrm>
          <a:prstGeom prst="ellipse">
            <a:avLst/>
          </a:prstGeom>
          <a:solidFill>
            <a:srgbClr val="D89A45">
              <a:alpha val="3000"/>
            </a:srgbClr>
          </a:solidFill>
        </p:spPr>
      </p:sp>
      <p:sp>
        <p:nvSpPr>
          <p:cNvPr id="10" name="Shape 8"/>
          <p:cNvSpPr/>
          <p:nvPr/>
        </p:nvSpPr>
        <p:spPr>
          <a:xfrm>
            <a:off x="3241548" y="2628900"/>
            <a:ext cx="1563624" cy="868680"/>
          </a:xfrm>
          <a:prstGeom prst="ellipse">
            <a:avLst/>
          </a:prstGeom>
          <a:solidFill>
            <a:srgbClr val="D89A45">
              <a:alpha val="3000"/>
            </a:srgbClr>
          </a:solidFill>
        </p:spPr>
      </p:sp>
      <p:sp>
        <p:nvSpPr>
          <p:cNvPr id="11" name="Text 9"/>
          <p:cNvSpPr txBox="1"/>
          <p:nvPr/>
        </p:nvSpPr>
        <p:spPr>
          <a:xfrm>
            <a:off x="731520" y="2084832"/>
            <a:ext cx="877824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0" b="1" kern="0" spc="300" dirty="0">
                <a:solidFill>
                  <a:srgbClr val="EDF1F6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RESIDUUM</a:t>
            </a:r>
            <a:endParaRPr lang="en-US" sz="7800" dirty="0"/>
          </a:p>
        </p:txBody>
      </p:sp>
      <p:sp>
        <p:nvSpPr>
          <p:cNvPr id="12" name="Shape 10"/>
          <p:cNvSpPr/>
          <p:nvPr/>
        </p:nvSpPr>
        <p:spPr>
          <a:xfrm>
            <a:off x="731520" y="3529584"/>
            <a:ext cx="1920240" cy="27432"/>
          </a:xfrm>
          <a:prstGeom prst="rect">
            <a:avLst/>
          </a:prstGeom>
          <a:solidFill>
            <a:srgbClr val="D89A45"/>
          </a:solidFill>
        </p:spPr>
      </p:sp>
      <p:sp>
        <p:nvSpPr>
          <p:cNvPr id="13" name="Text 11"/>
          <p:cNvSpPr txBox="1"/>
          <p:nvPr/>
        </p:nvSpPr>
        <p:spPr>
          <a:xfrm>
            <a:off x="731520" y="3749040"/>
            <a:ext cx="67665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2700"/>
              </a:lnSpc>
              <a:buNone/>
            </a:pPr>
            <a:r>
              <a:rPr lang="en-US" sz="1800" dirty="0">
                <a:solidFill>
                  <a:srgbClr val="A6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first-person horror game about knowing</a:t>
            </a:r>
            <a:endParaRPr lang="en-US" sz="1800" dirty="0"/>
          </a:p>
          <a:p>
            <a:pPr marL="0" indent="0">
              <a:lnSpc>
                <a:spcPts val="2700"/>
              </a:lnSpc>
              <a:buNone/>
            </a:pPr>
            <a:r>
              <a:rPr lang="en-US" sz="1800" dirty="0">
                <a:solidFill>
                  <a:srgbClr val="A6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cannot see.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4956048"/>
            <a:ext cx="219456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60" dirty="0">
                <a:solidFill>
                  <a:srgbClr val="4E5A6B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ENGINE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5193792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D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6 · URP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3127248" y="4956048"/>
            <a:ext cx="219456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60" dirty="0">
                <a:solidFill>
                  <a:srgbClr val="4E5A6B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PLAYERS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3127248" y="5193792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D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player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5522976" y="4956048"/>
            <a:ext cx="219456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60" dirty="0">
                <a:solidFill>
                  <a:srgbClr val="4E5A6B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A ROUND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5522976" y="5193792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D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3–5 minutes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7918704" y="4956048"/>
            <a:ext cx="219456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60" dirty="0">
                <a:solidFill>
                  <a:srgbClr val="4E5A6B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BUILT IN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7918704" y="5193792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D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week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8534095" y="566928"/>
            <a:ext cx="29260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160" dirty="0">
                <a:solidFill>
                  <a:srgbClr val="4E5A6B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Final presentation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31520" y="6419088"/>
            <a:ext cx="8991295" cy="50292"/>
          </a:xfrm>
          <a:prstGeom prst="rect">
            <a:avLst/>
          </a:prstGeom>
          <a:solidFill>
            <a:srgbClr val="1E2836"/>
          </a:solidFill>
        </p:spPr>
      </p:sp>
      <p:sp>
        <p:nvSpPr>
          <p:cNvPr id="24" name="Shape 22"/>
          <p:cNvSpPr/>
          <p:nvPr/>
        </p:nvSpPr>
        <p:spPr>
          <a:xfrm>
            <a:off x="731520" y="6419088"/>
            <a:ext cx="8991295" cy="50292"/>
          </a:xfrm>
          <a:prstGeom prst="rect">
            <a:avLst/>
          </a:prstGeom>
          <a:solidFill>
            <a:srgbClr val="6E96C4"/>
          </a:solidFill>
        </p:spPr>
      </p:sp>
      <p:sp>
        <p:nvSpPr>
          <p:cNvPr id="25" name="Text 23"/>
          <p:cNvSpPr txBox="1"/>
          <p:nvPr/>
        </p:nvSpPr>
        <p:spPr>
          <a:xfrm>
            <a:off x="9859975" y="6309360"/>
            <a:ext cx="1600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kern="0" spc="100" dirty="0">
                <a:solidFill>
                  <a:srgbClr val="6E96C4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SANITY 100%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8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29184"/>
            <a:ext cx="7772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20" dirty="0">
                <a:solidFill>
                  <a:srgbClr val="4E5A6B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THE GAME · 01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731520" y="621792"/>
            <a:ext cx="10728655" cy="10973"/>
          </a:xfrm>
          <a:prstGeom prst="rect">
            <a:avLst/>
          </a:prstGeom>
          <a:solidFill>
            <a:srgbClr val="1E2836"/>
          </a:solidFill>
        </p:spPr>
      </p:sp>
      <p:sp>
        <p:nvSpPr>
          <p:cNvPr id="4" name="Shape 2"/>
          <p:cNvSpPr/>
          <p:nvPr/>
        </p:nvSpPr>
        <p:spPr>
          <a:xfrm>
            <a:off x="731520" y="6419088"/>
            <a:ext cx="8991295" cy="50292"/>
          </a:xfrm>
          <a:prstGeom prst="rect">
            <a:avLst/>
          </a:prstGeom>
          <a:solidFill>
            <a:srgbClr val="1E2836"/>
          </a:solidFill>
        </p:spPr>
      </p:sp>
      <p:sp>
        <p:nvSpPr>
          <p:cNvPr id="5" name="Shape 3"/>
          <p:cNvSpPr/>
          <p:nvPr/>
        </p:nvSpPr>
        <p:spPr>
          <a:xfrm>
            <a:off x="731520" y="6419088"/>
            <a:ext cx="8541730" cy="50292"/>
          </a:xfrm>
          <a:prstGeom prst="rect">
            <a:avLst/>
          </a:prstGeom>
          <a:solidFill>
            <a:srgbClr val="6E96C4"/>
          </a:solidFill>
        </p:spPr>
      </p:sp>
      <p:sp>
        <p:nvSpPr>
          <p:cNvPr id="6" name="Text 4"/>
          <p:cNvSpPr txBox="1"/>
          <p:nvPr/>
        </p:nvSpPr>
        <p:spPr>
          <a:xfrm>
            <a:off x="9859975" y="6309360"/>
            <a:ext cx="1600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kern="0" spc="100" dirty="0">
                <a:solidFill>
                  <a:srgbClr val="6E96C4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SANITY  95%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932688"/>
            <a:ext cx="10728655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kern="0" spc="-20" dirty="0">
                <a:solidFill>
                  <a:srgbClr val="EDF1F6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The whole game, in one sentence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731520" y="1783080"/>
            <a:ext cx="10728655" cy="1508760"/>
          </a:xfrm>
          <a:prstGeom prst="roundRect">
            <a:avLst>
              <a:gd name="adj" fmla="val 3030"/>
            </a:avLst>
          </a:prstGeom>
          <a:solidFill>
            <a:srgbClr val="0E141D"/>
          </a:solidFill>
          <a:ln w="12700">
            <a:solidFill>
              <a:srgbClr val="1E283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1783080"/>
            <a:ext cx="41148" cy="1508760"/>
          </a:xfrm>
          <a:prstGeom prst="rect">
            <a:avLst/>
          </a:prstGeom>
          <a:solidFill>
            <a:srgbClr val="D89A45"/>
          </a:solidFill>
        </p:spPr>
      </p:sp>
      <p:sp>
        <p:nvSpPr>
          <p:cNvPr id="10" name="Text 8"/>
          <p:cNvSpPr txBox="1"/>
          <p:nvPr/>
        </p:nvSpPr>
        <p:spPr>
          <a:xfrm>
            <a:off x="1143000" y="1975104"/>
            <a:ext cx="9905695" cy="1143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3600"/>
              </a:lnSpc>
              <a:buNone/>
            </a:pPr>
            <a:r>
              <a:rPr lang="en-US" sz="2200" dirty="0">
                <a:solidFill>
                  <a:srgbClr val="EDF1F6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You break into a house you should not be in, carrying three tools.</a:t>
            </a:r>
            <a:endParaRPr lang="en-US" sz="2200" dirty="0"/>
          </a:p>
          <a:p>
            <a:pPr marL="0" indent="0">
              <a:lnSpc>
                <a:spcPts val="3600"/>
              </a:lnSpc>
              <a:buNone/>
            </a:pPr>
            <a:r>
              <a:rPr lang="en-US" sz="2200" dirty="0">
                <a:solidFill>
                  <a:srgbClr val="EDF1F6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Before your sanity runs out, work out what is haunting it — and get back out alive.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731520" y="3794760"/>
            <a:ext cx="2487168" cy="1371600"/>
          </a:xfrm>
          <a:prstGeom prst="roundRect">
            <a:avLst>
              <a:gd name="adj" fmla="val 3333"/>
            </a:avLst>
          </a:prstGeom>
          <a:solidFill>
            <a:srgbClr val="141C28"/>
          </a:solidFill>
          <a:ln w="12700">
            <a:solidFill>
              <a:srgbClr val="1E283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05840" y="3950208"/>
            <a:ext cx="192024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A6C6E8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3</a:t>
            </a:r>
            <a:endParaRPr lang="en-US" sz="4400" dirty="0"/>
          </a:p>
        </p:txBody>
      </p:sp>
      <p:sp>
        <p:nvSpPr>
          <p:cNvPr id="13" name="Text 11"/>
          <p:cNvSpPr txBox="1"/>
          <p:nvPr/>
        </p:nvSpPr>
        <p:spPr>
          <a:xfrm>
            <a:off x="1024128" y="4626864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E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ghosts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456432" y="3794760"/>
            <a:ext cx="2487168" cy="1371600"/>
          </a:xfrm>
          <a:prstGeom prst="roundRect">
            <a:avLst>
              <a:gd name="adj" fmla="val 3333"/>
            </a:avLst>
          </a:prstGeom>
          <a:solidFill>
            <a:srgbClr val="141C28"/>
          </a:solidFill>
          <a:ln w="12700">
            <a:solidFill>
              <a:srgbClr val="1E283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730752" y="3950208"/>
            <a:ext cx="192024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A6C6E8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3</a:t>
            </a:r>
            <a:endParaRPr lang="en-US" sz="4400" dirty="0"/>
          </a:p>
        </p:txBody>
      </p:sp>
      <p:sp>
        <p:nvSpPr>
          <p:cNvPr id="16" name="Text 14"/>
          <p:cNvSpPr txBox="1"/>
          <p:nvPr/>
        </p:nvSpPr>
        <p:spPr>
          <a:xfrm>
            <a:off x="3749040" y="4626864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E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kinds of evidence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181344" y="3794760"/>
            <a:ext cx="2487168" cy="1371600"/>
          </a:xfrm>
          <a:prstGeom prst="roundRect">
            <a:avLst>
              <a:gd name="adj" fmla="val 3333"/>
            </a:avLst>
          </a:prstGeom>
          <a:solidFill>
            <a:srgbClr val="141C28"/>
          </a:solidFill>
          <a:ln w="12700">
            <a:solidFill>
              <a:srgbClr val="1E283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55664" y="3950208"/>
            <a:ext cx="192024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A6C6E8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4</a:t>
            </a:r>
            <a:endParaRPr lang="en-US" sz="4400" dirty="0"/>
          </a:p>
        </p:txBody>
      </p:sp>
      <p:sp>
        <p:nvSpPr>
          <p:cNvPr id="19" name="Text 17"/>
          <p:cNvSpPr txBox="1"/>
          <p:nvPr/>
        </p:nvSpPr>
        <p:spPr>
          <a:xfrm>
            <a:off x="6473952" y="4626864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E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tools, 3 slots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906256" y="3794760"/>
            <a:ext cx="2487168" cy="1371600"/>
          </a:xfrm>
          <a:prstGeom prst="roundRect">
            <a:avLst>
              <a:gd name="adj" fmla="val 3333"/>
            </a:avLst>
          </a:prstGeom>
          <a:solidFill>
            <a:srgbClr val="141C28"/>
          </a:solidFill>
          <a:ln w="12700">
            <a:solidFill>
              <a:srgbClr val="1E283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180576" y="3950208"/>
            <a:ext cx="192024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0C57E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2</a:t>
            </a:r>
            <a:endParaRPr lang="en-US" sz="4400" dirty="0"/>
          </a:p>
        </p:txBody>
      </p:sp>
      <p:sp>
        <p:nvSpPr>
          <p:cNvPr id="22" name="Text 20"/>
          <p:cNvSpPr txBox="1"/>
          <p:nvPr/>
        </p:nvSpPr>
        <p:spPr>
          <a:xfrm>
            <a:off x="9198864" y="4626864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E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clues = 1 answer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731520" y="5532120"/>
            <a:ext cx="8899855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0C57E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The last one is the whole design.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8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29184"/>
            <a:ext cx="7772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20" dirty="0">
                <a:solidFill>
                  <a:srgbClr val="4E5A6B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THE GAME · 02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731520" y="621792"/>
            <a:ext cx="10728655" cy="10973"/>
          </a:xfrm>
          <a:prstGeom prst="rect">
            <a:avLst/>
          </a:prstGeom>
          <a:solidFill>
            <a:srgbClr val="1E2836"/>
          </a:solidFill>
        </p:spPr>
      </p:sp>
      <p:sp>
        <p:nvSpPr>
          <p:cNvPr id="4" name="Shape 2"/>
          <p:cNvSpPr/>
          <p:nvPr/>
        </p:nvSpPr>
        <p:spPr>
          <a:xfrm>
            <a:off x="731520" y="6419088"/>
            <a:ext cx="8991295" cy="50292"/>
          </a:xfrm>
          <a:prstGeom prst="rect">
            <a:avLst/>
          </a:prstGeom>
          <a:solidFill>
            <a:srgbClr val="1E2836"/>
          </a:solidFill>
        </p:spPr>
      </p:sp>
      <p:sp>
        <p:nvSpPr>
          <p:cNvPr id="5" name="Shape 3"/>
          <p:cNvSpPr/>
          <p:nvPr/>
        </p:nvSpPr>
        <p:spPr>
          <a:xfrm>
            <a:off x="731520" y="6419088"/>
            <a:ext cx="8002253" cy="50292"/>
          </a:xfrm>
          <a:prstGeom prst="rect">
            <a:avLst/>
          </a:prstGeom>
          <a:solidFill>
            <a:srgbClr val="6E96C4"/>
          </a:solidFill>
        </p:spPr>
      </p:sp>
      <p:sp>
        <p:nvSpPr>
          <p:cNvPr id="6" name="Text 4"/>
          <p:cNvSpPr txBox="1"/>
          <p:nvPr/>
        </p:nvSpPr>
        <p:spPr>
          <a:xfrm>
            <a:off x="9859975" y="6309360"/>
            <a:ext cx="1600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kern="0" spc="100" dirty="0">
                <a:solidFill>
                  <a:srgbClr val="6E96C4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SANITY  89%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932688"/>
            <a:ext cx="10728655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kern="0" spc="-20" dirty="0">
                <a:solidFill>
                  <a:srgbClr val="EDF1F6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Most ghost games end in a guess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1627632"/>
            <a:ext cx="926561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6E9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played them. Here is the thing that always spoiled it for us.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2286000"/>
            <a:ext cx="5074920" cy="2834640"/>
          </a:xfrm>
          <a:prstGeom prst="roundRect">
            <a:avLst>
              <a:gd name="adj" fmla="val 1613"/>
            </a:avLst>
          </a:prstGeom>
          <a:solidFill>
            <a:srgbClr val="0E141D"/>
          </a:solidFill>
          <a:ln w="12700">
            <a:solidFill>
              <a:srgbClr val="1E283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115568" y="2523744"/>
            <a:ext cx="4297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60" dirty="0">
                <a:solidFill>
                  <a:srgbClr val="4E5A6B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What we saw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1115568" y="2889504"/>
            <a:ext cx="44348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D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ghosts. 7 kinds of evidence. 40+ tools.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1115568" y="3200400"/>
            <a:ext cx="44348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D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ghosts share the same clue sets.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1115568" y="3511296"/>
            <a:ext cx="44348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D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you collect everything you can…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1115568" y="3822192"/>
            <a:ext cx="44348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…and then you still guess between two.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382512" y="2286000"/>
            <a:ext cx="5074920" cy="2834640"/>
          </a:xfrm>
          <a:prstGeom prst="roundRect">
            <a:avLst>
              <a:gd name="adj" fmla="val 1613"/>
            </a:avLst>
          </a:prstGeom>
          <a:solidFill>
            <a:srgbClr val="0E141D"/>
          </a:solidFill>
          <a:ln w="12700">
            <a:solidFill>
              <a:srgbClr val="1E283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82512" y="2286000"/>
            <a:ext cx="41148" cy="2834640"/>
          </a:xfrm>
          <a:prstGeom prst="rect">
            <a:avLst/>
          </a:prstGeom>
          <a:solidFill>
            <a:srgbClr val="D89A45"/>
          </a:solidFill>
        </p:spPr>
      </p:sp>
      <p:sp>
        <p:nvSpPr>
          <p:cNvPr id="17" name="Text 15"/>
          <p:cNvSpPr txBox="1"/>
          <p:nvPr/>
        </p:nvSpPr>
        <p:spPr>
          <a:xfrm>
            <a:off x="6766560" y="2523744"/>
            <a:ext cx="4480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60" dirty="0">
                <a:solidFill>
                  <a:srgbClr val="4E5A6B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What we wanted instead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6766560" y="2871216"/>
            <a:ext cx="44805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3000"/>
              </a:lnSpc>
              <a:buNone/>
            </a:pPr>
            <a:r>
              <a:rPr lang="en-US" sz="2100" b="1" dirty="0">
                <a:solidFill>
                  <a:srgbClr val="F0C57E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A game where winning is never luck.</a:t>
            </a:r>
            <a:endParaRPr lang="en-US" sz="2100" dirty="0"/>
          </a:p>
        </p:txBody>
      </p:sp>
      <p:sp>
        <p:nvSpPr>
          <p:cNvPr id="19" name="Text 17"/>
          <p:cNvSpPr txBox="1"/>
          <p:nvPr/>
        </p:nvSpPr>
        <p:spPr>
          <a:xfrm>
            <a:off x="6766560" y="3803904"/>
            <a:ext cx="443484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8E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player names the right ghost, it should be because they worked it out.</a:t>
            </a:r>
            <a:endParaRPr lang="en-US" sz="135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8E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because they picked the more likely of two.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731520" y="5504688"/>
            <a:ext cx="8899855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EDF1F6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We made the game smaller on purpose, until the guessing was gone.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8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29184"/>
            <a:ext cx="7772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20" dirty="0">
                <a:solidFill>
                  <a:srgbClr val="4E5A6B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THE GAME · 03  ·  THE CENTRE OF THE DESIGN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731520" y="621792"/>
            <a:ext cx="10728655" cy="10973"/>
          </a:xfrm>
          <a:prstGeom prst="rect">
            <a:avLst/>
          </a:prstGeom>
          <a:solidFill>
            <a:srgbClr val="1E2836"/>
          </a:solidFill>
        </p:spPr>
      </p:sp>
      <p:sp>
        <p:nvSpPr>
          <p:cNvPr id="4" name="Shape 2"/>
          <p:cNvSpPr/>
          <p:nvPr/>
        </p:nvSpPr>
        <p:spPr>
          <a:xfrm>
            <a:off x="731520" y="6419088"/>
            <a:ext cx="8991295" cy="50292"/>
          </a:xfrm>
          <a:prstGeom prst="rect">
            <a:avLst/>
          </a:prstGeom>
          <a:solidFill>
            <a:srgbClr val="1E2836"/>
          </a:solidFill>
        </p:spPr>
      </p:sp>
      <p:sp>
        <p:nvSpPr>
          <p:cNvPr id="5" name="Shape 3"/>
          <p:cNvSpPr/>
          <p:nvPr/>
        </p:nvSpPr>
        <p:spPr>
          <a:xfrm>
            <a:off x="731520" y="6419088"/>
            <a:ext cx="7372862" cy="50292"/>
          </a:xfrm>
          <a:prstGeom prst="rect">
            <a:avLst/>
          </a:prstGeom>
          <a:solidFill>
            <a:srgbClr val="6E96C4"/>
          </a:solidFill>
        </p:spPr>
      </p:sp>
      <p:sp>
        <p:nvSpPr>
          <p:cNvPr id="6" name="Text 4"/>
          <p:cNvSpPr txBox="1"/>
          <p:nvPr/>
        </p:nvSpPr>
        <p:spPr>
          <a:xfrm>
            <a:off x="9859975" y="6309360"/>
            <a:ext cx="1600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kern="0" spc="100" dirty="0">
                <a:solidFill>
                  <a:srgbClr val="6E96C4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SANITY  82%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932688"/>
            <a:ext cx="10728655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kern="0" spc="-20" dirty="0">
                <a:solidFill>
                  <a:srgbClr val="EDF1F6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Three ghosts. Three clues. Two each.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1627632"/>
            <a:ext cx="926561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6E9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ghost holds exactly two kinds of evidence. Not one. Not three.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224528" y="2304288"/>
            <a:ext cx="2240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120" dirty="0">
                <a:solidFill>
                  <a:srgbClr val="6E96C4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EMF-5 READING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6702552" y="2304288"/>
            <a:ext cx="2240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120" dirty="0">
                <a:solidFill>
                  <a:srgbClr val="6E96C4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UV FINGERPRINTS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9180576" y="2304288"/>
            <a:ext cx="2240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120" dirty="0">
                <a:solidFill>
                  <a:srgbClr val="6E96C4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GHOST WRITING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31520" y="2688336"/>
            <a:ext cx="10728655" cy="10973"/>
          </a:xfrm>
          <a:prstGeom prst="rect">
            <a:avLst/>
          </a:prstGeom>
          <a:solidFill>
            <a:srgbClr val="1E2836"/>
          </a:solidFill>
        </p:spPr>
      </p:sp>
      <p:sp>
        <p:nvSpPr>
          <p:cNvPr id="13" name="Shape 11"/>
          <p:cNvSpPr/>
          <p:nvPr/>
        </p:nvSpPr>
        <p:spPr>
          <a:xfrm>
            <a:off x="731520" y="2834640"/>
            <a:ext cx="3291840" cy="713232"/>
          </a:xfrm>
          <a:prstGeom prst="roundRect">
            <a:avLst>
              <a:gd name="adj" fmla="val 6410"/>
            </a:avLst>
          </a:prstGeom>
          <a:solidFill>
            <a:srgbClr val="0E141D"/>
          </a:solidFill>
          <a:ln w="12700">
            <a:solidFill>
              <a:srgbClr val="1E283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87552" y="2907792"/>
            <a:ext cx="28346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DF1F6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Spirit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005840" y="3246120"/>
            <a:ext cx="29260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E5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slow, stubborn, loud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224528" y="2834640"/>
            <a:ext cx="2240280" cy="713232"/>
          </a:xfrm>
          <a:prstGeom prst="roundRect">
            <a:avLst>
              <a:gd name="adj" fmla="val 6410"/>
            </a:avLst>
          </a:prstGeom>
          <a:solidFill>
            <a:srgbClr val="141C28"/>
          </a:solidFill>
          <a:ln w="12700">
            <a:solidFill>
              <a:srgbClr val="3A302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152644" y="2999232"/>
            <a:ext cx="384048" cy="384048"/>
          </a:xfrm>
          <a:prstGeom prst="ellipse">
            <a:avLst/>
          </a:prstGeom>
          <a:solidFill>
            <a:srgbClr val="D89A45"/>
          </a:solidFill>
        </p:spPr>
      </p:sp>
      <p:sp>
        <p:nvSpPr>
          <p:cNvPr id="18" name="Shape 16"/>
          <p:cNvSpPr/>
          <p:nvPr/>
        </p:nvSpPr>
        <p:spPr>
          <a:xfrm>
            <a:off x="6702552" y="2834640"/>
            <a:ext cx="2240280" cy="713232"/>
          </a:xfrm>
          <a:prstGeom prst="roundRect">
            <a:avLst>
              <a:gd name="adj" fmla="val 6410"/>
            </a:avLst>
          </a:prstGeom>
          <a:solidFill>
            <a:srgbClr val="141C28"/>
          </a:solidFill>
          <a:ln w="12700">
            <a:solidFill>
              <a:srgbClr val="3A302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630668" y="2999232"/>
            <a:ext cx="384048" cy="384048"/>
          </a:xfrm>
          <a:prstGeom prst="ellipse">
            <a:avLst/>
          </a:prstGeom>
          <a:solidFill>
            <a:srgbClr val="D89A45"/>
          </a:solidFill>
        </p:spPr>
      </p:sp>
      <p:sp>
        <p:nvSpPr>
          <p:cNvPr id="20" name="Shape 18"/>
          <p:cNvSpPr/>
          <p:nvPr/>
        </p:nvSpPr>
        <p:spPr>
          <a:xfrm>
            <a:off x="9180576" y="2834640"/>
            <a:ext cx="2240280" cy="713232"/>
          </a:xfrm>
          <a:prstGeom prst="roundRect">
            <a:avLst>
              <a:gd name="adj" fmla="val 6410"/>
            </a:avLst>
          </a:prstGeom>
          <a:solidFill>
            <a:srgbClr val="0E141D"/>
          </a:solidFill>
          <a:ln w="12700">
            <a:solidFill>
              <a:srgbClr val="1E283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099548" y="3186684"/>
            <a:ext cx="402336" cy="22860"/>
          </a:xfrm>
          <a:prstGeom prst="rect">
            <a:avLst/>
          </a:prstGeom>
          <a:solidFill>
            <a:srgbClr val="4E5A6B"/>
          </a:solidFill>
        </p:spPr>
      </p:sp>
      <p:sp>
        <p:nvSpPr>
          <p:cNvPr id="22" name="Shape 20"/>
          <p:cNvSpPr/>
          <p:nvPr/>
        </p:nvSpPr>
        <p:spPr>
          <a:xfrm>
            <a:off x="731520" y="3675888"/>
            <a:ext cx="3291840" cy="713232"/>
          </a:xfrm>
          <a:prstGeom prst="roundRect">
            <a:avLst>
              <a:gd name="adj" fmla="val 6410"/>
            </a:avLst>
          </a:prstGeom>
          <a:solidFill>
            <a:srgbClr val="0E141D"/>
          </a:solidFill>
          <a:ln w="12700">
            <a:solidFill>
              <a:srgbClr val="1E283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87552" y="3749040"/>
            <a:ext cx="28346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DF1F6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Wraith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1005840" y="4087368"/>
            <a:ext cx="29260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E5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silent, leaves no steps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224528" y="3675888"/>
            <a:ext cx="2240280" cy="713232"/>
          </a:xfrm>
          <a:prstGeom prst="roundRect">
            <a:avLst>
              <a:gd name="adj" fmla="val 6410"/>
            </a:avLst>
          </a:prstGeom>
          <a:solidFill>
            <a:srgbClr val="141C28"/>
          </a:solidFill>
          <a:ln w="12700">
            <a:solidFill>
              <a:srgbClr val="3A302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152644" y="3840480"/>
            <a:ext cx="384048" cy="384048"/>
          </a:xfrm>
          <a:prstGeom prst="ellipse">
            <a:avLst/>
          </a:prstGeom>
          <a:solidFill>
            <a:srgbClr val="D89A45"/>
          </a:solidFill>
        </p:spPr>
      </p:sp>
      <p:sp>
        <p:nvSpPr>
          <p:cNvPr id="27" name="Shape 25"/>
          <p:cNvSpPr/>
          <p:nvPr/>
        </p:nvSpPr>
        <p:spPr>
          <a:xfrm>
            <a:off x="6702552" y="3675888"/>
            <a:ext cx="2240280" cy="713232"/>
          </a:xfrm>
          <a:prstGeom prst="roundRect">
            <a:avLst>
              <a:gd name="adj" fmla="val 6410"/>
            </a:avLst>
          </a:prstGeom>
          <a:solidFill>
            <a:srgbClr val="0E141D"/>
          </a:solidFill>
          <a:ln w="12700">
            <a:solidFill>
              <a:srgbClr val="1E283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621524" y="4027932"/>
            <a:ext cx="402336" cy="22860"/>
          </a:xfrm>
          <a:prstGeom prst="rect">
            <a:avLst/>
          </a:prstGeom>
          <a:solidFill>
            <a:srgbClr val="4E5A6B"/>
          </a:solidFill>
        </p:spPr>
      </p:sp>
      <p:sp>
        <p:nvSpPr>
          <p:cNvPr id="29" name="Shape 27"/>
          <p:cNvSpPr/>
          <p:nvPr/>
        </p:nvSpPr>
        <p:spPr>
          <a:xfrm>
            <a:off x="9180576" y="3675888"/>
            <a:ext cx="2240280" cy="713232"/>
          </a:xfrm>
          <a:prstGeom prst="roundRect">
            <a:avLst>
              <a:gd name="adj" fmla="val 6410"/>
            </a:avLst>
          </a:prstGeom>
          <a:solidFill>
            <a:srgbClr val="141C28"/>
          </a:solidFill>
          <a:ln w="12700">
            <a:solidFill>
              <a:srgbClr val="3A302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108692" y="3840480"/>
            <a:ext cx="384048" cy="384048"/>
          </a:xfrm>
          <a:prstGeom prst="ellipse">
            <a:avLst/>
          </a:prstGeom>
          <a:solidFill>
            <a:srgbClr val="D89A45"/>
          </a:solidFill>
        </p:spPr>
      </p:sp>
      <p:sp>
        <p:nvSpPr>
          <p:cNvPr id="31" name="Shape 29"/>
          <p:cNvSpPr/>
          <p:nvPr/>
        </p:nvSpPr>
        <p:spPr>
          <a:xfrm>
            <a:off x="731520" y="4517136"/>
            <a:ext cx="3291840" cy="713232"/>
          </a:xfrm>
          <a:prstGeom prst="roundRect">
            <a:avLst>
              <a:gd name="adj" fmla="val 6410"/>
            </a:avLst>
          </a:prstGeom>
          <a:solidFill>
            <a:srgbClr val="0E141D"/>
          </a:solidFill>
          <a:ln w="12700">
            <a:solidFill>
              <a:srgbClr val="1E2836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87552" y="4590288"/>
            <a:ext cx="28346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DF1F6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Poltergeist</a:t>
            </a:r>
            <a:endParaRPr lang="en-US" sz="2000" dirty="0"/>
          </a:p>
        </p:txBody>
      </p:sp>
      <p:sp>
        <p:nvSpPr>
          <p:cNvPr id="33" name="Text 31"/>
          <p:cNvSpPr txBox="1"/>
          <p:nvPr/>
        </p:nvSpPr>
        <p:spPr>
          <a:xfrm>
            <a:off x="1005840" y="4928616"/>
            <a:ext cx="29260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E5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throws things, faster than you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224528" y="4517136"/>
            <a:ext cx="2240280" cy="713232"/>
          </a:xfrm>
          <a:prstGeom prst="roundRect">
            <a:avLst>
              <a:gd name="adj" fmla="val 6410"/>
            </a:avLst>
          </a:prstGeom>
          <a:solidFill>
            <a:srgbClr val="0E141D"/>
          </a:solidFill>
          <a:ln w="12700">
            <a:solidFill>
              <a:srgbClr val="1E283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143500" y="4869180"/>
            <a:ext cx="402336" cy="22860"/>
          </a:xfrm>
          <a:prstGeom prst="rect">
            <a:avLst/>
          </a:prstGeom>
          <a:solidFill>
            <a:srgbClr val="4E5A6B"/>
          </a:solidFill>
        </p:spPr>
      </p:sp>
      <p:sp>
        <p:nvSpPr>
          <p:cNvPr id="36" name="Shape 34"/>
          <p:cNvSpPr/>
          <p:nvPr/>
        </p:nvSpPr>
        <p:spPr>
          <a:xfrm>
            <a:off x="6702552" y="4517136"/>
            <a:ext cx="2240280" cy="713232"/>
          </a:xfrm>
          <a:prstGeom prst="roundRect">
            <a:avLst>
              <a:gd name="adj" fmla="val 6410"/>
            </a:avLst>
          </a:prstGeom>
          <a:solidFill>
            <a:srgbClr val="141C28"/>
          </a:solidFill>
          <a:ln w="12700">
            <a:solidFill>
              <a:srgbClr val="3A302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630668" y="4681728"/>
            <a:ext cx="384048" cy="384048"/>
          </a:xfrm>
          <a:prstGeom prst="ellipse">
            <a:avLst/>
          </a:prstGeom>
          <a:solidFill>
            <a:srgbClr val="D89A45"/>
          </a:solidFill>
        </p:spPr>
      </p:sp>
      <p:sp>
        <p:nvSpPr>
          <p:cNvPr id="38" name="Shape 36"/>
          <p:cNvSpPr/>
          <p:nvPr/>
        </p:nvSpPr>
        <p:spPr>
          <a:xfrm>
            <a:off x="9180576" y="4517136"/>
            <a:ext cx="2240280" cy="713232"/>
          </a:xfrm>
          <a:prstGeom prst="roundRect">
            <a:avLst>
              <a:gd name="adj" fmla="val 6410"/>
            </a:avLst>
          </a:prstGeom>
          <a:solidFill>
            <a:srgbClr val="141C28"/>
          </a:solidFill>
          <a:ln w="12700">
            <a:solidFill>
              <a:srgbClr val="3A302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0108692" y="4681728"/>
            <a:ext cx="384048" cy="384048"/>
          </a:xfrm>
          <a:prstGeom prst="ellipse">
            <a:avLst/>
          </a:prstGeom>
          <a:solidFill>
            <a:srgbClr val="D89A45"/>
          </a:solidFill>
        </p:spPr>
      </p:sp>
      <p:sp>
        <p:nvSpPr>
          <p:cNvPr id="40" name="Text 38"/>
          <p:cNvSpPr txBox="1"/>
          <p:nvPr/>
        </p:nvSpPr>
        <p:spPr>
          <a:xfrm>
            <a:off x="731520" y="5504688"/>
            <a:ext cx="8899855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EDF1F6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Read any row: two dots. Read any column: two ghosts.</a:t>
            </a:r>
            <a:endParaRPr lang="en-US" sz="1900" dirty="0"/>
          </a:p>
        </p:txBody>
      </p:sp>
      <p:sp>
        <p:nvSpPr>
          <p:cNvPr id="41" name="Text 39"/>
          <p:cNvSpPr txBox="1"/>
          <p:nvPr/>
        </p:nvSpPr>
        <p:spPr>
          <a:xfrm>
            <a:off x="731520" y="5907024"/>
            <a:ext cx="8899855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8E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one slide we would keep if we only had thirty seconds.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8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29184"/>
            <a:ext cx="7772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20" dirty="0">
                <a:solidFill>
                  <a:srgbClr val="4E5A6B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THE GAME · 04  ·  WHY IT CANNOT FAIL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731520" y="621792"/>
            <a:ext cx="10728655" cy="10973"/>
          </a:xfrm>
          <a:prstGeom prst="rect">
            <a:avLst/>
          </a:prstGeom>
          <a:solidFill>
            <a:srgbClr val="1E2836"/>
          </a:solidFill>
        </p:spPr>
      </p:sp>
      <p:sp>
        <p:nvSpPr>
          <p:cNvPr id="4" name="Shape 2"/>
          <p:cNvSpPr/>
          <p:nvPr/>
        </p:nvSpPr>
        <p:spPr>
          <a:xfrm>
            <a:off x="731520" y="6419088"/>
            <a:ext cx="8991295" cy="50292"/>
          </a:xfrm>
          <a:prstGeom prst="rect">
            <a:avLst/>
          </a:prstGeom>
          <a:solidFill>
            <a:srgbClr val="1E2836"/>
          </a:solidFill>
        </p:spPr>
      </p:sp>
      <p:sp>
        <p:nvSpPr>
          <p:cNvPr id="5" name="Shape 3"/>
          <p:cNvSpPr/>
          <p:nvPr/>
        </p:nvSpPr>
        <p:spPr>
          <a:xfrm>
            <a:off x="731520" y="6419088"/>
            <a:ext cx="6653558" cy="50292"/>
          </a:xfrm>
          <a:prstGeom prst="rect">
            <a:avLst/>
          </a:prstGeom>
          <a:solidFill>
            <a:srgbClr val="6E96C4"/>
          </a:solidFill>
        </p:spPr>
      </p:sp>
      <p:sp>
        <p:nvSpPr>
          <p:cNvPr id="6" name="Text 4"/>
          <p:cNvSpPr txBox="1"/>
          <p:nvPr/>
        </p:nvSpPr>
        <p:spPr>
          <a:xfrm>
            <a:off x="9859975" y="6309360"/>
            <a:ext cx="1600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kern="0" spc="100" dirty="0">
                <a:solidFill>
                  <a:srgbClr val="6E96C4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SANITY  74%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932688"/>
            <a:ext cx="10728655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kern="0" spc="-20" dirty="0">
                <a:solidFill>
                  <a:srgbClr val="EDF1F6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Pick 2 out of 3. There are only 3 ways.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1627632"/>
            <a:ext cx="926561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6E9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ways, three ghosts, one each. Nothing repeated, nothing left over.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2286000"/>
            <a:ext cx="3364992" cy="1133856"/>
          </a:xfrm>
          <a:prstGeom prst="roundRect">
            <a:avLst>
              <a:gd name="adj" fmla="val 4032"/>
            </a:avLst>
          </a:prstGeom>
          <a:solidFill>
            <a:srgbClr val="0E141D"/>
          </a:solidFill>
          <a:ln w="12700">
            <a:solidFill>
              <a:srgbClr val="1E283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87552" y="2450592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60" dirty="0">
                <a:solidFill>
                  <a:srgbClr val="A6C6E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EMF  +  FINGERPRINTS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969264" y="2798064"/>
            <a:ext cx="292608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0C57E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→   Spirit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4389120" y="2286000"/>
            <a:ext cx="3364992" cy="1133856"/>
          </a:xfrm>
          <a:prstGeom prst="roundRect">
            <a:avLst>
              <a:gd name="adj" fmla="val 4032"/>
            </a:avLst>
          </a:prstGeom>
          <a:solidFill>
            <a:srgbClr val="0E141D"/>
          </a:solidFill>
          <a:ln w="12700">
            <a:solidFill>
              <a:srgbClr val="1E283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645152" y="2450592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60" dirty="0">
                <a:solidFill>
                  <a:srgbClr val="A6C6E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EMF  +  WRITING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626864" y="2798064"/>
            <a:ext cx="292608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0C57E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→   Wraith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8046720" y="2286000"/>
            <a:ext cx="3364992" cy="1133856"/>
          </a:xfrm>
          <a:prstGeom prst="roundRect">
            <a:avLst>
              <a:gd name="adj" fmla="val 4032"/>
            </a:avLst>
          </a:prstGeom>
          <a:solidFill>
            <a:srgbClr val="0E141D"/>
          </a:solidFill>
          <a:ln w="12700">
            <a:solidFill>
              <a:srgbClr val="1E283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02752" y="2450592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60" dirty="0">
                <a:solidFill>
                  <a:srgbClr val="A6C6E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FINGERPRINTS  +  WRITING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8284464" y="2798064"/>
            <a:ext cx="292608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0C57E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→   Poltergeist</a:t>
            </a:r>
            <a:endParaRPr lang="en-US" sz="21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3712464"/>
            <a:ext cx="36576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D89A45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1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1115568" y="3694176"/>
            <a:ext cx="37490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D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clue is never enough.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4937760" y="3703320"/>
            <a:ext cx="6492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E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clue is shared by two ghosts. One EMF reading only rules the Poltergeist out.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731520" y="4334256"/>
            <a:ext cx="36576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D89A45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2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1115568" y="4315968"/>
            <a:ext cx="37490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D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clues are always enough.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4937760" y="4325112"/>
            <a:ext cx="6492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E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never a second answer that fits. The table has no ties in it.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731520" y="4956048"/>
            <a:ext cx="36576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D89A45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3</a:t>
            </a:r>
            <a:endParaRPr lang="en-US" sz="1700" dirty="0"/>
          </a:p>
        </p:txBody>
      </p:sp>
      <p:sp>
        <p:nvSpPr>
          <p:cNvPr id="25" name="Text 23"/>
          <p:cNvSpPr txBox="1"/>
          <p:nvPr/>
        </p:nvSpPr>
        <p:spPr>
          <a:xfrm>
            <a:off x="1115568" y="4937760"/>
            <a:ext cx="37490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D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Proving a clue is absent counts too.</a:t>
            </a:r>
            <a:endParaRPr lang="en-US" sz="1450" dirty="0"/>
          </a:p>
        </p:txBody>
      </p:sp>
      <p:sp>
        <p:nvSpPr>
          <p:cNvPr id="26" name="Text 24"/>
          <p:cNvSpPr txBox="1"/>
          <p:nvPr/>
        </p:nvSpPr>
        <p:spPr>
          <a:xfrm>
            <a:off x="4937760" y="4946904"/>
            <a:ext cx="6492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E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Ruling out is as strong as finding. A careful player can win without the third tool.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731520" y="5596128"/>
            <a:ext cx="8899855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120" dirty="0">
                <a:solidFill>
                  <a:srgbClr val="F0C57E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NO GUESSING.   NO LUCK.   JUST LOGIC.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8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29184"/>
            <a:ext cx="7772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20" dirty="0">
                <a:solidFill>
                  <a:srgbClr val="4E5A6B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THE GAME · 05  ·  THE CLOCK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731520" y="621792"/>
            <a:ext cx="10728655" cy="10973"/>
          </a:xfrm>
          <a:prstGeom prst="rect">
            <a:avLst/>
          </a:prstGeom>
          <a:solidFill>
            <a:srgbClr val="1E2836"/>
          </a:solidFill>
        </p:spPr>
      </p:sp>
      <p:sp>
        <p:nvSpPr>
          <p:cNvPr id="4" name="Shape 2"/>
          <p:cNvSpPr/>
          <p:nvPr/>
        </p:nvSpPr>
        <p:spPr>
          <a:xfrm>
            <a:off x="731520" y="6419088"/>
            <a:ext cx="8991295" cy="50292"/>
          </a:xfrm>
          <a:prstGeom prst="rect">
            <a:avLst/>
          </a:prstGeom>
          <a:solidFill>
            <a:srgbClr val="1E2836"/>
          </a:solidFill>
        </p:spPr>
      </p:sp>
      <p:sp>
        <p:nvSpPr>
          <p:cNvPr id="5" name="Shape 3"/>
          <p:cNvSpPr/>
          <p:nvPr/>
        </p:nvSpPr>
        <p:spPr>
          <a:xfrm>
            <a:off x="731520" y="6419088"/>
            <a:ext cx="5844342" cy="50292"/>
          </a:xfrm>
          <a:prstGeom prst="rect">
            <a:avLst/>
          </a:prstGeom>
          <a:solidFill>
            <a:srgbClr val="6E96C4"/>
          </a:solidFill>
        </p:spPr>
      </p:sp>
      <p:sp>
        <p:nvSpPr>
          <p:cNvPr id="6" name="Text 4"/>
          <p:cNvSpPr txBox="1"/>
          <p:nvPr/>
        </p:nvSpPr>
        <p:spPr>
          <a:xfrm>
            <a:off x="9859975" y="6309360"/>
            <a:ext cx="1600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kern="0" spc="100" dirty="0">
                <a:solidFill>
                  <a:srgbClr val="6E96C4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SANITY  65%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932688"/>
            <a:ext cx="10728655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kern="0" spc="-20" dirty="0">
                <a:solidFill>
                  <a:srgbClr val="EDF1F6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So why not just take your time?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1627632"/>
            <a:ext cx="926561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6E9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the house is charging you for every second you stay in it.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2286000"/>
            <a:ext cx="5074920" cy="3127248"/>
          </a:xfrm>
          <a:prstGeom prst="roundRect">
            <a:avLst>
              <a:gd name="adj" fmla="val 1462"/>
            </a:avLst>
          </a:prstGeom>
          <a:solidFill>
            <a:srgbClr val="0E141D"/>
          </a:solidFill>
          <a:ln w="12700">
            <a:solidFill>
              <a:srgbClr val="1E283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115568" y="2487168"/>
            <a:ext cx="42976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60" dirty="0">
                <a:solidFill>
                  <a:srgbClr val="4E5A6B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SANITY, PER SECOND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1115568" y="2871216"/>
            <a:ext cx="33832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D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Standing in the dark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297680" y="2871216"/>
            <a:ext cx="12801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A6C6E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−0.12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115568" y="3273552"/>
            <a:ext cx="33832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D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room with the light on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297680" y="3273552"/>
            <a:ext cx="12801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A6C6E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−0.06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115568" y="3675888"/>
            <a:ext cx="33832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D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Holding a lit flashlight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297680" y="3675888"/>
            <a:ext cx="12801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F0C57E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× 0.5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115568" y="4078224"/>
            <a:ext cx="33832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D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Seeing the ghost do something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297680" y="4078224"/>
            <a:ext cx="12801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FF5A66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−15  once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115568" y="4480560"/>
            <a:ext cx="33832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D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it is hunting you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297680" y="4480560"/>
            <a:ext cx="12801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FF5A66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−0.50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115568" y="4882896"/>
            <a:ext cx="33832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D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in the lobby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4297680" y="4882896"/>
            <a:ext cx="12801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A6C6E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+1.00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382512" y="2286000"/>
            <a:ext cx="5074920" cy="3127248"/>
          </a:xfrm>
          <a:prstGeom prst="roundRect">
            <a:avLst>
              <a:gd name="adj" fmla="val 1462"/>
            </a:avLst>
          </a:prstGeom>
          <a:solidFill>
            <a:srgbClr val="0E141D"/>
          </a:solidFill>
          <a:ln w="12700">
            <a:solidFill>
              <a:srgbClr val="1E283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766560" y="2487168"/>
            <a:ext cx="44805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60" dirty="0">
                <a:solidFill>
                  <a:srgbClr val="4E5A6B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BELOW 50%, EVERY 25 SECONDS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6766560" y="2852928"/>
            <a:ext cx="448056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0C57E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P(hunt)  =  ( 50 − sanity ) / 50</a:t>
            </a:r>
            <a:endParaRPr lang="en-US" sz="2300" dirty="0"/>
          </a:p>
        </p:txBody>
      </p:sp>
      <p:sp>
        <p:nvSpPr>
          <p:cNvPr id="26" name="Shape 24"/>
          <p:cNvSpPr/>
          <p:nvPr/>
        </p:nvSpPr>
        <p:spPr>
          <a:xfrm>
            <a:off x="6766560" y="3602736"/>
            <a:ext cx="1371600" cy="932688"/>
          </a:xfrm>
          <a:prstGeom prst="roundRect">
            <a:avLst>
              <a:gd name="adj" fmla="val 4902"/>
            </a:avLst>
          </a:prstGeom>
          <a:solidFill>
            <a:srgbClr val="141C28"/>
          </a:solidFill>
          <a:ln w="12700">
            <a:solidFill>
              <a:srgbClr val="1E283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858000" y="3712464"/>
            <a:ext cx="118872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6E96C4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0%</a:t>
            </a:r>
            <a:endParaRPr lang="en-US" sz="1900" dirty="0"/>
          </a:p>
        </p:txBody>
      </p:sp>
      <p:sp>
        <p:nvSpPr>
          <p:cNvPr id="28" name="Text 26"/>
          <p:cNvSpPr txBox="1"/>
          <p:nvPr/>
        </p:nvSpPr>
        <p:spPr>
          <a:xfrm>
            <a:off x="6858000" y="4142232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E5A6B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sanity 50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8302752" y="3602736"/>
            <a:ext cx="1371600" cy="932688"/>
          </a:xfrm>
          <a:prstGeom prst="roundRect">
            <a:avLst>
              <a:gd name="adj" fmla="val 4902"/>
            </a:avLst>
          </a:prstGeom>
          <a:solidFill>
            <a:srgbClr val="141C28"/>
          </a:solidFill>
          <a:ln w="12700">
            <a:solidFill>
              <a:srgbClr val="1E2836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394192" y="3712464"/>
            <a:ext cx="118872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D89A45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50%</a:t>
            </a:r>
            <a:endParaRPr lang="en-US" sz="1900" dirty="0"/>
          </a:p>
        </p:txBody>
      </p:sp>
      <p:sp>
        <p:nvSpPr>
          <p:cNvPr id="31" name="Text 29"/>
          <p:cNvSpPr txBox="1"/>
          <p:nvPr/>
        </p:nvSpPr>
        <p:spPr>
          <a:xfrm>
            <a:off x="8394192" y="4142232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E5A6B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sanity 25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9838944" y="3602736"/>
            <a:ext cx="1371600" cy="932688"/>
          </a:xfrm>
          <a:prstGeom prst="roundRect">
            <a:avLst>
              <a:gd name="adj" fmla="val 4902"/>
            </a:avLst>
          </a:prstGeom>
          <a:solidFill>
            <a:srgbClr val="141C28"/>
          </a:solidFill>
          <a:ln w="12700">
            <a:solidFill>
              <a:srgbClr val="1E2836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930384" y="3712464"/>
            <a:ext cx="118872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5A66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certain</a:t>
            </a:r>
            <a:endParaRPr lang="en-US" sz="1900" dirty="0"/>
          </a:p>
        </p:txBody>
      </p:sp>
      <p:sp>
        <p:nvSpPr>
          <p:cNvPr id="34" name="Text 32"/>
          <p:cNvSpPr txBox="1"/>
          <p:nvPr/>
        </p:nvSpPr>
        <p:spPr>
          <a:xfrm>
            <a:off x="9930384" y="4142232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E5A6B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sanity 0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6766560" y="4663440"/>
            <a:ext cx="44805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300" dirty="0">
                <a:solidFill>
                  <a:srgbClr val="8E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player is never asking "where is it?" for long.</a:t>
            </a:r>
            <a:endParaRPr lang="en-US" sz="13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300" dirty="0">
                <a:solidFill>
                  <a:srgbClr val="8E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are asking "how much longer can I stay?"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731520" y="5614416"/>
            <a:ext cx="8899855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0C57E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Knowing more always costs you something. That trade is the game.</a:t>
            </a:r>
            <a:endParaRPr lang="en-US" sz="1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8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29184"/>
            <a:ext cx="7772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20" dirty="0">
                <a:solidFill>
                  <a:srgbClr val="4E5A6B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THE GAME · 06  ·  THE HUNT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731520" y="621792"/>
            <a:ext cx="10728655" cy="10973"/>
          </a:xfrm>
          <a:prstGeom prst="rect">
            <a:avLst/>
          </a:prstGeom>
          <a:solidFill>
            <a:srgbClr val="1E2836"/>
          </a:solidFill>
        </p:spPr>
      </p:sp>
      <p:sp>
        <p:nvSpPr>
          <p:cNvPr id="4" name="Shape 2"/>
          <p:cNvSpPr/>
          <p:nvPr/>
        </p:nvSpPr>
        <p:spPr>
          <a:xfrm>
            <a:off x="731520" y="6419088"/>
            <a:ext cx="8991295" cy="50292"/>
          </a:xfrm>
          <a:prstGeom prst="rect">
            <a:avLst/>
          </a:prstGeom>
          <a:solidFill>
            <a:srgbClr val="1E2836"/>
          </a:solidFill>
        </p:spPr>
      </p:sp>
      <p:sp>
        <p:nvSpPr>
          <p:cNvPr id="5" name="Shape 3"/>
          <p:cNvSpPr/>
          <p:nvPr/>
        </p:nvSpPr>
        <p:spPr>
          <a:xfrm>
            <a:off x="731520" y="6419088"/>
            <a:ext cx="4945212" cy="50292"/>
          </a:xfrm>
          <a:prstGeom prst="rect">
            <a:avLst/>
          </a:prstGeom>
          <a:solidFill>
            <a:srgbClr val="6E96C4"/>
          </a:solidFill>
        </p:spPr>
      </p:sp>
      <p:sp>
        <p:nvSpPr>
          <p:cNvPr id="6" name="Text 4"/>
          <p:cNvSpPr txBox="1"/>
          <p:nvPr/>
        </p:nvSpPr>
        <p:spPr>
          <a:xfrm>
            <a:off x="9859975" y="6309360"/>
            <a:ext cx="1600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kern="0" spc="100" dirty="0">
                <a:solidFill>
                  <a:srgbClr val="6E96C4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SANITY  55%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6766560" y="1280160"/>
            <a:ext cx="5852160" cy="4754880"/>
          </a:xfrm>
          <a:prstGeom prst="ellipse">
            <a:avLst/>
          </a:prstGeom>
          <a:solidFill>
            <a:srgbClr val="B4232F">
              <a:alpha val="3000"/>
            </a:srgbClr>
          </a:solidFill>
        </p:spPr>
      </p:sp>
      <p:sp>
        <p:nvSpPr>
          <p:cNvPr id="8" name="Shape 6"/>
          <p:cNvSpPr/>
          <p:nvPr/>
        </p:nvSpPr>
        <p:spPr>
          <a:xfrm>
            <a:off x="7117690" y="1565453"/>
            <a:ext cx="5149901" cy="4184294"/>
          </a:xfrm>
          <a:prstGeom prst="ellipse">
            <a:avLst/>
          </a:prstGeom>
          <a:solidFill>
            <a:srgbClr val="B4232F">
              <a:alpha val="3000"/>
            </a:srgbClr>
          </a:solidFill>
        </p:spPr>
      </p:sp>
      <p:sp>
        <p:nvSpPr>
          <p:cNvPr id="9" name="Shape 7"/>
          <p:cNvSpPr/>
          <p:nvPr/>
        </p:nvSpPr>
        <p:spPr>
          <a:xfrm>
            <a:off x="7468819" y="1850746"/>
            <a:ext cx="4447642" cy="3613709"/>
          </a:xfrm>
          <a:prstGeom prst="ellipse">
            <a:avLst/>
          </a:prstGeom>
          <a:solidFill>
            <a:srgbClr val="B4232F">
              <a:alpha val="3000"/>
            </a:srgbClr>
          </a:solidFill>
        </p:spPr>
      </p:sp>
      <p:sp>
        <p:nvSpPr>
          <p:cNvPr id="10" name="Shape 8"/>
          <p:cNvSpPr/>
          <p:nvPr/>
        </p:nvSpPr>
        <p:spPr>
          <a:xfrm>
            <a:off x="7819949" y="2136038"/>
            <a:ext cx="3745382" cy="3043123"/>
          </a:xfrm>
          <a:prstGeom prst="ellipse">
            <a:avLst/>
          </a:prstGeom>
          <a:solidFill>
            <a:srgbClr val="B4232F">
              <a:alpha val="3000"/>
            </a:srgbClr>
          </a:solidFill>
        </p:spPr>
      </p:sp>
      <p:sp>
        <p:nvSpPr>
          <p:cNvPr id="11" name="Shape 9"/>
          <p:cNvSpPr/>
          <p:nvPr/>
        </p:nvSpPr>
        <p:spPr>
          <a:xfrm>
            <a:off x="8141818" y="2397557"/>
            <a:ext cx="3101645" cy="2520086"/>
          </a:xfrm>
          <a:prstGeom prst="ellipse">
            <a:avLst/>
          </a:prstGeom>
          <a:solidFill>
            <a:srgbClr val="B4232F">
              <a:alpha val="3000"/>
            </a:srgbClr>
          </a:solidFill>
        </p:spPr>
      </p:sp>
      <p:sp>
        <p:nvSpPr>
          <p:cNvPr id="12" name="Shape 10"/>
          <p:cNvSpPr/>
          <p:nvPr/>
        </p:nvSpPr>
        <p:spPr>
          <a:xfrm>
            <a:off x="8434426" y="2635301"/>
            <a:ext cx="2516429" cy="2044598"/>
          </a:xfrm>
          <a:prstGeom prst="ellipse">
            <a:avLst/>
          </a:prstGeom>
          <a:solidFill>
            <a:srgbClr val="B4232F">
              <a:alpha val="3000"/>
            </a:srgbClr>
          </a:solidFill>
        </p:spPr>
      </p:sp>
      <p:sp>
        <p:nvSpPr>
          <p:cNvPr id="13" name="Shape 11"/>
          <p:cNvSpPr/>
          <p:nvPr/>
        </p:nvSpPr>
        <p:spPr>
          <a:xfrm>
            <a:off x="8697773" y="2849270"/>
            <a:ext cx="1989734" cy="1616659"/>
          </a:xfrm>
          <a:prstGeom prst="ellipse">
            <a:avLst/>
          </a:prstGeom>
          <a:solidFill>
            <a:srgbClr val="B4232F">
              <a:alpha val="3000"/>
            </a:srgbClr>
          </a:solidFill>
        </p:spPr>
      </p:sp>
      <p:sp>
        <p:nvSpPr>
          <p:cNvPr id="14" name="Shape 12"/>
          <p:cNvSpPr/>
          <p:nvPr/>
        </p:nvSpPr>
        <p:spPr>
          <a:xfrm>
            <a:off x="8931859" y="3039466"/>
            <a:ext cx="1521562" cy="1236269"/>
          </a:xfrm>
          <a:prstGeom prst="ellipse">
            <a:avLst/>
          </a:prstGeom>
          <a:solidFill>
            <a:srgbClr val="B4232F">
              <a:alpha val="3000"/>
            </a:srgbClr>
          </a:solidFill>
        </p:spPr>
      </p:sp>
      <p:sp>
        <p:nvSpPr>
          <p:cNvPr id="15" name="Shape 13"/>
          <p:cNvSpPr/>
          <p:nvPr/>
        </p:nvSpPr>
        <p:spPr>
          <a:xfrm>
            <a:off x="9136685" y="3205886"/>
            <a:ext cx="1111910" cy="903427"/>
          </a:xfrm>
          <a:prstGeom prst="ellipse">
            <a:avLst/>
          </a:prstGeom>
          <a:solidFill>
            <a:srgbClr val="B4232F">
              <a:alpha val="3000"/>
            </a:srgbClr>
          </a:solidFill>
        </p:spPr>
      </p:sp>
      <p:sp>
        <p:nvSpPr>
          <p:cNvPr id="16" name="Text 14"/>
          <p:cNvSpPr txBox="1"/>
          <p:nvPr/>
        </p:nvSpPr>
        <p:spPr>
          <a:xfrm>
            <a:off x="731520" y="932688"/>
            <a:ext cx="10728655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kern="0" spc="-20" dirty="0">
                <a:solidFill>
                  <a:srgbClr val="EDF1F6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When it hunts, running does not save you</a:t>
            </a:r>
            <a:endParaRPr lang="en-US" sz="36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1627632"/>
            <a:ext cx="926561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tuned six numbers by hand until fleeing became a choice with a price.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2368296"/>
            <a:ext cx="25603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E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You, walking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108960" y="2432304"/>
            <a:ext cx="1828800" cy="237744"/>
          </a:xfrm>
          <a:prstGeom prst="rect">
            <a:avLst/>
          </a:prstGeom>
          <a:solidFill>
            <a:srgbClr val="6E96C4"/>
          </a:solidFill>
        </p:spPr>
      </p:sp>
      <p:sp>
        <p:nvSpPr>
          <p:cNvPr id="20" name="Text 18"/>
          <p:cNvSpPr txBox="1"/>
          <p:nvPr/>
        </p:nvSpPr>
        <p:spPr>
          <a:xfrm>
            <a:off x="5065776" y="2377440"/>
            <a:ext cx="11887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E5A6B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2.0 m/s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731520" y="2916936"/>
            <a:ext cx="25603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D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You, sprinting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108960" y="2980944"/>
            <a:ext cx="3200400" cy="237744"/>
          </a:xfrm>
          <a:prstGeom prst="rect">
            <a:avLst/>
          </a:prstGeom>
          <a:solidFill>
            <a:srgbClr val="D89A45"/>
          </a:solidFill>
        </p:spPr>
      </p:sp>
      <p:sp>
        <p:nvSpPr>
          <p:cNvPr id="23" name="Text 21"/>
          <p:cNvSpPr txBox="1"/>
          <p:nvPr/>
        </p:nvSpPr>
        <p:spPr>
          <a:xfrm>
            <a:off x="6437376" y="2926080"/>
            <a:ext cx="11887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DF1F6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3.5 m/s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731520" y="3465576"/>
            <a:ext cx="25603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E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Spirit, hunting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108960" y="3529584"/>
            <a:ext cx="3017520" cy="237744"/>
          </a:xfrm>
          <a:prstGeom prst="rect">
            <a:avLst/>
          </a:prstGeom>
          <a:solidFill>
            <a:srgbClr val="7A3038"/>
          </a:solidFill>
        </p:spPr>
      </p:sp>
      <p:sp>
        <p:nvSpPr>
          <p:cNvPr id="26" name="Text 24"/>
          <p:cNvSpPr txBox="1"/>
          <p:nvPr/>
        </p:nvSpPr>
        <p:spPr>
          <a:xfrm>
            <a:off x="6254496" y="3474720"/>
            <a:ext cx="11887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E5A6B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3.3 m/s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731520" y="4014216"/>
            <a:ext cx="25603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E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Wraith, hunting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108960" y="4078224"/>
            <a:ext cx="3108960" cy="237744"/>
          </a:xfrm>
          <a:prstGeom prst="rect">
            <a:avLst/>
          </a:prstGeom>
          <a:solidFill>
            <a:srgbClr val="97303C"/>
          </a:solidFill>
        </p:spPr>
      </p:sp>
      <p:sp>
        <p:nvSpPr>
          <p:cNvPr id="29" name="Text 27"/>
          <p:cNvSpPr txBox="1"/>
          <p:nvPr/>
        </p:nvSpPr>
        <p:spPr>
          <a:xfrm>
            <a:off x="6345936" y="4023360"/>
            <a:ext cx="11887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E5A6B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3.4 m/s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731520" y="4562856"/>
            <a:ext cx="25603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D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Poltergeist, hunting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3108960" y="4626864"/>
            <a:ext cx="3291840" cy="237744"/>
          </a:xfrm>
          <a:prstGeom prst="rect">
            <a:avLst/>
          </a:prstGeom>
          <a:solidFill>
            <a:srgbClr val="B4232F"/>
          </a:solidFill>
        </p:spPr>
      </p:sp>
      <p:sp>
        <p:nvSpPr>
          <p:cNvPr id="32" name="Text 30"/>
          <p:cNvSpPr txBox="1"/>
          <p:nvPr/>
        </p:nvSpPr>
        <p:spPr>
          <a:xfrm>
            <a:off x="6528816" y="4572000"/>
            <a:ext cx="11887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DF1F6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3.6 m/s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309360" y="2340864"/>
            <a:ext cx="12802" cy="2926080"/>
          </a:xfrm>
          <a:prstGeom prst="rect">
            <a:avLst/>
          </a:prstGeom>
          <a:solidFill>
            <a:srgbClr val="F0C57E"/>
          </a:solidFill>
        </p:spPr>
      </p:sp>
      <p:sp>
        <p:nvSpPr>
          <p:cNvPr id="34" name="Text 32"/>
          <p:cNvSpPr txBox="1"/>
          <p:nvPr/>
        </p:nvSpPr>
        <p:spPr>
          <a:xfrm>
            <a:off x="5623560" y="5285232"/>
            <a:ext cx="1463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0C57E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your ceiling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7955280" y="2286000"/>
            <a:ext cx="3502152" cy="2651760"/>
          </a:xfrm>
          <a:prstGeom prst="roundRect">
            <a:avLst>
              <a:gd name="adj" fmla="val 1724"/>
            </a:avLst>
          </a:prstGeom>
          <a:solidFill>
            <a:srgbClr val="0E141D"/>
          </a:solidFill>
          <a:ln w="12700">
            <a:solidFill>
              <a:srgbClr val="3A1A1E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247888" y="2487168"/>
            <a:ext cx="30175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20" dirty="0">
                <a:solidFill>
                  <a:srgbClr val="FF5A66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AND THERE IS NO ADRENALINE</a:t>
            </a:r>
            <a:endParaRPr lang="en-US" sz="950" dirty="0"/>
          </a:p>
        </p:txBody>
      </p:sp>
      <p:sp>
        <p:nvSpPr>
          <p:cNvPr id="37" name="Text 35"/>
          <p:cNvSpPr txBox="1"/>
          <p:nvPr/>
        </p:nvSpPr>
        <p:spPr>
          <a:xfrm>
            <a:off x="8247888" y="2852928"/>
            <a:ext cx="301752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8E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Hunt sprint is 3.5 — the same as any</a:t>
            </a:r>
            <a:endParaRPr lang="en-US" sz="11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8E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sprint. No panic bonus.</a:t>
            </a:r>
            <a:endParaRPr lang="en-US" sz="1150" dirty="0"/>
          </a:p>
        </p:txBody>
      </p:sp>
      <p:sp>
        <p:nvSpPr>
          <p:cNvPr id="38" name="Text 36"/>
          <p:cNvSpPr txBox="1"/>
          <p:nvPr/>
        </p:nvSpPr>
        <p:spPr>
          <a:xfrm>
            <a:off x="8247888" y="3566160"/>
            <a:ext cx="301752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8E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sprint lasts 4.2 seconds, then</a:t>
            </a:r>
            <a:endParaRPr lang="en-US" sz="11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8E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 seconds to recharge. You walk</a:t>
            </a:r>
            <a:endParaRPr lang="en-US" sz="11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8E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 all of it.</a:t>
            </a:r>
            <a:endParaRPr lang="en-US" sz="1150" dirty="0"/>
          </a:p>
        </p:txBody>
      </p:sp>
      <p:sp>
        <p:nvSpPr>
          <p:cNvPr id="39" name="Text 37"/>
          <p:cNvSpPr txBox="1"/>
          <p:nvPr/>
        </p:nvSpPr>
        <p:spPr>
          <a:xfrm>
            <a:off x="8247888" y="4279392"/>
            <a:ext cx="301752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ED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only thing that works is</a:t>
            </a:r>
            <a:endParaRPr lang="en-US" sz="11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ED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breaking its line of sight. Turn a</a:t>
            </a:r>
            <a:endParaRPr lang="en-US" sz="11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ED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corner, shut the door, and you are</a:t>
            </a:r>
            <a:endParaRPr lang="en-US" sz="11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ED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rumour again.</a:t>
            </a:r>
            <a:endParaRPr lang="en-US" sz="1150" dirty="0"/>
          </a:p>
        </p:txBody>
      </p:sp>
      <p:sp>
        <p:nvSpPr>
          <p:cNvPr id="40" name="Text 38"/>
          <p:cNvSpPr txBox="1"/>
          <p:nvPr/>
        </p:nvSpPr>
        <p:spPr>
          <a:xfrm>
            <a:off x="731520" y="5577840"/>
            <a:ext cx="8899855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5A66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Two ghosts you can just outrun. One of them you cannot.</a:t>
            </a:r>
            <a:endParaRPr lang="en-US" sz="1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8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29184"/>
            <a:ext cx="7772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20" dirty="0">
                <a:solidFill>
                  <a:srgbClr val="4E5A6B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THE GAME · 07  ·  THE TOOLS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731520" y="621792"/>
            <a:ext cx="10728655" cy="10973"/>
          </a:xfrm>
          <a:prstGeom prst="rect">
            <a:avLst/>
          </a:prstGeom>
          <a:solidFill>
            <a:srgbClr val="1E2836"/>
          </a:solidFill>
        </p:spPr>
      </p:sp>
      <p:sp>
        <p:nvSpPr>
          <p:cNvPr id="4" name="Shape 2"/>
          <p:cNvSpPr/>
          <p:nvPr/>
        </p:nvSpPr>
        <p:spPr>
          <a:xfrm>
            <a:off x="731520" y="6419088"/>
            <a:ext cx="8991295" cy="50292"/>
          </a:xfrm>
          <a:prstGeom prst="rect">
            <a:avLst/>
          </a:prstGeom>
          <a:solidFill>
            <a:srgbClr val="1E2836"/>
          </a:solidFill>
        </p:spPr>
      </p:sp>
      <p:sp>
        <p:nvSpPr>
          <p:cNvPr id="5" name="Shape 3"/>
          <p:cNvSpPr/>
          <p:nvPr/>
        </p:nvSpPr>
        <p:spPr>
          <a:xfrm>
            <a:off x="731520" y="6419088"/>
            <a:ext cx="4315822" cy="50292"/>
          </a:xfrm>
          <a:prstGeom prst="rect">
            <a:avLst/>
          </a:prstGeom>
          <a:solidFill>
            <a:srgbClr val="D89A45"/>
          </a:solidFill>
        </p:spPr>
      </p:sp>
      <p:sp>
        <p:nvSpPr>
          <p:cNvPr id="6" name="Text 4"/>
          <p:cNvSpPr txBox="1"/>
          <p:nvPr/>
        </p:nvSpPr>
        <p:spPr>
          <a:xfrm>
            <a:off x="9859975" y="6309360"/>
            <a:ext cx="1600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kern="0" spc="100" dirty="0">
                <a:solidFill>
                  <a:srgbClr val="D89A45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SANITY  48%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932688"/>
            <a:ext cx="10728655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kern="0" spc="-20" dirty="0">
                <a:solidFill>
                  <a:srgbClr val="EDF1F6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Three tools, three different fears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1627632"/>
            <a:ext cx="926561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6E9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are not three ways to get the same thing. Each one pushes you somewhere you would rather not go.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2304288"/>
            <a:ext cx="3364992" cy="2743200"/>
          </a:xfrm>
          <a:prstGeom prst="roundRect">
            <a:avLst>
              <a:gd name="adj" fmla="val 1667"/>
            </a:avLst>
          </a:prstGeom>
          <a:solidFill>
            <a:srgbClr val="0E141D"/>
          </a:solidFill>
          <a:ln w="12700">
            <a:solidFill>
              <a:srgbClr val="1E283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2304288"/>
            <a:ext cx="3364992" cy="32004"/>
          </a:xfrm>
          <a:prstGeom prst="rect">
            <a:avLst/>
          </a:prstGeom>
          <a:solidFill>
            <a:srgbClr val="D89A45"/>
          </a:solidFill>
        </p:spPr>
      </p:sp>
      <p:sp>
        <p:nvSpPr>
          <p:cNvPr id="11" name="Text 9"/>
          <p:cNvSpPr txBox="1"/>
          <p:nvPr/>
        </p:nvSpPr>
        <p:spPr>
          <a:xfrm>
            <a:off x="1024128" y="2542032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140" dirty="0">
                <a:solidFill>
                  <a:srgbClr val="4E5A6B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EMF READER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2834640"/>
            <a:ext cx="28346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DF1F6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FOLLOW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1024128" y="3456432"/>
            <a:ext cx="2798064" cy="8595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8E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higher reading means it was standing here a moment ago.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1024128" y="4443984"/>
            <a:ext cx="2798064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0C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pulls you toward it.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4389120" y="2304288"/>
            <a:ext cx="3364992" cy="2743200"/>
          </a:xfrm>
          <a:prstGeom prst="roundRect">
            <a:avLst>
              <a:gd name="adj" fmla="val 1667"/>
            </a:avLst>
          </a:prstGeom>
          <a:solidFill>
            <a:srgbClr val="0E141D"/>
          </a:solidFill>
          <a:ln w="12700">
            <a:solidFill>
              <a:srgbClr val="1E283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89120" y="2304288"/>
            <a:ext cx="3364992" cy="32004"/>
          </a:xfrm>
          <a:prstGeom prst="rect">
            <a:avLst/>
          </a:prstGeom>
          <a:solidFill>
            <a:srgbClr val="D89A45"/>
          </a:solidFill>
        </p:spPr>
      </p:sp>
      <p:sp>
        <p:nvSpPr>
          <p:cNvPr id="17" name="Text 15"/>
          <p:cNvSpPr txBox="1"/>
          <p:nvPr/>
        </p:nvSpPr>
        <p:spPr>
          <a:xfrm>
            <a:off x="4681728" y="2542032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140" dirty="0">
                <a:solidFill>
                  <a:srgbClr val="4E5A6B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UV LIGHT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4663440" y="2834640"/>
            <a:ext cx="28346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DF1F6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SEARCH</a:t>
            </a:r>
            <a:endParaRPr lang="en-US" sz="3000" dirty="0"/>
          </a:p>
        </p:txBody>
      </p:sp>
      <p:sp>
        <p:nvSpPr>
          <p:cNvPr id="19" name="Text 17"/>
          <p:cNvSpPr txBox="1"/>
          <p:nvPr/>
        </p:nvSpPr>
        <p:spPr>
          <a:xfrm>
            <a:off x="4681728" y="3456432"/>
            <a:ext cx="2798064" cy="8595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8E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Fingerprints only glow in the dark, so holding UV kills your flashlight.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4681728" y="4443984"/>
            <a:ext cx="2798064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0C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takes your light away.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8046720" y="2304288"/>
            <a:ext cx="3364992" cy="2743200"/>
          </a:xfrm>
          <a:prstGeom prst="roundRect">
            <a:avLst>
              <a:gd name="adj" fmla="val 1667"/>
            </a:avLst>
          </a:prstGeom>
          <a:solidFill>
            <a:srgbClr val="0E141D"/>
          </a:solidFill>
          <a:ln w="12700">
            <a:solidFill>
              <a:srgbClr val="1E283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046720" y="2304288"/>
            <a:ext cx="3364992" cy="32004"/>
          </a:xfrm>
          <a:prstGeom prst="rect">
            <a:avLst/>
          </a:prstGeom>
          <a:solidFill>
            <a:srgbClr val="D89A45"/>
          </a:solidFill>
        </p:spPr>
      </p:sp>
      <p:sp>
        <p:nvSpPr>
          <p:cNvPr id="23" name="Text 21"/>
          <p:cNvSpPr txBox="1"/>
          <p:nvPr/>
        </p:nvSpPr>
        <p:spPr>
          <a:xfrm>
            <a:off x="8339328" y="2542032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140" dirty="0">
                <a:solidFill>
                  <a:srgbClr val="4E5A6B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GHOST BOOK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8321040" y="2834640"/>
            <a:ext cx="28346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DF1F6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WAIT</a:t>
            </a:r>
            <a:endParaRPr lang="en-US" sz="3000" dirty="0"/>
          </a:p>
        </p:txBody>
      </p:sp>
      <p:sp>
        <p:nvSpPr>
          <p:cNvPr id="25" name="Text 23"/>
          <p:cNvSpPr txBox="1"/>
          <p:nvPr/>
        </p:nvSpPr>
        <p:spPr>
          <a:xfrm>
            <a:off x="8339328" y="3456432"/>
            <a:ext cx="2798064" cy="8595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8E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put it on the floor, you leave, and the writing happens without you.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8339328" y="4443984"/>
            <a:ext cx="2798064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0C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sends you back in.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731520" y="5230368"/>
            <a:ext cx="10728655" cy="621792"/>
          </a:xfrm>
          <a:prstGeom prst="roundRect">
            <a:avLst>
              <a:gd name="adj" fmla="val 7353"/>
            </a:avLst>
          </a:prstGeom>
          <a:solidFill>
            <a:srgbClr val="141C28"/>
          </a:solidFill>
          <a:ln w="12700">
            <a:solidFill>
              <a:srgbClr val="1E2836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115568" y="5358384"/>
            <a:ext cx="9997135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D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belt slots. The flashlight permanently owns one of them. So you leave one tool behind, every single round.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731520" y="5961888"/>
            <a:ext cx="8899855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8E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wrong is not a bug. It is the round starting badly, and that is allowed.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8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29184"/>
            <a:ext cx="7772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20" dirty="0">
                <a:solidFill>
                  <a:srgbClr val="4E5A6B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THE GAME · 08  ·  THE LOOK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731520" y="621792"/>
            <a:ext cx="10728655" cy="10973"/>
          </a:xfrm>
          <a:prstGeom prst="rect">
            <a:avLst/>
          </a:prstGeom>
          <a:solidFill>
            <a:srgbClr val="1E2836"/>
          </a:solidFill>
        </p:spPr>
      </p:sp>
      <p:sp>
        <p:nvSpPr>
          <p:cNvPr id="4" name="Shape 2"/>
          <p:cNvSpPr/>
          <p:nvPr/>
        </p:nvSpPr>
        <p:spPr>
          <a:xfrm>
            <a:off x="731520" y="6419088"/>
            <a:ext cx="8991295" cy="50292"/>
          </a:xfrm>
          <a:prstGeom prst="rect">
            <a:avLst/>
          </a:prstGeom>
          <a:solidFill>
            <a:srgbClr val="1E2836"/>
          </a:solidFill>
        </p:spPr>
      </p:sp>
      <p:sp>
        <p:nvSpPr>
          <p:cNvPr id="5" name="Shape 3"/>
          <p:cNvSpPr/>
          <p:nvPr/>
        </p:nvSpPr>
        <p:spPr>
          <a:xfrm>
            <a:off x="731520" y="6419088"/>
            <a:ext cx="3776344" cy="50292"/>
          </a:xfrm>
          <a:prstGeom prst="rect">
            <a:avLst/>
          </a:prstGeom>
          <a:solidFill>
            <a:srgbClr val="D89A45"/>
          </a:solidFill>
        </p:spPr>
      </p:sp>
      <p:sp>
        <p:nvSpPr>
          <p:cNvPr id="6" name="Text 4"/>
          <p:cNvSpPr txBox="1"/>
          <p:nvPr/>
        </p:nvSpPr>
        <p:spPr>
          <a:xfrm>
            <a:off x="9859975" y="6309360"/>
            <a:ext cx="1600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kern="0" spc="100" dirty="0">
                <a:solidFill>
                  <a:srgbClr val="D89A45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SANITY  42%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6583680" y="1828800"/>
            <a:ext cx="4937760" cy="4023360"/>
          </a:xfrm>
          <a:prstGeom prst="ellipse">
            <a:avLst/>
          </a:prstGeom>
          <a:solidFill>
            <a:srgbClr val="D89A45">
              <a:alpha val="3000"/>
            </a:srgbClr>
          </a:solidFill>
        </p:spPr>
      </p:sp>
      <p:sp>
        <p:nvSpPr>
          <p:cNvPr id="8" name="Shape 6"/>
          <p:cNvSpPr/>
          <p:nvPr/>
        </p:nvSpPr>
        <p:spPr>
          <a:xfrm>
            <a:off x="6879946" y="2070202"/>
            <a:ext cx="4345229" cy="3540557"/>
          </a:xfrm>
          <a:prstGeom prst="ellipse">
            <a:avLst/>
          </a:prstGeom>
          <a:solidFill>
            <a:srgbClr val="D89A45">
              <a:alpha val="3000"/>
            </a:srgbClr>
          </a:solidFill>
        </p:spPr>
      </p:sp>
      <p:sp>
        <p:nvSpPr>
          <p:cNvPr id="9" name="Shape 7"/>
          <p:cNvSpPr/>
          <p:nvPr/>
        </p:nvSpPr>
        <p:spPr>
          <a:xfrm>
            <a:off x="7176211" y="2311603"/>
            <a:ext cx="3752698" cy="3057754"/>
          </a:xfrm>
          <a:prstGeom prst="ellipse">
            <a:avLst/>
          </a:prstGeom>
          <a:solidFill>
            <a:srgbClr val="D89A45">
              <a:alpha val="3000"/>
            </a:srgbClr>
          </a:solidFill>
        </p:spPr>
      </p:sp>
      <p:sp>
        <p:nvSpPr>
          <p:cNvPr id="10" name="Shape 8"/>
          <p:cNvSpPr/>
          <p:nvPr/>
        </p:nvSpPr>
        <p:spPr>
          <a:xfrm>
            <a:off x="7472477" y="2553005"/>
            <a:ext cx="3160166" cy="2574950"/>
          </a:xfrm>
          <a:prstGeom prst="ellipse">
            <a:avLst/>
          </a:prstGeom>
          <a:solidFill>
            <a:srgbClr val="D89A45">
              <a:alpha val="3000"/>
            </a:srgbClr>
          </a:solidFill>
        </p:spPr>
      </p:sp>
      <p:sp>
        <p:nvSpPr>
          <p:cNvPr id="11" name="Shape 9"/>
          <p:cNvSpPr/>
          <p:nvPr/>
        </p:nvSpPr>
        <p:spPr>
          <a:xfrm>
            <a:off x="7744054" y="2774290"/>
            <a:ext cx="2617013" cy="2132381"/>
          </a:xfrm>
          <a:prstGeom prst="ellipse">
            <a:avLst/>
          </a:prstGeom>
          <a:solidFill>
            <a:srgbClr val="D89A45">
              <a:alpha val="3000"/>
            </a:srgbClr>
          </a:solidFill>
        </p:spPr>
      </p:sp>
      <p:sp>
        <p:nvSpPr>
          <p:cNvPr id="12" name="Shape 10"/>
          <p:cNvSpPr/>
          <p:nvPr/>
        </p:nvSpPr>
        <p:spPr>
          <a:xfrm>
            <a:off x="7990942" y="2975458"/>
            <a:ext cx="2123237" cy="1730045"/>
          </a:xfrm>
          <a:prstGeom prst="ellipse">
            <a:avLst/>
          </a:prstGeom>
          <a:solidFill>
            <a:srgbClr val="D89A45">
              <a:alpha val="3000"/>
            </a:srgbClr>
          </a:solidFill>
        </p:spPr>
      </p:sp>
      <p:sp>
        <p:nvSpPr>
          <p:cNvPr id="13" name="Shape 11"/>
          <p:cNvSpPr/>
          <p:nvPr/>
        </p:nvSpPr>
        <p:spPr>
          <a:xfrm>
            <a:off x="8213141" y="3156509"/>
            <a:ext cx="1678838" cy="1367942"/>
          </a:xfrm>
          <a:prstGeom prst="ellipse">
            <a:avLst/>
          </a:prstGeom>
          <a:solidFill>
            <a:srgbClr val="D89A45">
              <a:alpha val="3000"/>
            </a:srgbClr>
          </a:solidFill>
        </p:spPr>
      </p:sp>
      <p:sp>
        <p:nvSpPr>
          <p:cNvPr id="14" name="Shape 12"/>
          <p:cNvSpPr/>
          <p:nvPr/>
        </p:nvSpPr>
        <p:spPr>
          <a:xfrm>
            <a:off x="8410651" y="3317443"/>
            <a:ext cx="1283818" cy="1046074"/>
          </a:xfrm>
          <a:prstGeom prst="ellipse">
            <a:avLst/>
          </a:prstGeom>
          <a:solidFill>
            <a:srgbClr val="D89A45">
              <a:alpha val="3000"/>
            </a:srgbClr>
          </a:solidFill>
        </p:spPr>
      </p:sp>
      <p:sp>
        <p:nvSpPr>
          <p:cNvPr id="15" name="Shape 13"/>
          <p:cNvSpPr/>
          <p:nvPr/>
        </p:nvSpPr>
        <p:spPr>
          <a:xfrm>
            <a:off x="8583473" y="3458261"/>
            <a:ext cx="938174" cy="764438"/>
          </a:xfrm>
          <a:prstGeom prst="ellipse">
            <a:avLst/>
          </a:prstGeom>
          <a:solidFill>
            <a:srgbClr val="D89A45">
              <a:alpha val="3000"/>
            </a:srgbClr>
          </a:solidFill>
        </p:spPr>
      </p:sp>
      <p:sp>
        <p:nvSpPr>
          <p:cNvPr id="16" name="Text 14"/>
          <p:cNvSpPr txBox="1"/>
          <p:nvPr/>
        </p:nvSpPr>
        <p:spPr>
          <a:xfrm>
            <a:off x="731520" y="932688"/>
            <a:ext cx="10728655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kern="0" spc="-20" dirty="0">
                <a:solidFill>
                  <a:srgbClr val="EDF1F6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One warm light in a cold house</a:t>
            </a:r>
            <a:endParaRPr lang="en-US" sz="36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1627632"/>
            <a:ext cx="926561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6E9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art direction is a budget decision that we are genuinely proud of.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2304288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20" dirty="0">
                <a:solidFill>
                  <a:srgbClr val="6E96C4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THE ONLY AMBIENT LIGHT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4114800" y="2258568"/>
            <a:ext cx="4937760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ED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blue moonlight through the windows. Indoors is close to black.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731520" y="3090672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20" dirty="0">
                <a:solidFill>
                  <a:srgbClr val="6E96C4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THE ONLY WARM LIGHT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4114800" y="3044952"/>
            <a:ext cx="4937760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ED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flashlight in your hand. 12 metres, a 45° cone. Nothing else is warm.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31520" y="3877056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20" dirty="0">
                <a:solidFill>
                  <a:srgbClr val="6E96C4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EIGHT AREAS, ONE HAUNTED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4114800" y="3831336"/>
            <a:ext cx="4937760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ED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of them can hold the ghost. The game picks one at random each round.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731520" y="466344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20" dirty="0">
                <a:solidFill>
                  <a:srgbClr val="6E96C4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WHEN THE HUNT STARTS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4114800" y="4617720"/>
            <a:ext cx="4937760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FF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house goes red and flickers, your torch dies, and sometimes the power fails.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731520" y="5541264"/>
            <a:ext cx="8899855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0C57E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The cheapest thing in a horror game is everything nobody can see.</a:t>
            </a:r>
            <a:endParaRPr lang="en-US" sz="1900" dirty="0"/>
          </a:p>
        </p:txBody>
      </p:sp>
      <p:sp>
        <p:nvSpPr>
          <p:cNvPr id="27" name="Text 25"/>
          <p:cNvSpPr txBox="1"/>
          <p:nvPr/>
        </p:nvSpPr>
        <p:spPr>
          <a:xfrm>
            <a:off x="731520" y="5943600"/>
            <a:ext cx="8899855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8E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ghost is invisible most of the round. That was an art decision before it was a design one.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8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29184"/>
            <a:ext cx="7772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20" dirty="0">
                <a:solidFill>
                  <a:srgbClr val="4E5A6B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HOW WE BUILT IT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731520" y="621792"/>
            <a:ext cx="10728655" cy="10973"/>
          </a:xfrm>
          <a:prstGeom prst="rect">
            <a:avLst/>
          </a:prstGeom>
          <a:solidFill>
            <a:srgbClr val="1E2836"/>
          </a:solidFill>
        </p:spPr>
      </p:sp>
      <p:sp>
        <p:nvSpPr>
          <p:cNvPr id="4" name="Shape 2"/>
          <p:cNvSpPr/>
          <p:nvPr/>
        </p:nvSpPr>
        <p:spPr>
          <a:xfrm>
            <a:off x="731520" y="6419088"/>
            <a:ext cx="8991295" cy="50292"/>
          </a:xfrm>
          <a:prstGeom prst="rect">
            <a:avLst/>
          </a:prstGeom>
          <a:solidFill>
            <a:srgbClr val="1E2836"/>
          </a:solidFill>
        </p:spPr>
      </p:sp>
      <p:sp>
        <p:nvSpPr>
          <p:cNvPr id="5" name="Shape 3"/>
          <p:cNvSpPr/>
          <p:nvPr/>
        </p:nvSpPr>
        <p:spPr>
          <a:xfrm>
            <a:off x="731520" y="6419088"/>
            <a:ext cx="3326779" cy="50292"/>
          </a:xfrm>
          <a:prstGeom prst="rect">
            <a:avLst/>
          </a:prstGeom>
          <a:solidFill>
            <a:srgbClr val="D89A45"/>
          </a:solidFill>
        </p:spPr>
      </p:sp>
      <p:sp>
        <p:nvSpPr>
          <p:cNvPr id="6" name="Text 4"/>
          <p:cNvSpPr txBox="1"/>
          <p:nvPr/>
        </p:nvSpPr>
        <p:spPr>
          <a:xfrm>
            <a:off x="9859975" y="6309360"/>
            <a:ext cx="1600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kern="0" spc="100" dirty="0">
                <a:solidFill>
                  <a:srgbClr val="D89A45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SANITY  37%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914400" y="1463040"/>
            <a:ext cx="9144000" cy="4206240"/>
          </a:xfrm>
          <a:prstGeom prst="ellipse">
            <a:avLst/>
          </a:prstGeom>
          <a:solidFill>
            <a:srgbClr val="D89A45">
              <a:alpha val="3000"/>
            </a:srgbClr>
          </a:solidFill>
        </p:spPr>
      </p:sp>
      <p:sp>
        <p:nvSpPr>
          <p:cNvPr id="8" name="Shape 6"/>
          <p:cNvSpPr/>
          <p:nvPr/>
        </p:nvSpPr>
        <p:spPr>
          <a:xfrm>
            <a:off x="1463040" y="1715414"/>
            <a:ext cx="8046720" cy="3701491"/>
          </a:xfrm>
          <a:prstGeom prst="ellipse">
            <a:avLst/>
          </a:prstGeom>
          <a:solidFill>
            <a:srgbClr val="D89A45">
              <a:alpha val="3000"/>
            </a:srgbClr>
          </a:solidFill>
        </p:spPr>
      </p:sp>
      <p:sp>
        <p:nvSpPr>
          <p:cNvPr id="9" name="Shape 7"/>
          <p:cNvSpPr/>
          <p:nvPr/>
        </p:nvSpPr>
        <p:spPr>
          <a:xfrm>
            <a:off x="2011680" y="1967789"/>
            <a:ext cx="6949440" cy="3196742"/>
          </a:xfrm>
          <a:prstGeom prst="ellipse">
            <a:avLst/>
          </a:prstGeom>
          <a:solidFill>
            <a:srgbClr val="D89A45">
              <a:alpha val="3000"/>
            </a:srgbClr>
          </a:solidFill>
        </p:spPr>
      </p:sp>
      <p:sp>
        <p:nvSpPr>
          <p:cNvPr id="10" name="Shape 8"/>
          <p:cNvSpPr/>
          <p:nvPr/>
        </p:nvSpPr>
        <p:spPr>
          <a:xfrm>
            <a:off x="2560320" y="2220163"/>
            <a:ext cx="5852160" cy="2691994"/>
          </a:xfrm>
          <a:prstGeom prst="ellipse">
            <a:avLst/>
          </a:prstGeom>
          <a:solidFill>
            <a:srgbClr val="D89A45">
              <a:alpha val="3000"/>
            </a:srgbClr>
          </a:solidFill>
        </p:spPr>
      </p:sp>
      <p:sp>
        <p:nvSpPr>
          <p:cNvPr id="11" name="Shape 9"/>
          <p:cNvSpPr/>
          <p:nvPr/>
        </p:nvSpPr>
        <p:spPr>
          <a:xfrm>
            <a:off x="3063240" y="2451506"/>
            <a:ext cx="4846320" cy="2229307"/>
          </a:xfrm>
          <a:prstGeom prst="ellipse">
            <a:avLst/>
          </a:prstGeom>
          <a:solidFill>
            <a:srgbClr val="D89A45">
              <a:alpha val="3000"/>
            </a:srgbClr>
          </a:solidFill>
        </p:spPr>
      </p:sp>
      <p:sp>
        <p:nvSpPr>
          <p:cNvPr id="12" name="Shape 10"/>
          <p:cNvSpPr/>
          <p:nvPr/>
        </p:nvSpPr>
        <p:spPr>
          <a:xfrm>
            <a:off x="3520440" y="2661818"/>
            <a:ext cx="3931920" cy="1808683"/>
          </a:xfrm>
          <a:prstGeom prst="ellipse">
            <a:avLst/>
          </a:prstGeom>
          <a:solidFill>
            <a:srgbClr val="D89A45">
              <a:alpha val="3000"/>
            </a:srgbClr>
          </a:solidFill>
        </p:spPr>
      </p:sp>
      <p:sp>
        <p:nvSpPr>
          <p:cNvPr id="13" name="Shape 11"/>
          <p:cNvSpPr/>
          <p:nvPr/>
        </p:nvSpPr>
        <p:spPr>
          <a:xfrm>
            <a:off x="3931920" y="2851099"/>
            <a:ext cx="3108960" cy="1430122"/>
          </a:xfrm>
          <a:prstGeom prst="ellipse">
            <a:avLst/>
          </a:prstGeom>
          <a:solidFill>
            <a:srgbClr val="D89A45">
              <a:alpha val="3000"/>
            </a:srgbClr>
          </a:solidFill>
        </p:spPr>
      </p:sp>
      <p:sp>
        <p:nvSpPr>
          <p:cNvPr id="14" name="Shape 12"/>
          <p:cNvSpPr/>
          <p:nvPr/>
        </p:nvSpPr>
        <p:spPr>
          <a:xfrm>
            <a:off x="4297680" y="3019349"/>
            <a:ext cx="2377440" cy="1093622"/>
          </a:xfrm>
          <a:prstGeom prst="ellipse">
            <a:avLst/>
          </a:prstGeom>
          <a:solidFill>
            <a:srgbClr val="D89A45">
              <a:alpha val="3000"/>
            </a:srgbClr>
          </a:solidFill>
        </p:spPr>
      </p:sp>
      <p:sp>
        <p:nvSpPr>
          <p:cNvPr id="15" name="Shape 13"/>
          <p:cNvSpPr/>
          <p:nvPr/>
        </p:nvSpPr>
        <p:spPr>
          <a:xfrm>
            <a:off x="4617720" y="3166567"/>
            <a:ext cx="1737360" cy="799186"/>
          </a:xfrm>
          <a:prstGeom prst="ellipse">
            <a:avLst/>
          </a:prstGeom>
          <a:solidFill>
            <a:srgbClr val="D89A45">
              <a:alpha val="3000"/>
            </a:srgbClr>
          </a:solidFill>
        </p:spPr>
      </p:sp>
      <p:sp>
        <p:nvSpPr>
          <p:cNvPr id="16" name="Text 14"/>
          <p:cNvSpPr txBox="1"/>
          <p:nvPr/>
        </p:nvSpPr>
        <p:spPr>
          <a:xfrm>
            <a:off x="731520" y="2286000"/>
            <a:ext cx="100584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EDF1F6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We had never made a 3D game.</a:t>
            </a:r>
            <a:endParaRPr lang="en-US" sz="4600" dirty="0"/>
          </a:p>
        </p:txBody>
      </p:sp>
      <p:sp>
        <p:nvSpPr>
          <p:cNvPr id="17" name="Shape 15"/>
          <p:cNvSpPr/>
          <p:nvPr/>
        </p:nvSpPr>
        <p:spPr>
          <a:xfrm>
            <a:off x="731520" y="3310128"/>
            <a:ext cx="1920240" cy="27432"/>
          </a:xfrm>
          <a:prstGeom prst="rect">
            <a:avLst/>
          </a:prstGeom>
          <a:solidFill>
            <a:srgbClr val="D89A45"/>
          </a:solidFill>
        </p:spPr>
      </p:sp>
      <p:sp>
        <p:nvSpPr>
          <p:cNvPr id="18" name="Text 16"/>
          <p:cNvSpPr txBox="1"/>
          <p:nvPr/>
        </p:nvSpPr>
        <p:spPr>
          <a:xfrm>
            <a:off x="731520" y="3584448"/>
            <a:ext cx="877824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3000"/>
              </a:lnSpc>
              <a:buNone/>
            </a:pPr>
            <a:r>
              <a:rPr lang="en-US" sz="1700" dirty="0">
                <a:solidFill>
                  <a:srgbClr val="A6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us. Not one shipped scene between us. So we did the only thing that</a:t>
            </a:r>
            <a:endParaRPr lang="en-US" sz="1700" dirty="0"/>
          </a:p>
          <a:p>
            <a:pPr marL="0" indent="0">
              <a:lnSpc>
                <a:spcPts val="3000"/>
              </a:lnSpc>
              <a:buNone/>
            </a:pPr>
            <a:r>
              <a:rPr lang="en-US" sz="1700" dirty="0">
                <a:solidFill>
                  <a:srgbClr val="A6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seemed safe: before we wrote a single line of game code, we wrote the rules</a:t>
            </a:r>
            <a:endParaRPr lang="en-US" sz="1700" dirty="0"/>
          </a:p>
          <a:p>
            <a:pPr marL="0" indent="0">
              <a:lnSpc>
                <a:spcPts val="3000"/>
              </a:lnSpc>
              <a:buNone/>
            </a:pPr>
            <a:r>
              <a:rPr lang="en-US" sz="1700" dirty="0">
                <a:solidFill>
                  <a:srgbClr val="A6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the code would have to obey.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731520" y="5120640"/>
            <a:ext cx="877824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E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after this slide comes out of that one decision.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8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29184"/>
            <a:ext cx="7772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20" dirty="0">
                <a:solidFill>
                  <a:srgbClr val="4E5A6B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HOW WE BUILT IT · 01  ·  THE CONTRACT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731520" y="621792"/>
            <a:ext cx="10728655" cy="10973"/>
          </a:xfrm>
          <a:prstGeom prst="rect">
            <a:avLst/>
          </a:prstGeom>
          <a:solidFill>
            <a:srgbClr val="1E2836"/>
          </a:solidFill>
        </p:spPr>
      </p:sp>
      <p:sp>
        <p:nvSpPr>
          <p:cNvPr id="4" name="Shape 2"/>
          <p:cNvSpPr/>
          <p:nvPr/>
        </p:nvSpPr>
        <p:spPr>
          <a:xfrm>
            <a:off x="731520" y="6419088"/>
            <a:ext cx="8991295" cy="50292"/>
          </a:xfrm>
          <a:prstGeom prst="rect">
            <a:avLst/>
          </a:prstGeom>
          <a:solidFill>
            <a:srgbClr val="1E2836"/>
          </a:solidFill>
        </p:spPr>
      </p:sp>
      <p:sp>
        <p:nvSpPr>
          <p:cNvPr id="5" name="Shape 3"/>
          <p:cNvSpPr/>
          <p:nvPr/>
        </p:nvSpPr>
        <p:spPr>
          <a:xfrm>
            <a:off x="731520" y="6419088"/>
            <a:ext cx="2877214" cy="50292"/>
          </a:xfrm>
          <a:prstGeom prst="rect">
            <a:avLst/>
          </a:prstGeom>
          <a:solidFill>
            <a:srgbClr val="D89A45"/>
          </a:solidFill>
        </p:spPr>
      </p:sp>
      <p:sp>
        <p:nvSpPr>
          <p:cNvPr id="6" name="Text 4"/>
          <p:cNvSpPr txBox="1"/>
          <p:nvPr/>
        </p:nvSpPr>
        <p:spPr>
          <a:xfrm>
            <a:off x="9859975" y="6309360"/>
            <a:ext cx="1600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kern="0" spc="100" dirty="0">
                <a:solidFill>
                  <a:srgbClr val="D89A45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SANITY  32%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932688"/>
            <a:ext cx="10728655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kern="0" spc="-20" dirty="0">
                <a:solidFill>
                  <a:srgbClr val="EDF1F6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Nothing talks to anything directly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1627632"/>
            <a:ext cx="926561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6E9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systems. None of them knows the other five exist. Everything goes through one noticeboard.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2395728"/>
            <a:ext cx="3364992" cy="585216"/>
          </a:xfrm>
          <a:prstGeom prst="roundRect">
            <a:avLst>
              <a:gd name="adj" fmla="val 7813"/>
            </a:avLst>
          </a:prstGeom>
          <a:solidFill>
            <a:srgbClr val="0E141D"/>
          </a:solidFill>
          <a:ln w="12700">
            <a:solidFill>
              <a:srgbClr val="1E283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2542032"/>
            <a:ext cx="318211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kern="0" spc="160" dirty="0">
                <a:solidFill>
                  <a:srgbClr val="A6C6E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PLAYER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404872" y="2980944"/>
            <a:ext cx="12802" cy="786384"/>
          </a:xfrm>
          <a:prstGeom prst="rect">
            <a:avLst/>
          </a:prstGeom>
          <a:solidFill>
            <a:srgbClr val="1E2836"/>
          </a:solidFill>
        </p:spPr>
      </p:sp>
      <p:sp>
        <p:nvSpPr>
          <p:cNvPr id="12" name="Shape 10"/>
          <p:cNvSpPr/>
          <p:nvPr/>
        </p:nvSpPr>
        <p:spPr>
          <a:xfrm>
            <a:off x="4389120" y="2395728"/>
            <a:ext cx="3364992" cy="585216"/>
          </a:xfrm>
          <a:prstGeom prst="roundRect">
            <a:avLst>
              <a:gd name="adj" fmla="val 7813"/>
            </a:avLst>
          </a:prstGeom>
          <a:solidFill>
            <a:srgbClr val="0E141D"/>
          </a:solidFill>
          <a:ln w="12700">
            <a:solidFill>
              <a:srgbClr val="1E283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480560" y="2542032"/>
            <a:ext cx="318211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kern="0" spc="160" dirty="0">
                <a:solidFill>
                  <a:srgbClr val="A6C6E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GHOST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062472" y="2980944"/>
            <a:ext cx="12802" cy="786384"/>
          </a:xfrm>
          <a:prstGeom prst="rect">
            <a:avLst/>
          </a:prstGeom>
          <a:solidFill>
            <a:srgbClr val="1E2836"/>
          </a:solidFill>
        </p:spPr>
      </p:sp>
      <p:sp>
        <p:nvSpPr>
          <p:cNvPr id="15" name="Shape 13"/>
          <p:cNvSpPr/>
          <p:nvPr/>
        </p:nvSpPr>
        <p:spPr>
          <a:xfrm>
            <a:off x="8046720" y="2395728"/>
            <a:ext cx="3364992" cy="585216"/>
          </a:xfrm>
          <a:prstGeom prst="roundRect">
            <a:avLst>
              <a:gd name="adj" fmla="val 7813"/>
            </a:avLst>
          </a:prstGeom>
          <a:solidFill>
            <a:srgbClr val="0E141D"/>
          </a:solidFill>
          <a:ln w="12700">
            <a:solidFill>
              <a:srgbClr val="1E283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138160" y="2542032"/>
            <a:ext cx="318211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kern="0" spc="160" dirty="0">
                <a:solidFill>
                  <a:srgbClr val="A6C6E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EVIDENCE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9720072" y="2980944"/>
            <a:ext cx="12802" cy="786384"/>
          </a:xfrm>
          <a:prstGeom prst="rect">
            <a:avLst/>
          </a:prstGeom>
          <a:solidFill>
            <a:srgbClr val="1E2836"/>
          </a:solidFill>
        </p:spPr>
      </p:sp>
      <p:sp>
        <p:nvSpPr>
          <p:cNvPr id="18" name="Shape 16"/>
          <p:cNvSpPr/>
          <p:nvPr/>
        </p:nvSpPr>
        <p:spPr>
          <a:xfrm>
            <a:off x="731520" y="4626864"/>
            <a:ext cx="3364992" cy="585216"/>
          </a:xfrm>
          <a:prstGeom prst="roundRect">
            <a:avLst>
              <a:gd name="adj" fmla="val 7813"/>
            </a:avLst>
          </a:prstGeom>
          <a:solidFill>
            <a:srgbClr val="0E141D"/>
          </a:solidFill>
          <a:ln w="12700">
            <a:solidFill>
              <a:srgbClr val="1E283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22960" y="4773168"/>
            <a:ext cx="318211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kern="0" spc="160" dirty="0">
                <a:solidFill>
                  <a:srgbClr val="A6C6E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ITEMS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2404872" y="4334256"/>
            <a:ext cx="12802" cy="292608"/>
          </a:xfrm>
          <a:prstGeom prst="rect">
            <a:avLst/>
          </a:prstGeom>
          <a:solidFill>
            <a:srgbClr val="1E2836"/>
          </a:solidFill>
        </p:spPr>
      </p:sp>
      <p:sp>
        <p:nvSpPr>
          <p:cNvPr id="21" name="Shape 19"/>
          <p:cNvSpPr/>
          <p:nvPr/>
        </p:nvSpPr>
        <p:spPr>
          <a:xfrm>
            <a:off x="4389120" y="4626864"/>
            <a:ext cx="3364992" cy="585216"/>
          </a:xfrm>
          <a:prstGeom prst="roundRect">
            <a:avLst>
              <a:gd name="adj" fmla="val 7813"/>
            </a:avLst>
          </a:prstGeom>
          <a:solidFill>
            <a:srgbClr val="0E141D"/>
          </a:solidFill>
          <a:ln w="12700">
            <a:solidFill>
              <a:srgbClr val="1E283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480560" y="4773168"/>
            <a:ext cx="318211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kern="0" spc="160" dirty="0">
                <a:solidFill>
                  <a:srgbClr val="A6C6E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WORLD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062472" y="4334256"/>
            <a:ext cx="12802" cy="292608"/>
          </a:xfrm>
          <a:prstGeom prst="rect">
            <a:avLst/>
          </a:prstGeom>
          <a:solidFill>
            <a:srgbClr val="1E2836"/>
          </a:solidFill>
        </p:spPr>
      </p:sp>
      <p:sp>
        <p:nvSpPr>
          <p:cNvPr id="24" name="Shape 22"/>
          <p:cNvSpPr/>
          <p:nvPr/>
        </p:nvSpPr>
        <p:spPr>
          <a:xfrm>
            <a:off x="8046720" y="4626864"/>
            <a:ext cx="3364992" cy="585216"/>
          </a:xfrm>
          <a:prstGeom prst="roundRect">
            <a:avLst>
              <a:gd name="adj" fmla="val 7813"/>
            </a:avLst>
          </a:prstGeom>
          <a:solidFill>
            <a:srgbClr val="0E141D"/>
          </a:solidFill>
          <a:ln w="12700">
            <a:solidFill>
              <a:srgbClr val="1E283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138160" y="4773168"/>
            <a:ext cx="318211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kern="0" spc="160" dirty="0">
                <a:solidFill>
                  <a:srgbClr val="A6C6E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UI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9720072" y="4334256"/>
            <a:ext cx="12802" cy="292608"/>
          </a:xfrm>
          <a:prstGeom prst="rect">
            <a:avLst/>
          </a:prstGeom>
          <a:solidFill>
            <a:srgbClr val="1E2836"/>
          </a:solidFill>
        </p:spPr>
      </p:sp>
      <p:sp>
        <p:nvSpPr>
          <p:cNvPr id="27" name="Shape 25"/>
          <p:cNvSpPr/>
          <p:nvPr/>
        </p:nvSpPr>
        <p:spPr>
          <a:xfrm>
            <a:off x="731520" y="3767328"/>
            <a:ext cx="10728655" cy="566928"/>
          </a:xfrm>
          <a:prstGeom prst="roundRect">
            <a:avLst>
              <a:gd name="adj" fmla="val 8065"/>
            </a:avLst>
          </a:prstGeom>
          <a:solidFill>
            <a:srgbClr val="141C28"/>
          </a:solidFill>
          <a:ln w="12700">
            <a:solidFill>
              <a:srgbClr val="3A302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31520" y="3904488"/>
            <a:ext cx="10728655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kern="0" spc="120" dirty="0">
                <a:solidFill>
                  <a:srgbClr val="F0C57E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GameEvents  ·  the static event bus  ·  23 messages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731520" y="5449824"/>
            <a:ext cx="5029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89A45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4</a:t>
            </a:r>
            <a:endParaRPr lang="en-US" sz="2200" dirty="0"/>
          </a:p>
        </p:txBody>
      </p:sp>
      <p:sp>
        <p:nvSpPr>
          <p:cNvPr id="30" name="Text 28"/>
          <p:cNvSpPr txBox="1"/>
          <p:nvPr/>
        </p:nvSpPr>
        <p:spPr>
          <a:xfrm>
            <a:off x="1280160" y="5522976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E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interfaces agreed before day one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4389120" y="5449824"/>
            <a:ext cx="5029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89A45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7</a:t>
            </a:r>
            <a:endParaRPr lang="en-US" sz="2200" dirty="0"/>
          </a:p>
        </p:txBody>
      </p:sp>
      <p:sp>
        <p:nvSpPr>
          <p:cNvPr id="32" name="Text 30"/>
          <p:cNvSpPr txBox="1"/>
          <p:nvPr/>
        </p:nvSpPr>
        <p:spPr>
          <a:xfrm>
            <a:off x="4937760" y="5522976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E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files only one person may edit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8046720" y="5449824"/>
            <a:ext cx="5029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89A45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0</a:t>
            </a:r>
            <a:endParaRPr lang="en-US" sz="2200" dirty="0"/>
          </a:p>
        </p:txBody>
      </p:sp>
      <p:sp>
        <p:nvSpPr>
          <p:cNvPr id="34" name="Text 32"/>
          <p:cNvSpPr txBox="1"/>
          <p:nvPr/>
        </p:nvSpPr>
        <p:spPr>
          <a:xfrm>
            <a:off x="8595360" y="5522976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E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references between systems</a:t>
            </a:r>
            <a:endParaRPr lang="en-US" sz="1250" dirty="0"/>
          </a:p>
        </p:txBody>
      </p:sp>
      <p:sp>
        <p:nvSpPr>
          <p:cNvPr id="35" name="Text 33"/>
          <p:cNvSpPr txBox="1"/>
          <p:nvPr/>
        </p:nvSpPr>
        <p:spPr>
          <a:xfrm>
            <a:off x="731520" y="5943600"/>
            <a:ext cx="8899855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A6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people can build two systems at the same time, never read each other's code, and it still compiles.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8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29184"/>
            <a:ext cx="7772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20" dirty="0">
                <a:solidFill>
                  <a:srgbClr val="4E5A6B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HOW WE BUILT IT · 02  ·  THE PRODUCTION LINE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731520" y="621792"/>
            <a:ext cx="10728655" cy="10973"/>
          </a:xfrm>
          <a:prstGeom prst="rect">
            <a:avLst/>
          </a:prstGeom>
          <a:solidFill>
            <a:srgbClr val="1E2836"/>
          </a:solidFill>
        </p:spPr>
      </p:sp>
      <p:sp>
        <p:nvSpPr>
          <p:cNvPr id="4" name="Shape 2"/>
          <p:cNvSpPr/>
          <p:nvPr/>
        </p:nvSpPr>
        <p:spPr>
          <a:xfrm>
            <a:off x="731520" y="6419088"/>
            <a:ext cx="8991295" cy="50292"/>
          </a:xfrm>
          <a:prstGeom prst="rect">
            <a:avLst/>
          </a:prstGeom>
          <a:solidFill>
            <a:srgbClr val="1E2836"/>
          </a:solidFill>
        </p:spPr>
      </p:sp>
      <p:sp>
        <p:nvSpPr>
          <p:cNvPr id="5" name="Shape 3"/>
          <p:cNvSpPr/>
          <p:nvPr/>
        </p:nvSpPr>
        <p:spPr>
          <a:xfrm>
            <a:off x="731520" y="6419088"/>
            <a:ext cx="2337737" cy="50292"/>
          </a:xfrm>
          <a:prstGeom prst="rect">
            <a:avLst/>
          </a:prstGeom>
          <a:solidFill>
            <a:srgbClr val="D89A45"/>
          </a:solidFill>
        </p:spPr>
      </p:sp>
      <p:sp>
        <p:nvSpPr>
          <p:cNvPr id="6" name="Text 4"/>
          <p:cNvSpPr txBox="1"/>
          <p:nvPr/>
        </p:nvSpPr>
        <p:spPr>
          <a:xfrm>
            <a:off x="9859975" y="6309360"/>
            <a:ext cx="1600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kern="0" spc="100" dirty="0">
                <a:solidFill>
                  <a:srgbClr val="D89A45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SANITY  26%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932688"/>
            <a:ext cx="10728655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kern="0" spc="-20" dirty="0">
                <a:solidFill>
                  <a:srgbClr val="EDF1F6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How a feature actually got made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1627632"/>
            <a:ext cx="926561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6E9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six steps, every single task. The AI writes the code. It never decides what the code is for.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2286000"/>
            <a:ext cx="1627632" cy="2212848"/>
          </a:xfrm>
          <a:prstGeom prst="roundRect">
            <a:avLst>
              <a:gd name="adj" fmla="val 2809"/>
            </a:avLst>
          </a:prstGeom>
          <a:solidFill>
            <a:srgbClr val="0E141D"/>
          </a:solidFill>
          <a:ln w="12700">
            <a:solidFill>
              <a:srgbClr val="3A302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2286000"/>
            <a:ext cx="1627632" cy="32004"/>
          </a:xfrm>
          <a:prstGeom prst="rect">
            <a:avLst/>
          </a:prstGeom>
          <a:solidFill>
            <a:srgbClr val="D89A45"/>
          </a:solidFill>
        </p:spPr>
      </p:sp>
      <p:sp>
        <p:nvSpPr>
          <p:cNvPr id="11" name="Text 9"/>
          <p:cNvSpPr txBox="1"/>
          <p:nvPr/>
        </p:nvSpPr>
        <p:spPr>
          <a:xfrm>
            <a:off x="896112" y="2450592"/>
            <a:ext cx="6400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E5A6B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01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896112" y="2724912"/>
            <a:ext cx="135331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89A45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HUMAN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896112" y="3127248"/>
            <a:ext cx="1335024" cy="1280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8E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the task spec:</a:t>
            </a: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8E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files, which</a:t>
            </a: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8E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numbers, what is</a:t>
            </a: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8E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scope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2340864" y="3127248"/>
            <a:ext cx="228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4E5A6B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›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2551176" y="2286000"/>
            <a:ext cx="1627632" cy="2212848"/>
          </a:xfrm>
          <a:prstGeom prst="roundRect">
            <a:avLst>
              <a:gd name="adj" fmla="val 2809"/>
            </a:avLst>
          </a:prstGeom>
          <a:solidFill>
            <a:srgbClr val="0E141D"/>
          </a:solidFill>
          <a:ln w="12700">
            <a:solidFill>
              <a:srgbClr val="1E283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715768" y="2450592"/>
            <a:ext cx="6400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E5A6B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02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2715768" y="2724912"/>
            <a:ext cx="135331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E96C4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AI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2715768" y="3127248"/>
            <a:ext cx="1335024" cy="1280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8E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the code</a:t>
            </a: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8E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those walls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4160520" y="3127248"/>
            <a:ext cx="228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4E5A6B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›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370832" y="2286000"/>
            <a:ext cx="1627632" cy="2212848"/>
          </a:xfrm>
          <a:prstGeom prst="roundRect">
            <a:avLst>
              <a:gd name="adj" fmla="val 2809"/>
            </a:avLst>
          </a:prstGeom>
          <a:solidFill>
            <a:srgbClr val="0E141D"/>
          </a:solidFill>
          <a:ln w="12700">
            <a:solidFill>
              <a:srgbClr val="1E283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535424" y="2450592"/>
            <a:ext cx="6400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E5A6B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03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4535424" y="2724912"/>
            <a:ext cx="135331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DF1F6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GATE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4535424" y="3127248"/>
            <a:ext cx="1335024" cy="1280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8E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text rules run</a:t>
            </a: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8E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the diff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5980176" y="3127248"/>
            <a:ext cx="228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4E5A6B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›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190488" y="2286000"/>
            <a:ext cx="1627632" cy="2212848"/>
          </a:xfrm>
          <a:prstGeom prst="roundRect">
            <a:avLst>
              <a:gd name="adj" fmla="val 2809"/>
            </a:avLst>
          </a:prstGeom>
          <a:solidFill>
            <a:srgbClr val="0E141D"/>
          </a:solidFill>
          <a:ln w="12700">
            <a:solidFill>
              <a:srgbClr val="1E283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355080" y="2450592"/>
            <a:ext cx="6400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E5A6B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04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6355080" y="2724912"/>
            <a:ext cx="135331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DF1F6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BUILD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6355080" y="3127248"/>
            <a:ext cx="1335024" cy="1280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8E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compiles it</a:t>
            </a: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8E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no window</a:t>
            </a: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8E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7799832" y="3127248"/>
            <a:ext cx="228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4E5A6B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›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010144" y="2286000"/>
            <a:ext cx="1627632" cy="2212848"/>
          </a:xfrm>
          <a:prstGeom prst="roundRect">
            <a:avLst>
              <a:gd name="adj" fmla="val 2809"/>
            </a:avLst>
          </a:prstGeom>
          <a:solidFill>
            <a:srgbClr val="0E141D"/>
          </a:solidFill>
          <a:ln w="12700">
            <a:solidFill>
              <a:srgbClr val="1E2836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174736" y="2450592"/>
            <a:ext cx="6400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E5A6B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05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8174736" y="2724912"/>
            <a:ext cx="135331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E96C4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AI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8174736" y="3127248"/>
            <a:ext cx="1335024" cy="1280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8E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18 fixed</a:t>
            </a: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8E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about</a:t>
            </a: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8E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own work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9619488" y="3127248"/>
            <a:ext cx="228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4E5A6B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›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9829800" y="2286000"/>
            <a:ext cx="1627632" cy="2212848"/>
          </a:xfrm>
          <a:prstGeom prst="roundRect">
            <a:avLst>
              <a:gd name="adj" fmla="val 2809"/>
            </a:avLst>
          </a:prstGeom>
          <a:solidFill>
            <a:srgbClr val="0E141D"/>
          </a:solidFill>
          <a:ln w="12700">
            <a:solidFill>
              <a:srgbClr val="3A302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829800" y="2286000"/>
            <a:ext cx="1627632" cy="32004"/>
          </a:xfrm>
          <a:prstGeom prst="rect">
            <a:avLst/>
          </a:prstGeom>
          <a:solidFill>
            <a:srgbClr val="D89A45"/>
          </a:solidFill>
        </p:spPr>
      </p:sp>
      <p:sp>
        <p:nvSpPr>
          <p:cNvPr id="37" name="Text 35"/>
          <p:cNvSpPr txBox="1"/>
          <p:nvPr/>
        </p:nvSpPr>
        <p:spPr>
          <a:xfrm>
            <a:off x="9994392" y="2450592"/>
            <a:ext cx="6400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E5A6B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06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9994392" y="2724912"/>
            <a:ext cx="135331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89A45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HUMAN</a:t>
            </a:r>
            <a:endParaRPr lang="en-US" sz="1600" dirty="0"/>
          </a:p>
        </p:txBody>
      </p:sp>
      <p:sp>
        <p:nvSpPr>
          <p:cNvPr id="39" name="Text 37"/>
          <p:cNvSpPr txBox="1"/>
          <p:nvPr/>
        </p:nvSpPr>
        <p:spPr>
          <a:xfrm>
            <a:off x="9994392" y="3127248"/>
            <a:ext cx="1335024" cy="1280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8E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the diff and</a:t>
            </a: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8E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says yes or no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3364992" y="4498848"/>
            <a:ext cx="14630" cy="256032"/>
          </a:xfrm>
          <a:prstGeom prst="rect">
            <a:avLst/>
          </a:prstGeom>
          <a:solidFill>
            <a:srgbClr val="B4232F"/>
          </a:solidFill>
        </p:spPr>
      </p:sp>
      <p:sp>
        <p:nvSpPr>
          <p:cNvPr id="41" name="Shape 39"/>
          <p:cNvSpPr/>
          <p:nvPr/>
        </p:nvSpPr>
        <p:spPr>
          <a:xfrm>
            <a:off x="7004304" y="4498848"/>
            <a:ext cx="14630" cy="256032"/>
          </a:xfrm>
          <a:prstGeom prst="rect">
            <a:avLst/>
          </a:prstGeom>
          <a:solidFill>
            <a:srgbClr val="B4232F"/>
          </a:solidFill>
        </p:spPr>
      </p:sp>
      <p:sp>
        <p:nvSpPr>
          <p:cNvPr id="42" name="Shape 40"/>
          <p:cNvSpPr/>
          <p:nvPr/>
        </p:nvSpPr>
        <p:spPr>
          <a:xfrm>
            <a:off x="3364992" y="4754880"/>
            <a:ext cx="3639312" cy="14630"/>
          </a:xfrm>
          <a:prstGeom prst="rect">
            <a:avLst/>
          </a:prstGeom>
          <a:solidFill>
            <a:srgbClr val="B4232F"/>
          </a:solidFill>
        </p:spPr>
      </p:sp>
      <p:sp>
        <p:nvSpPr>
          <p:cNvPr id="43" name="Shape 41"/>
          <p:cNvSpPr/>
          <p:nvPr/>
        </p:nvSpPr>
        <p:spPr>
          <a:xfrm>
            <a:off x="3282696" y="4443984"/>
            <a:ext cx="173736" cy="137160"/>
          </a:xfrm>
          <a:prstGeom prst="triangle">
            <a:avLst/>
          </a:prstGeom>
          <a:solidFill>
            <a:srgbClr val="B4232F"/>
          </a:solidFill>
        </p:spPr>
      </p:sp>
      <p:sp>
        <p:nvSpPr>
          <p:cNvPr id="44" name="Text 42"/>
          <p:cNvSpPr txBox="1"/>
          <p:nvPr/>
        </p:nvSpPr>
        <p:spPr>
          <a:xfrm>
            <a:off x="7955280" y="4443984"/>
            <a:ext cx="3502152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FF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  →  back to step 02, with the error text pasted in.</a:t>
            </a:r>
            <a:endParaRPr lang="en-US" sz="11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FF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attempts, then it stops and a human looks.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731520" y="5230368"/>
            <a:ext cx="10728655" cy="658368"/>
          </a:xfrm>
          <a:prstGeom prst="roundRect">
            <a:avLst>
              <a:gd name="adj" fmla="val 6944"/>
            </a:avLst>
          </a:prstGeom>
          <a:solidFill>
            <a:srgbClr val="141C28"/>
          </a:solidFill>
          <a:ln w="12700">
            <a:solidFill>
              <a:srgbClr val="1E2836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1115568" y="5376672"/>
            <a:ext cx="9997135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C57E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The one who writes the code and the one who checks it are never the same. That was the point of the whole machine.</a:t>
            </a:r>
            <a:endParaRPr lang="en-US" sz="1500" dirty="0"/>
          </a:p>
        </p:txBody>
      </p:sp>
      <p:sp>
        <p:nvSpPr>
          <p:cNvPr id="47" name="Text 45"/>
          <p:cNvSpPr txBox="1"/>
          <p:nvPr/>
        </p:nvSpPr>
        <p:spPr>
          <a:xfrm>
            <a:off x="731520" y="5998464"/>
            <a:ext cx="8899855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8E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can write every script in this project in a day. Only a person can tell you whether the game feels right.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8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29184"/>
            <a:ext cx="7772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20" dirty="0">
                <a:solidFill>
                  <a:srgbClr val="4E5A6B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HOW WE BUILT IT · 03  ·  WHAT THE MACHINE GETS WRONG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731520" y="621792"/>
            <a:ext cx="10728655" cy="10973"/>
          </a:xfrm>
          <a:prstGeom prst="rect">
            <a:avLst/>
          </a:prstGeom>
          <a:solidFill>
            <a:srgbClr val="1E2836"/>
          </a:solidFill>
        </p:spPr>
      </p:sp>
      <p:sp>
        <p:nvSpPr>
          <p:cNvPr id="4" name="Shape 2"/>
          <p:cNvSpPr/>
          <p:nvPr/>
        </p:nvSpPr>
        <p:spPr>
          <a:xfrm>
            <a:off x="731520" y="6419088"/>
            <a:ext cx="8991295" cy="50292"/>
          </a:xfrm>
          <a:prstGeom prst="rect">
            <a:avLst/>
          </a:prstGeom>
          <a:solidFill>
            <a:srgbClr val="1E2836"/>
          </a:solidFill>
        </p:spPr>
      </p:sp>
      <p:sp>
        <p:nvSpPr>
          <p:cNvPr id="5" name="Shape 3"/>
          <p:cNvSpPr/>
          <p:nvPr/>
        </p:nvSpPr>
        <p:spPr>
          <a:xfrm>
            <a:off x="731520" y="6419088"/>
            <a:ext cx="1888172" cy="50292"/>
          </a:xfrm>
          <a:prstGeom prst="rect">
            <a:avLst/>
          </a:prstGeom>
          <a:solidFill>
            <a:srgbClr val="D89A45"/>
          </a:solidFill>
        </p:spPr>
      </p:sp>
      <p:sp>
        <p:nvSpPr>
          <p:cNvPr id="6" name="Text 4"/>
          <p:cNvSpPr txBox="1"/>
          <p:nvPr/>
        </p:nvSpPr>
        <p:spPr>
          <a:xfrm>
            <a:off x="9859975" y="6309360"/>
            <a:ext cx="1600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kern="0" spc="100" dirty="0">
                <a:solidFill>
                  <a:srgbClr val="D89A45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SANITY  21%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932688"/>
            <a:ext cx="10728655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kern="0" spc="-20" dirty="0">
                <a:solidFill>
                  <a:srgbClr val="EDF1F6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It never gets tired, and it never learns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1627632"/>
            <a:ext cx="926561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6E9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text rules over every diff. Five reject the work outright; three raise a flag.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2286000"/>
            <a:ext cx="5074920" cy="3072384"/>
          </a:xfrm>
          <a:prstGeom prst="roundRect">
            <a:avLst>
              <a:gd name="adj" fmla="val 1488"/>
            </a:avLst>
          </a:prstGeom>
          <a:solidFill>
            <a:srgbClr val="0E141D"/>
          </a:solidFill>
          <a:ln w="12700">
            <a:solidFill>
              <a:srgbClr val="1E283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115568" y="2487168"/>
            <a:ext cx="42976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40" dirty="0">
                <a:solidFill>
                  <a:srgbClr val="4E5A6B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WHAT THE RULES ACTUALLY CATCH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1115568" y="2852928"/>
            <a:ext cx="44805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D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function names Unity 6 deleted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1115568" y="3072384"/>
            <a:ext cx="44805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E5A6B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one rule, four spellings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1115568" y="3328416"/>
            <a:ext cx="44805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D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physics property that was renamed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1115568" y="3547872"/>
            <a:ext cx="44805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E5A6B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velocity → linearVelocity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1115568" y="3803904"/>
            <a:ext cx="44805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D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old input system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1115568" y="4023360"/>
            <a:ext cx="44805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E5A6B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banned project-wide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1115568" y="4279392"/>
            <a:ext cx="44805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D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system importing another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1115568" y="4498848"/>
            <a:ext cx="44805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E5A6B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the contract, enforced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1115568" y="4754880"/>
            <a:ext cx="44805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D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Tunable numbers hard-coded in C#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1115568" y="4974336"/>
            <a:ext cx="44805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E5A6B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flagged, not rejected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382512" y="2286000"/>
            <a:ext cx="5074920" cy="3072384"/>
          </a:xfrm>
          <a:prstGeom prst="roundRect">
            <a:avLst>
              <a:gd name="adj" fmla="val 1488"/>
            </a:avLst>
          </a:prstGeom>
          <a:solidFill>
            <a:srgbClr val="0E141D"/>
          </a:solidFill>
          <a:ln w="12700">
            <a:solidFill>
              <a:srgbClr val="3A1A1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82512" y="2286000"/>
            <a:ext cx="41148" cy="3072384"/>
          </a:xfrm>
          <a:prstGeom prst="rect">
            <a:avLst/>
          </a:prstGeom>
          <a:solidFill>
            <a:srgbClr val="B4232F"/>
          </a:solidFill>
        </p:spPr>
      </p:sp>
      <p:sp>
        <p:nvSpPr>
          <p:cNvPr id="23" name="Text 21"/>
          <p:cNvSpPr txBox="1"/>
          <p:nvPr/>
        </p:nvSpPr>
        <p:spPr>
          <a:xfrm>
            <a:off x="6766560" y="2487168"/>
            <a:ext cx="44805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40" dirty="0">
                <a:solidFill>
                  <a:srgbClr val="FF5A66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THE ONE WE LEARNED THE HARD WAY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6766560" y="2798064"/>
            <a:ext cx="4480560" cy="7863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3000"/>
              </a:lnSpc>
              <a:buNone/>
            </a:pPr>
            <a:r>
              <a:rPr lang="en-US" sz="2200" b="1" dirty="0">
                <a:solidFill>
                  <a:srgbClr val="EDF1F6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A check must never blame good code.</a:t>
            </a:r>
            <a:endParaRPr lang="en-US" sz="2200" dirty="0"/>
          </a:p>
        </p:txBody>
      </p:sp>
      <p:sp>
        <p:nvSpPr>
          <p:cNvPr id="25" name="Text 23"/>
          <p:cNvSpPr txBox="1"/>
          <p:nvPr/>
        </p:nvSpPr>
        <p:spPr>
          <a:xfrm>
            <a:off x="6766560" y="3675888"/>
            <a:ext cx="44805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250" dirty="0">
                <a:solidFill>
                  <a:srgbClr val="8E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first version of these rules ran on a clean repository.</a:t>
            </a:r>
            <a:endParaRPr lang="en-US" sz="12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250" dirty="0">
                <a:solidFill>
                  <a:srgbClr val="8E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reported 2 errors and 15 warnings. All seventeen were wrong.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6766560" y="4315968"/>
            <a:ext cx="44805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250" dirty="0">
                <a:solidFill>
                  <a:srgbClr val="FF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false alarm is worse than silence: it burns both retries</a:t>
            </a:r>
            <a:endParaRPr lang="en-US" sz="12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250" dirty="0">
                <a:solidFill>
                  <a:srgbClr val="FF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the AI "fix" code that was never broken. Every new</a:t>
            </a:r>
            <a:endParaRPr lang="en-US" sz="12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250" dirty="0">
                <a:solidFill>
                  <a:srgbClr val="FF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is now tested on clean code before it may reject anything.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731520" y="5541264"/>
            <a:ext cx="8899855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EDF1F6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An instruction can be ignored. A text search cannot.</a:t>
            </a:r>
            <a:endParaRPr lang="en-US" sz="1900" dirty="0"/>
          </a:p>
        </p:txBody>
      </p:sp>
      <p:sp>
        <p:nvSpPr>
          <p:cNvPr id="28" name="Text 26"/>
          <p:cNvSpPr txBox="1"/>
          <p:nvPr/>
        </p:nvSpPr>
        <p:spPr>
          <a:xfrm>
            <a:off x="731520" y="5943600"/>
            <a:ext cx="8899855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8E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6 deleted a whole family of functions. You can ban them ten times in the prompt and they still come back — and a regex catches every one, for free.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8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29184"/>
            <a:ext cx="7772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20" dirty="0">
                <a:solidFill>
                  <a:srgbClr val="4E5A6B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WHAT CAME OUT OF IT · 01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731520" y="621792"/>
            <a:ext cx="10728655" cy="10973"/>
          </a:xfrm>
          <a:prstGeom prst="rect">
            <a:avLst/>
          </a:prstGeom>
          <a:solidFill>
            <a:srgbClr val="1E2836"/>
          </a:solidFill>
        </p:spPr>
      </p:sp>
      <p:sp>
        <p:nvSpPr>
          <p:cNvPr id="4" name="Shape 2"/>
          <p:cNvSpPr/>
          <p:nvPr/>
        </p:nvSpPr>
        <p:spPr>
          <a:xfrm>
            <a:off x="731520" y="6419088"/>
            <a:ext cx="8991295" cy="50292"/>
          </a:xfrm>
          <a:prstGeom prst="rect">
            <a:avLst/>
          </a:prstGeom>
          <a:solidFill>
            <a:srgbClr val="1E2836"/>
          </a:solidFill>
        </p:spPr>
      </p:sp>
      <p:sp>
        <p:nvSpPr>
          <p:cNvPr id="5" name="Shape 3"/>
          <p:cNvSpPr/>
          <p:nvPr/>
        </p:nvSpPr>
        <p:spPr>
          <a:xfrm>
            <a:off x="731520" y="6419088"/>
            <a:ext cx="1528520" cy="50292"/>
          </a:xfrm>
          <a:prstGeom prst="rect">
            <a:avLst/>
          </a:prstGeom>
          <a:solidFill>
            <a:srgbClr val="B4232F"/>
          </a:solidFill>
        </p:spPr>
      </p:sp>
      <p:sp>
        <p:nvSpPr>
          <p:cNvPr id="6" name="Text 4"/>
          <p:cNvSpPr txBox="1"/>
          <p:nvPr/>
        </p:nvSpPr>
        <p:spPr>
          <a:xfrm>
            <a:off x="9859975" y="6309360"/>
            <a:ext cx="1600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kern="0" spc="100" dirty="0">
                <a:solidFill>
                  <a:srgbClr val="B4232F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SANITY  17%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932688"/>
            <a:ext cx="10728655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kern="0" spc="-20" dirty="0">
                <a:solidFill>
                  <a:srgbClr val="EDF1F6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Eight days, counted honestly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1627632"/>
            <a:ext cx="926561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6E9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of it is in one repository. Every number here is something you can go and check.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2304288"/>
            <a:ext cx="2487168" cy="1298448"/>
          </a:xfrm>
          <a:prstGeom prst="roundRect">
            <a:avLst>
              <a:gd name="adj" fmla="val 3521"/>
            </a:avLst>
          </a:prstGeom>
          <a:solidFill>
            <a:srgbClr val="0E141D"/>
          </a:solidFill>
          <a:ln w="12700">
            <a:solidFill>
              <a:srgbClr val="1E283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69264" y="2450592"/>
            <a:ext cx="210312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0C57E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8</a:t>
            </a:r>
            <a:endParaRPr lang="en-US" sz="3800" dirty="0"/>
          </a:p>
        </p:txBody>
      </p:sp>
      <p:sp>
        <p:nvSpPr>
          <p:cNvPr id="11" name="Text 9"/>
          <p:cNvSpPr txBox="1"/>
          <p:nvPr/>
        </p:nvSpPr>
        <p:spPr>
          <a:xfrm>
            <a:off x="987552" y="3090672"/>
            <a:ext cx="210312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8E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days, day zero to hand-in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474720" y="2304288"/>
            <a:ext cx="2487168" cy="1298448"/>
          </a:xfrm>
          <a:prstGeom prst="roundRect">
            <a:avLst>
              <a:gd name="adj" fmla="val 3521"/>
            </a:avLst>
          </a:prstGeom>
          <a:solidFill>
            <a:srgbClr val="0E141D"/>
          </a:solidFill>
          <a:ln w="12700">
            <a:solidFill>
              <a:srgbClr val="1E283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712464" y="2450592"/>
            <a:ext cx="210312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0C57E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72</a:t>
            </a:r>
            <a:endParaRPr lang="en-US" sz="3800" dirty="0"/>
          </a:p>
        </p:txBody>
      </p:sp>
      <p:sp>
        <p:nvSpPr>
          <p:cNvPr id="14" name="Text 12"/>
          <p:cNvSpPr txBox="1"/>
          <p:nvPr/>
        </p:nvSpPr>
        <p:spPr>
          <a:xfrm>
            <a:off x="3730752" y="3090672"/>
            <a:ext cx="210312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8E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specs, written before the code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17920" y="2304288"/>
            <a:ext cx="2487168" cy="1298448"/>
          </a:xfrm>
          <a:prstGeom prst="roundRect">
            <a:avLst>
              <a:gd name="adj" fmla="val 3521"/>
            </a:avLst>
          </a:prstGeom>
          <a:solidFill>
            <a:srgbClr val="0E141D"/>
          </a:solidFill>
          <a:ln w="12700">
            <a:solidFill>
              <a:srgbClr val="1E283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55664" y="2450592"/>
            <a:ext cx="210312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A6C6E8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46</a:t>
            </a:r>
            <a:endParaRPr lang="en-US" sz="3800" dirty="0"/>
          </a:p>
        </p:txBody>
      </p:sp>
      <p:sp>
        <p:nvSpPr>
          <p:cNvPr id="17" name="Text 15"/>
          <p:cNvSpPr txBox="1"/>
          <p:nvPr/>
        </p:nvSpPr>
        <p:spPr>
          <a:xfrm>
            <a:off x="6473952" y="3090672"/>
            <a:ext cx="210312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8E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scripts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961120" y="2304288"/>
            <a:ext cx="2487168" cy="1298448"/>
          </a:xfrm>
          <a:prstGeom prst="roundRect">
            <a:avLst>
              <a:gd name="adj" fmla="val 3521"/>
            </a:avLst>
          </a:prstGeom>
          <a:solidFill>
            <a:srgbClr val="0E141D"/>
          </a:solidFill>
          <a:ln w="12700">
            <a:solidFill>
              <a:srgbClr val="1E283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198864" y="2450592"/>
            <a:ext cx="210312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A6C6E8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17,406</a:t>
            </a:r>
            <a:endParaRPr lang="en-US" sz="3000" dirty="0"/>
          </a:p>
        </p:txBody>
      </p:sp>
      <p:sp>
        <p:nvSpPr>
          <p:cNvPr id="20" name="Text 18"/>
          <p:cNvSpPr txBox="1"/>
          <p:nvPr/>
        </p:nvSpPr>
        <p:spPr>
          <a:xfrm>
            <a:off x="9217152" y="3090672"/>
            <a:ext cx="210312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8E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of C#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31520" y="3785616"/>
            <a:ext cx="2487168" cy="1298448"/>
          </a:xfrm>
          <a:prstGeom prst="roundRect">
            <a:avLst>
              <a:gd name="adj" fmla="val 3521"/>
            </a:avLst>
          </a:prstGeom>
          <a:solidFill>
            <a:srgbClr val="0E141D"/>
          </a:solidFill>
          <a:ln w="12700">
            <a:solidFill>
              <a:srgbClr val="1E283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69264" y="3931920"/>
            <a:ext cx="210312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A6C6E8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23</a:t>
            </a:r>
            <a:endParaRPr lang="en-US" sz="3800" dirty="0"/>
          </a:p>
        </p:txBody>
      </p:sp>
      <p:sp>
        <p:nvSpPr>
          <p:cNvPr id="23" name="Text 21"/>
          <p:cNvSpPr txBox="1"/>
          <p:nvPr/>
        </p:nvSpPr>
        <p:spPr>
          <a:xfrm>
            <a:off x="987552" y="4572000"/>
            <a:ext cx="210312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8E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 on the event bus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474720" y="3785616"/>
            <a:ext cx="2487168" cy="1298448"/>
          </a:xfrm>
          <a:prstGeom prst="roundRect">
            <a:avLst>
              <a:gd name="adj" fmla="val 3521"/>
            </a:avLst>
          </a:prstGeom>
          <a:solidFill>
            <a:srgbClr val="0E141D"/>
          </a:solidFill>
          <a:ln w="12700">
            <a:solidFill>
              <a:srgbClr val="1E283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712464" y="3931920"/>
            <a:ext cx="210312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A6C6E8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8</a:t>
            </a:r>
            <a:endParaRPr lang="en-US" sz="3800" dirty="0"/>
          </a:p>
        </p:txBody>
      </p:sp>
      <p:sp>
        <p:nvSpPr>
          <p:cNvPr id="26" name="Text 24"/>
          <p:cNvSpPr txBox="1"/>
          <p:nvPr/>
        </p:nvSpPr>
        <p:spPr>
          <a:xfrm>
            <a:off x="3730752" y="4572000"/>
            <a:ext cx="210312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8E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rules per diff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217920" y="3785616"/>
            <a:ext cx="2487168" cy="1298448"/>
          </a:xfrm>
          <a:prstGeom prst="roundRect">
            <a:avLst>
              <a:gd name="adj" fmla="val 3521"/>
            </a:avLst>
          </a:prstGeom>
          <a:solidFill>
            <a:srgbClr val="0E141D"/>
          </a:solidFill>
          <a:ln w="12700">
            <a:solidFill>
              <a:srgbClr val="1E2836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455664" y="3931920"/>
            <a:ext cx="210312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A6C6E8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18</a:t>
            </a:r>
            <a:endParaRPr lang="en-US" sz="3800" dirty="0"/>
          </a:p>
        </p:txBody>
      </p:sp>
      <p:sp>
        <p:nvSpPr>
          <p:cNvPr id="29" name="Text 27"/>
          <p:cNvSpPr txBox="1"/>
          <p:nvPr/>
        </p:nvSpPr>
        <p:spPr>
          <a:xfrm>
            <a:off x="6473952" y="4572000"/>
            <a:ext cx="210312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8E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self-audit questions per task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8961120" y="3785616"/>
            <a:ext cx="2487168" cy="1298448"/>
          </a:xfrm>
          <a:prstGeom prst="roundRect">
            <a:avLst>
              <a:gd name="adj" fmla="val 3521"/>
            </a:avLst>
          </a:prstGeom>
          <a:solidFill>
            <a:srgbClr val="0E141D"/>
          </a:solidFill>
          <a:ln w="12700">
            <a:solidFill>
              <a:srgbClr val="1E2836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198864" y="3931920"/>
            <a:ext cx="210312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A6C6E8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206</a:t>
            </a:r>
            <a:endParaRPr lang="en-US" sz="3800" dirty="0"/>
          </a:p>
        </p:txBody>
      </p:sp>
      <p:sp>
        <p:nvSpPr>
          <p:cNvPr id="32" name="Text 30"/>
          <p:cNvSpPr txBox="1"/>
          <p:nvPr/>
        </p:nvSpPr>
        <p:spPr>
          <a:xfrm>
            <a:off x="9217152" y="4572000"/>
            <a:ext cx="210312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8E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commits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731520" y="5413248"/>
            <a:ext cx="8899855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EDF1F6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Ten of those scripts are editor tools we wrote to build the scene itself.</a:t>
            </a:r>
            <a:endParaRPr lang="en-US" sz="1900" dirty="0"/>
          </a:p>
        </p:txBody>
      </p:sp>
      <p:sp>
        <p:nvSpPr>
          <p:cNvPr id="34" name="Text 32"/>
          <p:cNvSpPr txBox="1"/>
          <p:nvPr/>
        </p:nvSpPr>
        <p:spPr>
          <a:xfrm>
            <a:off x="731520" y="5797296"/>
            <a:ext cx="8899855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8E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5,298 lines that never ship to a player — they exist so the level can be rebuilt from a menu instead of by hand.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8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29184"/>
            <a:ext cx="7772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20" dirty="0">
                <a:solidFill>
                  <a:srgbClr val="4E5A6B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WHAT CAME OUT OF IT · 02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731520" y="621792"/>
            <a:ext cx="10728655" cy="10973"/>
          </a:xfrm>
          <a:prstGeom prst="rect">
            <a:avLst/>
          </a:prstGeom>
          <a:solidFill>
            <a:srgbClr val="1E2836"/>
          </a:solidFill>
        </p:spPr>
      </p:sp>
      <p:sp>
        <p:nvSpPr>
          <p:cNvPr id="4" name="Shape 2"/>
          <p:cNvSpPr/>
          <p:nvPr/>
        </p:nvSpPr>
        <p:spPr>
          <a:xfrm>
            <a:off x="731520" y="6419088"/>
            <a:ext cx="8991295" cy="50292"/>
          </a:xfrm>
          <a:prstGeom prst="rect">
            <a:avLst/>
          </a:prstGeom>
          <a:solidFill>
            <a:srgbClr val="1E2836"/>
          </a:solidFill>
        </p:spPr>
      </p:sp>
      <p:sp>
        <p:nvSpPr>
          <p:cNvPr id="5" name="Shape 3"/>
          <p:cNvSpPr/>
          <p:nvPr/>
        </p:nvSpPr>
        <p:spPr>
          <a:xfrm>
            <a:off x="731520" y="6419088"/>
            <a:ext cx="1258781" cy="50292"/>
          </a:xfrm>
          <a:prstGeom prst="rect">
            <a:avLst/>
          </a:prstGeom>
          <a:solidFill>
            <a:srgbClr val="B4232F"/>
          </a:solidFill>
        </p:spPr>
      </p:sp>
      <p:sp>
        <p:nvSpPr>
          <p:cNvPr id="6" name="Text 4"/>
          <p:cNvSpPr txBox="1"/>
          <p:nvPr/>
        </p:nvSpPr>
        <p:spPr>
          <a:xfrm>
            <a:off x="9859975" y="6309360"/>
            <a:ext cx="1600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kern="0" spc="100" dirty="0">
                <a:solidFill>
                  <a:srgbClr val="B4232F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SANITY  14%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932688"/>
            <a:ext cx="10728655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kern="0" spc="-20" dirty="0">
                <a:solidFill>
                  <a:srgbClr val="EDF1F6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The list we are proudest of is the one we cut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1627632"/>
            <a:ext cx="926561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6E9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of these were decided on day zero, in writing, before anyone could fall in love with them.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2286000"/>
            <a:ext cx="5239512" cy="1188720"/>
          </a:xfrm>
          <a:prstGeom prst="roundRect">
            <a:avLst>
              <a:gd name="adj" fmla="val 3846"/>
            </a:avLst>
          </a:prstGeom>
          <a:solidFill>
            <a:srgbClr val="0E141D"/>
          </a:solidFill>
          <a:ln w="12700">
            <a:solidFill>
              <a:srgbClr val="1E283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60704" y="2432304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EDF1F6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No multiplayer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1078992" y="2852928"/>
            <a:ext cx="457200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8E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code costs three days minimum. In a one-week project, that is the project.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2286000"/>
            <a:ext cx="5239512" cy="1188720"/>
          </a:xfrm>
          <a:prstGeom prst="roundRect">
            <a:avLst>
              <a:gd name="adj" fmla="val 3846"/>
            </a:avLst>
          </a:prstGeom>
          <a:solidFill>
            <a:srgbClr val="0E141D"/>
          </a:solidFill>
          <a:ln w="12700">
            <a:solidFill>
              <a:srgbClr val="1E283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47104" y="2432304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EDF1F6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No second map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6565392" y="2852928"/>
            <a:ext cx="457200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8E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map that is properly lit beats three that are empty.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" y="3639312"/>
            <a:ext cx="5239512" cy="1188720"/>
          </a:xfrm>
          <a:prstGeom prst="roundRect">
            <a:avLst>
              <a:gd name="adj" fmla="val 3846"/>
            </a:avLst>
          </a:prstGeom>
          <a:solidFill>
            <a:srgbClr val="0E141D"/>
          </a:solidFill>
          <a:ln w="12700">
            <a:solidFill>
              <a:srgbClr val="1E283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60704" y="3785616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EDF1F6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No fourth ghost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1078992" y="4206240"/>
            <a:ext cx="457200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8E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Choose-2-of-3 stops being exact. The table is the game; we do not break the table.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17920" y="3639312"/>
            <a:ext cx="5239512" cy="1188720"/>
          </a:xfrm>
          <a:prstGeom prst="roundRect">
            <a:avLst>
              <a:gd name="adj" fmla="val 3846"/>
            </a:avLst>
          </a:prstGeom>
          <a:solidFill>
            <a:srgbClr val="0E141D"/>
          </a:solidFill>
          <a:ln w="12700">
            <a:solidFill>
              <a:srgbClr val="1E283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547104" y="3785616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EDF1F6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No jumping</a:t>
            </a:r>
            <a:endParaRPr lang="en-US" sz="1900" dirty="0"/>
          </a:p>
        </p:txBody>
      </p:sp>
      <p:sp>
        <p:nvSpPr>
          <p:cNvPr id="20" name="Text 18"/>
          <p:cNvSpPr txBox="1"/>
          <p:nvPr/>
        </p:nvSpPr>
        <p:spPr>
          <a:xfrm>
            <a:off x="6565392" y="4206240"/>
            <a:ext cx="457200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8E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would climb the furniture, and that breaks both the level and the paths the ghost walks.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31520" y="5029200"/>
            <a:ext cx="10728655" cy="786384"/>
          </a:xfrm>
          <a:prstGeom prst="roundRect">
            <a:avLst>
              <a:gd name="adj" fmla="val 5814"/>
            </a:avLst>
          </a:prstGeom>
          <a:solidFill>
            <a:srgbClr val="141C28"/>
          </a:solidFill>
          <a:ln w="12700">
            <a:solidFill>
              <a:srgbClr val="1E283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115568" y="5120640"/>
            <a:ext cx="54864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40" dirty="0">
                <a:solidFill>
                  <a:srgbClr val="4E5A6B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TWO CUT-OFF DATES, ALSO WRITTEN ON DAY ZERO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1115568" y="5376672"/>
            <a:ext cx="70408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D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evidence did not work by end of day 3, ghost writing was to be dropped. If the ghost AI failed by day 4, the art day moved.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8442655" y="5358384"/>
            <a:ext cx="30175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0C57E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Neither was needed.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731520" y="5943600"/>
            <a:ext cx="8899855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0C57E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A team that can tell you what it is not building is easier to believe.</a:t>
            </a:r>
            <a:endParaRPr lang="en-US" sz="1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8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29184"/>
            <a:ext cx="7772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20" dirty="0">
                <a:solidFill>
                  <a:srgbClr val="4E5A6B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THANK YOU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731520" y="621792"/>
            <a:ext cx="10728655" cy="10973"/>
          </a:xfrm>
          <a:prstGeom prst="rect">
            <a:avLst/>
          </a:prstGeom>
          <a:solidFill>
            <a:srgbClr val="1E2836"/>
          </a:solidFill>
        </p:spPr>
      </p:sp>
      <p:sp>
        <p:nvSpPr>
          <p:cNvPr id="4" name="Shape 2"/>
          <p:cNvSpPr/>
          <p:nvPr/>
        </p:nvSpPr>
        <p:spPr>
          <a:xfrm>
            <a:off x="731520" y="6419088"/>
            <a:ext cx="8991295" cy="50292"/>
          </a:xfrm>
          <a:prstGeom prst="rect">
            <a:avLst/>
          </a:prstGeom>
          <a:solidFill>
            <a:srgbClr val="1E2836"/>
          </a:solidFill>
        </p:spPr>
      </p:sp>
      <p:sp>
        <p:nvSpPr>
          <p:cNvPr id="5" name="Shape 3"/>
          <p:cNvSpPr/>
          <p:nvPr/>
        </p:nvSpPr>
        <p:spPr>
          <a:xfrm>
            <a:off x="731520" y="6419088"/>
            <a:ext cx="989042" cy="50292"/>
          </a:xfrm>
          <a:prstGeom prst="rect">
            <a:avLst/>
          </a:prstGeom>
          <a:solidFill>
            <a:srgbClr val="B4232F"/>
          </a:solidFill>
        </p:spPr>
      </p:sp>
      <p:sp>
        <p:nvSpPr>
          <p:cNvPr id="6" name="Text 4"/>
          <p:cNvSpPr txBox="1"/>
          <p:nvPr/>
        </p:nvSpPr>
        <p:spPr>
          <a:xfrm>
            <a:off x="9859975" y="6309360"/>
            <a:ext cx="1600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kern="0" spc="100" dirty="0">
                <a:solidFill>
                  <a:srgbClr val="B4232F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SANITY  11%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640080" y="1371600"/>
            <a:ext cx="8595360" cy="4023360"/>
          </a:xfrm>
          <a:prstGeom prst="ellipse">
            <a:avLst/>
          </a:prstGeom>
          <a:solidFill>
            <a:srgbClr val="D89A45">
              <a:alpha val="3000"/>
            </a:srgbClr>
          </a:solidFill>
        </p:spPr>
      </p:sp>
      <p:sp>
        <p:nvSpPr>
          <p:cNvPr id="8" name="Shape 6"/>
          <p:cNvSpPr/>
          <p:nvPr/>
        </p:nvSpPr>
        <p:spPr>
          <a:xfrm>
            <a:off x="1155802" y="1613002"/>
            <a:ext cx="7563917" cy="3540557"/>
          </a:xfrm>
          <a:prstGeom prst="ellipse">
            <a:avLst/>
          </a:prstGeom>
          <a:solidFill>
            <a:srgbClr val="D89A45">
              <a:alpha val="3000"/>
            </a:srgbClr>
          </a:solidFill>
        </p:spPr>
      </p:sp>
      <p:sp>
        <p:nvSpPr>
          <p:cNvPr id="9" name="Shape 7"/>
          <p:cNvSpPr/>
          <p:nvPr/>
        </p:nvSpPr>
        <p:spPr>
          <a:xfrm>
            <a:off x="1671523" y="1854403"/>
            <a:ext cx="6532474" cy="3057754"/>
          </a:xfrm>
          <a:prstGeom prst="ellipse">
            <a:avLst/>
          </a:prstGeom>
          <a:solidFill>
            <a:srgbClr val="D89A45">
              <a:alpha val="3000"/>
            </a:srgbClr>
          </a:solidFill>
        </p:spPr>
      </p:sp>
      <p:sp>
        <p:nvSpPr>
          <p:cNvPr id="10" name="Shape 8"/>
          <p:cNvSpPr/>
          <p:nvPr/>
        </p:nvSpPr>
        <p:spPr>
          <a:xfrm>
            <a:off x="2187245" y="2095805"/>
            <a:ext cx="5501030" cy="2574950"/>
          </a:xfrm>
          <a:prstGeom prst="ellipse">
            <a:avLst/>
          </a:prstGeom>
          <a:solidFill>
            <a:srgbClr val="D89A45">
              <a:alpha val="3000"/>
            </a:srgbClr>
          </a:solidFill>
        </p:spPr>
      </p:sp>
      <p:sp>
        <p:nvSpPr>
          <p:cNvPr id="11" name="Shape 9"/>
          <p:cNvSpPr/>
          <p:nvPr/>
        </p:nvSpPr>
        <p:spPr>
          <a:xfrm>
            <a:off x="2659990" y="2317090"/>
            <a:ext cx="4555541" cy="2132381"/>
          </a:xfrm>
          <a:prstGeom prst="ellipse">
            <a:avLst/>
          </a:prstGeom>
          <a:solidFill>
            <a:srgbClr val="D89A45">
              <a:alpha val="3000"/>
            </a:srgbClr>
          </a:solidFill>
        </p:spPr>
      </p:sp>
      <p:sp>
        <p:nvSpPr>
          <p:cNvPr id="12" name="Shape 10"/>
          <p:cNvSpPr/>
          <p:nvPr/>
        </p:nvSpPr>
        <p:spPr>
          <a:xfrm>
            <a:off x="3089758" y="2518258"/>
            <a:ext cx="3696005" cy="1730045"/>
          </a:xfrm>
          <a:prstGeom prst="ellipse">
            <a:avLst/>
          </a:prstGeom>
          <a:solidFill>
            <a:srgbClr val="D89A45">
              <a:alpha val="3000"/>
            </a:srgbClr>
          </a:solidFill>
        </p:spPr>
      </p:sp>
      <p:sp>
        <p:nvSpPr>
          <p:cNvPr id="13" name="Shape 11"/>
          <p:cNvSpPr/>
          <p:nvPr/>
        </p:nvSpPr>
        <p:spPr>
          <a:xfrm>
            <a:off x="3476549" y="2699309"/>
            <a:ext cx="2922422" cy="1367942"/>
          </a:xfrm>
          <a:prstGeom prst="ellipse">
            <a:avLst/>
          </a:prstGeom>
          <a:solidFill>
            <a:srgbClr val="D89A45">
              <a:alpha val="3000"/>
            </a:srgbClr>
          </a:solidFill>
        </p:spPr>
      </p:sp>
      <p:sp>
        <p:nvSpPr>
          <p:cNvPr id="14" name="Shape 12"/>
          <p:cNvSpPr/>
          <p:nvPr/>
        </p:nvSpPr>
        <p:spPr>
          <a:xfrm>
            <a:off x="3820363" y="2860243"/>
            <a:ext cx="2234794" cy="1046074"/>
          </a:xfrm>
          <a:prstGeom prst="ellipse">
            <a:avLst/>
          </a:prstGeom>
          <a:solidFill>
            <a:srgbClr val="D89A45">
              <a:alpha val="3000"/>
            </a:srgbClr>
          </a:solidFill>
        </p:spPr>
      </p:sp>
      <p:sp>
        <p:nvSpPr>
          <p:cNvPr id="15" name="Shape 13"/>
          <p:cNvSpPr/>
          <p:nvPr/>
        </p:nvSpPr>
        <p:spPr>
          <a:xfrm>
            <a:off x="4121201" y="3001061"/>
            <a:ext cx="1633118" cy="764438"/>
          </a:xfrm>
          <a:prstGeom prst="ellipse">
            <a:avLst/>
          </a:prstGeom>
          <a:solidFill>
            <a:srgbClr val="D89A45">
              <a:alpha val="3000"/>
            </a:srgbClr>
          </a:solidFill>
        </p:spPr>
      </p:sp>
      <p:sp>
        <p:nvSpPr>
          <p:cNvPr id="16" name="Text 14"/>
          <p:cNvSpPr txBox="1"/>
          <p:nvPr/>
        </p:nvSpPr>
        <p:spPr>
          <a:xfrm>
            <a:off x="731520" y="1737360"/>
            <a:ext cx="9509760" cy="155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5600"/>
              </a:lnSpc>
              <a:buNone/>
            </a:pPr>
            <a:r>
              <a:rPr lang="en-US" sz="4000" b="1" dirty="0">
                <a:solidFill>
                  <a:srgbClr val="EDF1F6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We did not build a bigger game.</a:t>
            </a:r>
            <a:endParaRPr lang="en-US" sz="4000" dirty="0"/>
          </a:p>
          <a:p>
            <a:pPr marL="0" indent="0">
              <a:lnSpc>
                <a:spcPts val="5600"/>
              </a:lnSpc>
              <a:buNone/>
            </a:pPr>
            <a:r>
              <a:rPr lang="en-US" sz="4000" b="1" dirty="0">
                <a:solidFill>
                  <a:srgbClr val="EDF1F6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We built one that finishes.</a:t>
            </a:r>
            <a:endParaRPr lang="en-US" sz="4000" dirty="0"/>
          </a:p>
        </p:txBody>
      </p:sp>
      <p:sp>
        <p:nvSpPr>
          <p:cNvPr id="17" name="Shape 15"/>
          <p:cNvSpPr/>
          <p:nvPr/>
        </p:nvSpPr>
        <p:spPr>
          <a:xfrm>
            <a:off x="731520" y="3675888"/>
            <a:ext cx="3364992" cy="1335024"/>
          </a:xfrm>
          <a:prstGeom prst="roundRect">
            <a:avLst>
              <a:gd name="adj" fmla="val 3425"/>
            </a:avLst>
          </a:prstGeom>
          <a:solidFill>
            <a:srgbClr val="0E141D"/>
          </a:solidFill>
          <a:ln w="12700">
            <a:solidFill>
              <a:srgbClr val="1E283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" y="3675888"/>
            <a:ext cx="3364992" cy="32004"/>
          </a:xfrm>
          <a:prstGeom prst="rect">
            <a:avLst/>
          </a:prstGeom>
          <a:solidFill>
            <a:srgbClr val="D89A45"/>
          </a:solidFill>
        </p:spPr>
      </p:sp>
      <p:sp>
        <p:nvSpPr>
          <p:cNvPr id="19" name="Text 17"/>
          <p:cNvSpPr txBox="1"/>
          <p:nvPr/>
        </p:nvSpPr>
        <p:spPr>
          <a:xfrm>
            <a:off x="1005840" y="3858768"/>
            <a:ext cx="29260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D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table that cannot lie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024128" y="4224528"/>
            <a:ext cx="2871216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8E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clues, one answer, every round. No luck anywhere in it.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389120" y="3675888"/>
            <a:ext cx="3364992" cy="1335024"/>
          </a:xfrm>
          <a:prstGeom prst="roundRect">
            <a:avLst>
              <a:gd name="adj" fmla="val 3425"/>
            </a:avLst>
          </a:prstGeom>
          <a:solidFill>
            <a:srgbClr val="0E141D"/>
          </a:solidFill>
          <a:ln w="12700">
            <a:solidFill>
              <a:srgbClr val="1E283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89120" y="3675888"/>
            <a:ext cx="3364992" cy="32004"/>
          </a:xfrm>
          <a:prstGeom prst="rect">
            <a:avLst/>
          </a:prstGeom>
          <a:solidFill>
            <a:srgbClr val="D89A45"/>
          </a:solidFill>
        </p:spPr>
      </p:sp>
      <p:sp>
        <p:nvSpPr>
          <p:cNvPr id="23" name="Text 21"/>
          <p:cNvSpPr txBox="1"/>
          <p:nvPr/>
        </p:nvSpPr>
        <p:spPr>
          <a:xfrm>
            <a:off x="4663440" y="3858768"/>
            <a:ext cx="29260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D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way of working we can reuse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4681728" y="4224528"/>
            <a:ext cx="2871216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8E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Python file. Point it at the next project and change three things.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046720" y="3675888"/>
            <a:ext cx="3364992" cy="1335024"/>
          </a:xfrm>
          <a:prstGeom prst="roundRect">
            <a:avLst>
              <a:gd name="adj" fmla="val 3425"/>
            </a:avLst>
          </a:prstGeom>
          <a:solidFill>
            <a:srgbClr val="0E141D"/>
          </a:solidFill>
          <a:ln w="12700">
            <a:solidFill>
              <a:srgbClr val="1E283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046720" y="3675888"/>
            <a:ext cx="3364992" cy="32004"/>
          </a:xfrm>
          <a:prstGeom prst="rect">
            <a:avLst/>
          </a:prstGeom>
          <a:solidFill>
            <a:srgbClr val="D89A45"/>
          </a:solidFill>
        </p:spPr>
      </p:sp>
      <p:sp>
        <p:nvSpPr>
          <p:cNvPr id="27" name="Text 25"/>
          <p:cNvSpPr txBox="1"/>
          <p:nvPr/>
        </p:nvSpPr>
        <p:spPr>
          <a:xfrm>
            <a:off x="8321040" y="3858768"/>
            <a:ext cx="29260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D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agreed before line one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8339328" y="4224528"/>
            <a:ext cx="2871216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8E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is the only reason four people could build six systems at once.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731520" y="5212080"/>
            <a:ext cx="10058400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A6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Next, if there is a next: a thermometer as a fourth clue. Choose two from four is six ghosts, and a ghost here is a data file, not a class. That is one afternoon, not one week.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731520" y="5870448"/>
            <a:ext cx="365760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0C57E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Thank you.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9039</Words>
  <Application>WPS 演示</Application>
  <PresentationFormat>On-screen Show (16:9)</PresentationFormat>
  <Paragraphs>577</Paragraphs>
  <Slides>16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37" baseType="lpstr">
      <vt:lpstr>Arial</vt:lpstr>
      <vt:lpstr>宋体</vt:lpstr>
      <vt:lpstr>Wingdings</vt:lpstr>
      <vt:lpstr>Georgia</vt:lpstr>
      <vt:lpstr>Georgia</vt:lpstr>
      <vt:lpstr>Georgia</vt:lpstr>
      <vt:lpstr>Calibri</vt:lpstr>
      <vt:lpstr>Helvetica Neue</vt:lpstr>
      <vt:lpstr>Calibri</vt:lpstr>
      <vt:lpstr>Calibri</vt:lpstr>
      <vt:lpstr>Courier New</vt:lpstr>
      <vt:lpstr>Courier New</vt:lpstr>
      <vt:lpstr>Courier New</vt:lpstr>
      <vt:lpstr>微软雅黑</vt:lpstr>
      <vt:lpstr>汉仪旗黑</vt:lpstr>
      <vt:lpstr>宋体</vt:lpstr>
      <vt:lpstr>Arial Unicode MS</vt:lpstr>
      <vt:lpstr>等线</vt:lpstr>
      <vt:lpstr>汉仪中等线KW</vt:lpstr>
      <vt:lpstr>汉仪书宋二KW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RESIDUUM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RESIDUUM — Final Presentation</dc:title>
  <dc:creator>Henry</dc:creator>
  <dc:subject>A first-person horror deduction game, and how we built it in one week.</dc:subject>
  <cp:lastModifiedBy>eternity</cp:lastModifiedBy>
  <cp:revision>2</cp:revision>
  <dcterms:created xsi:type="dcterms:W3CDTF">2026-08-28T14:25:30Z</dcterms:created>
  <dcterms:modified xsi:type="dcterms:W3CDTF">2026-08-28T14:25:30Z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2052-12.1.26026.26026</vt:lpwstr>
  </property>
  <property fmtid="{D5CDD505-2E9C-101B-9397-08002B2CF9AE}" pid="3" name="ICV">
    <vt:lpwstr>CA9638C2D55681745A9A916AD1F9DB2A_42</vt:lpwstr>
  </property>
</Properties>
</file>