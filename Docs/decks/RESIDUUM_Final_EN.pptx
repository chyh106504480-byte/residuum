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Movement speed (m/s)</c:v>
                </c:pt>
              </c:strCache>
            </c:strRef>
          </c:tx>
          <c:spPr>
            <a:solidFill>
              <a:srgbClr val="7FA6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9EDF3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A6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A6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320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320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C6E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505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Player crouch</c:v>
                  </c:pt>
                  <c:pt idx="1">
                    <c:v>Player walk</c:v>
                  </c:pt>
                  <c:pt idx="2">
                    <c:v>Spirit hunt</c:v>
                  </c:pt>
                  <c:pt idx="3">
                    <c:v>Wraith hunt</c:v>
                  </c:pt>
                  <c:pt idx="4">
                    <c:v>Player sprint</c:v>
                  </c:pt>
                  <c:pt idx="5">
                    <c:v>Poltergeist hunt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</c:v>
                </c:pt>
                <c:pt idx="1">
                  <c:v>2</c:v>
                </c:pt>
                <c:pt idx="2">
                  <c:v>3.3</c:v>
                </c:pt>
                <c:pt idx="3">
                  <c:v>3.4</c:v>
                </c:pt>
                <c:pt idx="4">
                  <c:v>3.5</c:v>
                </c:pt>
                <c:pt idx="5">
                  <c:v>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9EDF3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D9AA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2"/>
        </c:scaling>
        <c:delete val="0"/>
        <c:axPos val="l"/>
        <c:majorGridlines>
          <c:spPr>
            <a:ln w="9525" cap="flat">
              <a:solidFill>
                <a:srgbClr val="222C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D13"/>
        </a:solidFill>
        <a:ln>
          <a:noFill/>
        </a:ln>
        <a:effectLst/>
      </c:spPr>
    </c:plotArea>
    <c:plotVisOnly val="1"/>
    <c:dispBlanksAs val="span"/>
  </c:chart>
  <c:spPr>
    <a:solidFill>
      <a:srgbClr val="0A0D1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seconds. Don't linger — say the title and the premise, then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what. The four numbers are the most memorable thing in the deck. Say them one at a time, with a beat 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buys credibility. We didn't cut because we ran out of time — we cut because we worked out what mattered.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there is a whiteboard, draw this instead of showing it — three rows, three columns, one checkmark at a time. Watching you build it lands far harder. Beat before advancing.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dead after 'No luck.' Let it sit for two full seconds before you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line 'every extra piece of evidence costs you' slowly. That is the thesis of the whole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about feel, not features. All six numbers were re-benchmarked on day seven.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Track, search, wait — three behaviour patterns that do not overlap. That is the answer to 'why these three items'.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'aren't three ghosts too few', answer with this slide: four kinds of evidence would support six ghosts. We simply chose not to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RoomVolumes in the scene, seven of them ghost-room candidates. The cheapest thing about a horror game: you don't have to build what nobody can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payoff: any two modules can be written simultaneously by two sessions that know nothing about each other, and it will still compile.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differentiator. Other teams hand in a game. We hand in a game plus a production line that transfers to the next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asks 'if the AI wrote it, is it yours?', the answer lives on this slide and the previous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six. Say 59 task specs and 16,467 lines, and let them read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one-week project, being able to state your abort conditions is worth ten times being able to state your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purely to buy credibility. Pause after 'jumping' — that one is the most counter-intuitive.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while you switch to Unity. During the demo, narrate what is happening, never the mechanics — those are already explained.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'thank you' and stop. Do not explain anything after it. Let the last line hang and wait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73736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600" kern="0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RESIDUUM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01752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first-person horror investigation game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602736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what it is. That is the entire game.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3583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Unity 6000.5.8f1   ·   URP 17.5   ·   Single-player   ·   Vertical slice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7058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 designer: Henry   ·   Final presentation   ·   August 2026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863840" y="1874520"/>
            <a:ext cx="768096" cy="768096"/>
          </a:xfrm>
          <a:prstGeom prst="roundRect">
            <a:avLst>
              <a:gd name="adj" fmla="val 9524"/>
            </a:avLst>
          </a:prstGeom>
          <a:solidFill>
            <a:srgbClr val="7FA6CC"/>
          </a:solidFill>
          <a:ln w="12700">
            <a:solidFill>
              <a:srgbClr val="7FA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1874520"/>
            <a:ext cx="768096" cy="768096"/>
          </a:xfrm>
          <a:prstGeom prst="roundRect">
            <a:avLst>
              <a:gd name="adj" fmla="val 9524"/>
            </a:avLst>
          </a:prstGeom>
          <a:solidFill>
            <a:srgbClr val="7FA6CC"/>
          </a:solidFill>
          <a:ln w="12700">
            <a:solidFill>
              <a:srgbClr val="7FA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1874520"/>
            <a:ext cx="768096" cy="768096"/>
          </a:xfrm>
          <a:prstGeom prst="roundRect">
            <a:avLst>
              <a:gd name="adj" fmla="val 9524"/>
            </a:avLst>
          </a:prstGeom>
          <a:solidFill>
            <a:srgbClr val="0A0D13"/>
          </a:solidFill>
          <a:ln w="12700">
            <a:solidFill>
              <a:srgbClr val="222C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788920"/>
            <a:ext cx="768096" cy="768096"/>
          </a:xfrm>
          <a:prstGeom prst="roundRect">
            <a:avLst>
              <a:gd name="adj" fmla="val 9524"/>
            </a:avLst>
          </a:prstGeom>
          <a:solidFill>
            <a:srgbClr val="7FA6CC"/>
          </a:solidFill>
          <a:ln w="12700">
            <a:solidFill>
              <a:srgbClr val="7FA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788920"/>
            <a:ext cx="768096" cy="768096"/>
          </a:xfrm>
          <a:prstGeom prst="roundRect">
            <a:avLst>
              <a:gd name="adj" fmla="val 9524"/>
            </a:avLst>
          </a:prstGeom>
          <a:solidFill>
            <a:srgbClr val="0A0D13"/>
          </a:solidFill>
          <a:ln w="12700">
            <a:solidFill>
              <a:srgbClr val="222C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0" y="2788920"/>
            <a:ext cx="768096" cy="768096"/>
          </a:xfrm>
          <a:prstGeom prst="roundRect">
            <a:avLst>
              <a:gd name="adj" fmla="val 9524"/>
            </a:avLst>
          </a:prstGeom>
          <a:solidFill>
            <a:srgbClr val="7FA6CC"/>
          </a:solidFill>
          <a:ln w="12700">
            <a:solidFill>
              <a:srgbClr val="7FA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3703320"/>
            <a:ext cx="768096" cy="768096"/>
          </a:xfrm>
          <a:prstGeom prst="roundRect">
            <a:avLst>
              <a:gd name="adj" fmla="val 9524"/>
            </a:avLst>
          </a:prstGeom>
          <a:solidFill>
            <a:srgbClr val="0A0D13"/>
          </a:solidFill>
          <a:ln w="12700">
            <a:solidFill>
              <a:srgbClr val="222C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3703320"/>
            <a:ext cx="768096" cy="768096"/>
          </a:xfrm>
          <a:prstGeom prst="roundRect">
            <a:avLst>
              <a:gd name="adj" fmla="val 9524"/>
            </a:avLst>
          </a:prstGeom>
          <a:solidFill>
            <a:srgbClr val="7FA6CC"/>
          </a:solidFill>
          <a:ln w="12700">
            <a:solidFill>
              <a:srgbClr val="7FA6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3703320"/>
            <a:ext cx="768096" cy="768096"/>
          </a:xfrm>
          <a:prstGeom prst="roundRect">
            <a:avLst>
              <a:gd name="adj" fmla="val 9524"/>
            </a:avLst>
          </a:prstGeom>
          <a:solidFill>
            <a:srgbClr val="7FA6CC"/>
          </a:solidFill>
          <a:ln w="12700">
            <a:solidFill>
              <a:srgbClr val="7FA6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0" y="46908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ghosts  ×  3 kinds of evidence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ghost has exactly two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02 — PREMISE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 in one sentence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only get one line, say this one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847088"/>
            <a:ext cx="10820095" cy="1371600"/>
          </a:xfrm>
          <a:prstGeom prst="roundRect">
            <a:avLst>
              <a:gd name="adj" fmla="val 400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10312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walk into a house you shouldn't be in with three instruments. Before your sanity runs out, you must identify what is haunting it — and get back out alive.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3584448"/>
            <a:ext cx="2485568" cy="1572768"/>
          </a:xfrm>
          <a:prstGeom prst="roundRect">
            <a:avLst>
              <a:gd name="adj" fmla="val 3488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712464"/>
            <a:ext cx="2485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8–12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832104" y="4517136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run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3976" y="3584448"/>
            <a:ext cx="2485568" cy="1572768"/>
          </a:xfrm>
          <a:prstGeom prst="roundRect">
            <a:avLst>
              <a:gd name="adj" fmla="val 3488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63976" y="3712464"/>
            <a:ext cx="2485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3610280" y="4517136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ghosts, three data assets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2152" y="3584448"/>
            <a:ext cx="2485568" cy="1572768"/>
          </a:xfrm>
          <a:prstGeom prst="roundRect">
            <a:avLst>
              <a:gd name="adj" fmla="val 3488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42152" y="3712464"/>
            <a:ext cx="2485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6388456" y="4517136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kinds of evidence, three fears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20327" y="3584448"/>
            <a:ext cx="2485568" cy="1572768"/>
          </a:xfrm>
          <a:prstGeom prst="roundRect">
            <a:avLst>
              <a:gd name="adj" fmla="val 3488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20327" y="3712464"/>
            <a:ext cx="24855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9" name="Text 17"/>
          <p:cNvSpPr txBox="1"/>
          <p:nvPr/>
        </p:nvSpPr>
        <p:spPr>
          <a:xfrm>
            <a:off x="9166631" y="4517136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settle it for good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126480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Phasmophobia — we copy its deductive structure, not its content volume.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03 — SCOPE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one: cut it down to 3 × 3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volume is not where the fun comes from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5181448" cy="2148840"/>
          </a:xfrm>
          <a:prstGeom prst="roundRect">
            <a:avLst>
              <a:gd name="adj" fmla="val 255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6696" y="2066544"/>
            <a:ext cx="455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A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Phasmophobia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2523744"/>
            <a:ext cx="4559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ghost types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kinds of evidence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items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sets overlap; players end up guessing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4448" y="1883664"/>
            <a:ext cx="5181448" cy="2148840"/>
          </a:xfrm>
          <a:prstGeom prst="roundRect">
            <a:avLst>
              <a:gd name="adj" fmla="val 2553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35344" y="2066544"/>
            <a:ext cx="455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Residuum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635344" y="2523744"/>
            <a:ext cx="4559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ghost types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kinds of evidence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items plus one deduction journal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overlap; any two clues are decisive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31596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game's appeal really comes down to three things — and all three survive at minimum scale: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754880"/>
            <a:ext cx="3411626" cy="1207008"/>
          </a:xfrm>
          <a:prstGeom prst="roundRect">
            <a:avLst>
              <a:gd name="adj" fmla="val 4545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" y="4882896"/>
            <a:ext cx="2936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information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923544" y="5230368"/>
            <a:ext cx="29361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it's there. You don't know what, or where.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90034" y="4754880"/>
            <a:ext cx="3411626" cy="1207008"/>
          </a:xfrm>
          <a:prstGeom prst="roundRect">
            <a:avLst>
              <a:gd name="adj" fmla="val 4545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27778" y="4882896"/>
            <a:ext cx="2936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under constraint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627778" y="5230368"/>
            <a:ext cx="29361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Elimination, using a limited toolkit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4269" y="4754880"/>
            <a:ext cx="3411626" cy="1207008"/>
          </a:xfrm>
          <a:prstGeom prst="roundRect">
            <a:avLst>
              <a:gd name="adj" fmla="val 4545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2013" y="4882896"/>
            <a:ext cx="2936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pulling against reward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332013" y="5230368"/>
            <a:ext cx="29361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second is one more clue, and one more chance to die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04 — THE MATRIX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core: a 3 × 3 deduction matrix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most important slide in the deck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9659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EMF-5 reading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9659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fingerprints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9659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writing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463040" y="2532888"/>
            <a:ext cx="9189720" cy="658368"/>
          </a:xfrm>
          <a:prstGeom prst="roundRect">
            <a:avLst>
              <a:gd name="adj" fmla="val 6944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37360" y="25328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Spirit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5328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5328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5328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463040" y="3282696"/>
            <a:ext cx="9189720" cy="658368"/>
          </a:xfrm>
          <a:prstGeom prst="roundRect">
            <a:avLst>
              <a:gd name="adj" fmla="val 6944"/>
            </a:avLst>
          </a:prstGeom>
          <a:solidFill>
            <a:srgbClr val="121926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37360" y="328269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Wraith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28269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28269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28269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463040" y="4032504"/>
            <a:ext cx="9189720" cy="658368"/>
          </a:xfrm>
          <a:prstGeom prst="roundRect">
            <a:avLst>
              <a:gd name="adj" fmla="val 6944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37360" y="403250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Poltergeist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40325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0325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40325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85800" y="4828032"/>
            <a:ext cx="10820095" cy="1060704"/>
          </a:xfrm>
          <a:prstGeom prst="roundRect">
            <a:avLst>
              <a:gd name="adj" fmla="val 5172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010912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ghost has exactly two — and the three ghosts fill all three pairs.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431536"/>
            <a:ext cx="10088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matrix is the most elegant thing in the project, and the source of every constraint in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05 — PROOF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matrix is airtight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peak of the talk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2860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C(3, 2)  =  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5409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two out of three and</a:t>
            </a:r>
            <a:endParaRPr lang="en-US" sz="13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exactly three pairs —</a:t>
            </a:r>
            <a:endParaRPr lang="en-US" sz="13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 each ghost, one to one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17720" y="1883664"/>
            <a:ext cx="6888175" cy="694944"/>
          </a:xfrm>
          <a:prstGeom prst="roundRect">
            <a:avLst>
              <a:gd name="adj" fmla="val 7895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37176" y="2066544"/>
            <a:ext cx="329184" cy="329184"/>
          </a:xfrm>
          <a:prstGeom prst="ellipse">
            <a:avLst/>
          </a:prstGeom>
          <a:solidFill>
            <a:srgbClr val="7FA6CC"/>
          </a:solidFill>
          <a:ln w="12700">
            <a:solidFill>
              <a:srgbClr val="7FA6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3717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12664" y="1975104"/>
            <a:ext cx="5973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clue is never enough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312664" y="2249424"/>
            <a:ext cx="5973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kind of evidence is shared by two ghosts, so one rules out only 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688336"/>
            <a:ext cx="6888175" cy="694944"/>
          </a:xfrm>
          <a:prstGeom prst="roundRect">
            <a:avLst>
              <a:gd name="adj" fmla="val 7895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37176" y="2871216"/>
            <a:ext cx="329184" cy="329184"/>
          </a:xfrm>
          <a:prstGeom prst="ellipse">
            <a:avLst/>
          </a:prstGeom>
          <a:solidFill>
            <a:srgbClr val="7FA6CC"/>
          </a:solidFill>
          <a:ln w="12700">
            <a:solidFill>
              <a:srgbClr val="7FA6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37176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12664" y="2779776"/>
            <a:ext cx="5973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clues are always decisive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312664" y="3054096"/>
            <a:ext cx="5973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map one-to-one onto ghosts. There is no second solution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3493008"/>
            <a:ext cx="6888175" cy="694944"/>
          </a:xfrm>
          <a:prstGeom prst="roundRect">
            <a:avLst>
              <a:gd name="adj" fmla="val 7895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37176" y="3675888"/>
            <a:ext cx="329184" cy="329184"/>
          </a:xfrm>
          <a:prstGeom prst="ellipse">
            <a:avLst/>
          </a:prstGeom>
          <a:solidFill>
            <a:srgbClr val="7FA6CC"/>
          </a:solidFill>
          <a:ln w="12700">
            <a:solidFill>
              <a:srgbClr val="7FA6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37176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12664" y="3584448"/>
            <a:ext cx="5973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 works just as well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312664" y="3858768"/>
            <a:ext cx="5973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a kind of evidence absent advances the deduction too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66344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redundancy.    No ambiguity.    No luck.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321808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player wins a run, they won it by deduction and nothing else.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06 — PACING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 is the pacing engine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to “why not just take your time?”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5852160" cy="3657600"/>
          </a:xfrm>
          <a:prstGeom prst="roundRect">
            <a:avLst>
              <a:gd name="adj" fmla="val 150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48256"/>
            <a:ext cx="5193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sanity moves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24871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value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87168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D9A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100 %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14984" y="29077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in darkness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907792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−0.12 %/s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33284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lit room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32841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−0.06 %/s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37490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a lit flashlight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749040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× 0.5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4169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Witnessing a ghost event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16966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−15 % once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" y="45902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being hunted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590288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−0.5 %/s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50109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the entrance safe zone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5010912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9C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+1.0 %/s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1883664"/>
            <a:ext cx="4556455" cy="1517904"/>
          </a:xfrm>
          <a:prstGeom prst="roundRect">
            <a:avLst>
              <a:gd name="adj" fmla="val 3614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78624" y="2029968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probability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2395728"/>
            <a:ext cx="4007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05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=  ( 50 − sanity ) ÷ 50</a:t>
            </a:r>
            <a:endParaRPr lang="en-US" sz="2500" dirty="0"/>
          </a:p>
        </p:txBody>
      </p:sp>
      <p:sp>
        <p:nvSpPr>
          <p:cNvPr id="25" name="Text 23"/>
          <p:cNvSpPr txBox="1"/>
          <p:nvPr/>
        </p:nvSpPr>
        <p:spPr>
          <a:xfrm>
            <a:off x="7278624" y="2907792"/>
            <a:ext cx="38980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Rolled once every 25 seconds, once sanity drops below 50 %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49440" y="3602736"/>
            <a:ext cx="4556455" cy="548640"/>
          </a:xfrm>
          <a:prstGeom prst="roundRect">
            <a:avLst>
              <a:gd name="adj" fmla="val 1000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78624" y="3602736"/>
            <a:ext cx="1949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50 %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227668" y="3602736"/>
            <a:ext cx="1949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0 %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9440" y="4261104"/>
            <a:ext cx="4556455" cy="548640"/>
          </a:xfrm>
          <a:prstGeom prst="roundRect">
            <a:avLst>
              <a:gd name="adj" fmla="val 1000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78624" y="4261104"/>
            <a:ext cx="1949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25 %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27668" y="4261104"/>
            <a:ext cx="1949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50 %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949440" y="4919472"/>
            <a:ext cx="4556455" cy="548640"/>
          </a:xfrm>
          <a:prstGeom prst="roundRect">
            <a:avLst>
              <a:gd name="adj" fmla="val 1000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78624" y="4919472"/>
            <a:ext cx="1949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0 %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227668" y="4919472"/>
            <a:ext cx="1949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certain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126480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intent: the player is permanently doing the arithmetic on how much longer they can stay. That anxiety is the gameplay.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07 — THE HUNT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is not the answer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were re-tuned by hand, not guessed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847088"/>
          <a:ext cx="66751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847088"/>
            <a:ext cx="3870655" cy="877824"/>
          </a:xfrm>
          <a:prstGeom prst="roundRect">
            <a:avLst>
              <a:gd name="adj" fmla="val 625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72984" y="1938528"/>
            <a:ext cx="3395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adrenaline bonus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872984" y="2231136"/>
            <a:ext cx="3395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hunt sprint is 3.5, same as any other sprint. No free crutch.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35240" y="2807208"/>
            <a:ext cx="3870655" cy="877824"/>
          </a:xfrm>
          <a:prstGeom prst="roundRect">
            <a:avLst>
              <a:gd name="adj" fmla="val 625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72984" y="2898648"/>
            <a:ext cx="3395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Poltergeist is faster than you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872984" y="3191256"/>
            <a:ext cx="3395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 3.3 and Wraith 3.4 you can just outrun. 3.6 you cannot.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3767328"/>
            <a:ext cx="3870655" cy="877824"/>
          </a:xfrm>
          <a:prstGeom prst="roundRect">
            <a:avLst>
              <a:gd name="adj" fmla="val 625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72984" y="3858768"/>
            <a:ext cx="3395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Stamina lasts 4.2 seconds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872984" y="4151376"/>
            <a:ext cx="3395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3.5 seconds to refill, and you are back to walking at 2.0.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635240" y="4727448"/>
            <a:ext cx="3870655" cy="877824"/>
          </a:xfrm>
          <a:prstGeom prst="roundRect">
            <a:avLst>
              <a:gd name="adj" fmla="val 625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72984" y="4818888"/>
            <a:ext cx="3395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line of sight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872984" y="5111496"/>
            <a:ext cx="3395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it and the ghost only searches your last known position. Turn a corner. Shut the door.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08 — INSTRUMENTS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instruments, three different fears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three ways of getting the same thing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3362858" cy="3035808"/>
          </a:xfrm>
          <a:prstGeom prst="roundRect">
            <a:avLst>
              <a:gd name="adj" fmla="val 180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066544"/>
            <a:ext cx="2814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R A C 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468880"/>
            <a:ext cx="28142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EMF Reader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1752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follow the reading. Higher means closer to where it just was.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187952"/>
            <a:ext cx="28142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05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 pulls you toward it”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14418" y="1883664"/>
            <a:ext cx="3362858" cy="3035808"/>
          </a:xfrm>
          <a:prstGeom prst="roundRect">
            <a:avLst>
              <a:gd name="adj" fmla="val 180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88738" y="2066544"/>
            <a:ext cx="2814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E A R C H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88738" y="2468880"/>
            <a:ext cx="28142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 Flashlight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688738" y="301752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stand still and sweep handles and switches. Your flashlight is forced off.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688738" y="4187952"/>
            <a:ext cx="28142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05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 takes your light away”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43037" y="1883664"/>
            <a:ext cx="3362858" cy="3035808"/>
          </a:xfrm>
          <a:prstGeom prst="roundRect">
            <a:avLst>
              <a:gd name="adj" fmla="val 180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7357" y="2066544"/>
            <a:ext cx="2814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A I 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17357" y="2468880"/>
            <a:ext cx="28142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Ghost Writing Book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417357" y="3017520"/>
            <a:ext cx="28142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it down in the ghost room, leave, and have to come back to read it.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417357" y="4187952"/>
            <a:ext cx="28142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05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 sends you back in”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85800" y="5175504"/>
            <a:ext cx="10820095" cy="822960"/>
          </a:xfrm>
          <a:prstGeom prst="roundRect">
            <a:avLst>
              <a:gd name="adj" fmla="val 6667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43000" y="5175504"/>
            <a:ext cx="9905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three equipment slots, and the flashlight permanently occupies one. Every run forces a trade. That pressure is deliberate.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09 — ENTITIES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ghosts, one AI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difference is expressed as data, not as a subclass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3362858" cy="2743200"/>
          </a:xfrm>
          <a:prstGeom prst="roundRect">
            <a:avLst>
              <a:gd name="adj" fmla="val 200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029968"/>
            <a:ext cx="28142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Spirit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468880"/>
            <a:ext cx="28142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· stubborn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871216"/>
            <a:ext cx="28142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Lingers in the ghost room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Heavy, distinct footsteps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hunt duration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133088"/>
            <a:ext cx="28142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Hunt 3.3 m/s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4418" y="1883664"/>
            <a:ext cx="3362858" cy="2743200"/>
          </a:xfrm>
          <a:prstGeom prst="roundRect">
            <a:avLst>
              <a:gd name="adj" fmla="val 200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88738" y="2029968"/>
            <a:ext cx="28142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Wraith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88738" y="2468880"/>
            <a:ext cx="28142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Drifting · traceless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688738" y="2871216"/>
            <a:ext cx="28142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no floor prints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Blinks short distances closer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bursts while chasing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88738" y="4133088"/>
            <a:ext cx="28142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Hunt 3.4 m/s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43037" y="1883664"/>
            <a:ext cx="3362858" cy="2743200"/>
          </a:xfrm>
          <a:prstGeom prst="roundRect">
            <a:avLst>
              <a:gd name="adj" fmla="val 200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7357" y="2029968"/>
            <a:ext cx="28142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Poltergeist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417357" y="2468880"/>
            <a:ext cx="28142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Violent · destructive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417357" y="2871216"/>
            <a:ext cx="281421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interactable objects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Flings everything at hunt start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sanity 1.5× faster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417357" y="4133088"/>
            <a:ext cx="28142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Hunt 3.6 m/s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882896"/>
            <a:ext cx="10820095" cy="1042416"/>
          </a:xfrm>
          <a:prstGeom prst="roundRect">
            <a:avLst>
              <a:gd name="adj" fmla="val 5263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43000" y="5010912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ghosts  =  one GhostAI  +  three ScriptableObject data assets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3949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fourth ghost means authoring one asset file — not one line of code changes.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10 — LEVEL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apartment, eight zones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polished map beats three grey-boxed ones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956816"/>
            <a:ext cx="2852928" cy="731520"/>
          </a:xfrm>
          <a:prstGeom prst="roundRect">
            <a:avLst>
              <a:gd name="adj" fmla="val 625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3544" y="195681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Room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1956816"/>
            <a:ext cx="969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m²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85032" y="1956816"/>
            <a:ext cx="2852928" cy="731520"/>
          </a:xfrm>
          <a:prstGeom prst="roundRect">
            <a:avLst>
              <a:gd name="adj" fmla="val 625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22776" y="195681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30952" y="1956816"/>
            <a:ext cx="969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m²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2852928" cy="731520"/>
          </a:xfrm>
          <a:prstGeom prst="roundRect">
            <a:avLst>
              <a:gd name="adj" fmla="val 625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" y="2834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2834640"/>
            <a:ext cx="969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m²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85032" y="2834640"/>
            <a:ext cx="2852928" cy="731520"/>
          </a:xfrm>
          <a:prstGeom prst="roundRect">
            <a:avLst>
              <a:gd name="adj" fmla="val 625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22776" y="2834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Washroom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30952" y="2834640"/>
            <a:ext cx="969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m²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712464"/>
            <a:ext cx="2852928" cy="731520"/>
          </a:xfrm>
          <a:prstGeom prst="roundRect">
            <a:avLst>
              <a:gd name="adj" fmla="val 625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44" y="371246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Bedroom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3712464"/>
            <a:ext cx="969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m²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85032" y="3712464"/>
            <a:ext cx="2852928" cy="731520"/>
          </a:xfrm>
          <a:prstGeom prst="roundRect">
            <a:avLst>
              <a:gd name="adj" fmla="val 625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22776" y="371246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Room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30952" y="3712464"/>
            <a:ext cx="969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m²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90288"/>
            <a:ext cx="2852928" cy="731520"/>
          </a:xfrm>
          <a:prstGeom prst="roundRect">
            <a:avLst>
              <a:gd name="adj" fmla="val 6250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3544" y="45902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Room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331720" y="4590288"/>
            <a:ext cx="969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m²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85032" y="4590288"/>
            <a:ext cx="2852928" cy="731520"/>
          </a:xfrm>
          <a:prstGeom prst="roundRect">
            <a:avLst>
              <a:gd name="adj" fmla="val 6250"/>
            </a:avLst>
          </a:prstGeom>
          <a:solidFill>
            <a:srgbClr val="222C3E"/>
          </a:solidFill>
          <a:ln w="15875">
            <a:solidFill>
              <a:srgbClr val="7FA6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22776" y="45902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330952" y="4590288"/>
            <a:ext cx="969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 zone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61441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rooms are ghost-room candidates — one is drawn at random each run. The lobby is the safe zone.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86600" y="2029968"/>
            <a:ext cx="182880" cy="182880"/>
          </a:xfrm>
          <a:prstGeom prst="ellipse">
            <a:avLst/>
          </a:prstGeom>
          <a:solidFill>
            <a:srgbClr val="7FA6CC"/>
          </a:solidFill>
          <a:ln w="12700">
            <a:solidFill>
              <a:srgbClr val="0A0D1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15784" y="1938528"/>
            <a:ext cx="4090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blue moonlight is the only ambient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415784" y="2231136"/>
            <a:ext cx="40901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directional light through the windows. The interior is almost black.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086600" y="2852928"/>
            <a:ext cx="182880" cy="182880"/>
          </a:xfrm>
          <a:prstGeom prst="ellipse">
            <a:avLst/>
          </a:prstGeom>
          <a:solidFill>
            <a:srgbClr val="7FA6CC"/>
          </a:solidFill>
          <a:ln w="12700">
            <a:solidFill>
              <a:srgbClr val="0A0D1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15784" y="2761488"/>
            <a:ext cx="4090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flashlight is the only warm source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415784" y="3054096"/>
            <a:ext cx="40901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4200 K, 12 m range, 45° cone. That is all the light you get.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086600" y="3675888"/>
            <a:ext cx="182880" cy="182880"/>
          </a:xfrm>
          <a:prstGeom prst="ellipse">
            <a:avLst/>
          </a:prstGeom>
          <a:solidFill>
            <a:srgbClr val="7FA6CC"/>
          </a:solidFill>
          <a:ln w="12700">
            <a:solidFill>
              <a:srgbClr val="0A0D1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15784" y="3584448"/>
            <a:ext cx="4090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room has a switchable ceiling light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415784" y="3877056"/>
            <a:ext cx="40901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slows sanity loss but makes the ghost likelier to notice you.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086600" y="4498848"/>
            <a:ext cx="182880" cy="182880"/>
          </a:xfrm>
          <a:prstGeom prst="ellipse">
            <a:avLst/>
          </a:prstGeom>
          <a:solidFill>
            <a:srgbClr val="E0505E"/>
          </a:solidFill>
          <a:ln w="12700">
            <a:solidFill>
              <a:srgbClr val="0A0D1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15784" y="4407408"/>
            <a:ext cx="4090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Hunts shift the whole house red and flicker it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415784" y="4700016"/>
            <a:ext cx="40901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flashlight dies. There is a chance the power cuts entirely.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086600" y="5321808"/>
            <a:ext cx="182880" cy="182880"/>
          </a:xfrm>
          <a:prstGeom prst="ellipse">
            <a:avLst/>
          </a:prstGeom>
          <a:solidFill>
            <a:srgbClr val="7FA6CC"/>
          </a:solidFill>
          <a:ln w="12700">
            <a:solidFill>
              <a:srgbClr val="0A0D1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15784" y="5230368"/>
            <a:ext cx="4090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corridor breaks up sightlines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415784" y="5522976"/>
            <a:ext cx="40901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rarely see the whole space at once — footsteps tend to arrive before vision.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11 —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direct references between modules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several AI sessions can write code in parallel without colliding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160520" y="3200400"/>
            <a:ext cx="3858768" cy="987552"/>
          </a:xfrm>
          <a:prstGeom prst="roundRect">
            <a:avLst>
              <a:gd name="adj" fmla="val 5556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0520" y="331012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C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Core.GameEvents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371246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event bus · 23 events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4604" y="1975104"/>
            <a:ext cx="1572768" cy="786384"/>
          </a:xfrm>
          <a:prstGeom prst="roundRect">
            <a:avLst>
              <a:gd name="adj" fmla="val 697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4604" y="1975104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00988" y="2761488"/>
            <a:ext cx="0" cy="438912"/>
          </a:xfrm>
          <a:prstGeom prst="line">
            <a:avLst/>
          </a:prstGeom>
          <a:noFill/>
          <a:ln w="15875">
            <a:solidFill>
              <a:srgbClr val="222C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548" y="1975104"/>
            <a:ext cx="1572768" cy="786384"/>
          </a:xfrm>
          <a:prstGeom prst="roundRect">
            <a:avLst>
              <a:gd name="adj" fmla="val 697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52548" y="1975104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Ghost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338932" y="2761488"/>
            <a:ext cx="0" cy="438912"/>
          </a:xfrm>
          <a:prstGeom prst="line">
            <a:avLst/>
          </a:prstGeom>
          <a:noFill/>
          <a:ln w="15875">
            <a:solidFill>
              <a:srgbClr val="222C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90492" y="1975104"/>
            <a:ext cx="1572768" cy="786384"/>
          </a:xfrm>
          <a:prstGeom prst="roundRect">
            <a:avLst>
              <a:gd name="adj" fmla="val 697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90492" y="1975104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176876" y="2761488"/>
            <a:ext cx="0" cy="438912"/>
          </a:xfrm>
          <a:prstGeom prst="line">
            <a:avLst/>
          </a:prstGeom>
          <a:noFill/>
          <a:ln w="15875">
            <a:solidFill>
              <a:srgbClr val="222C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8436" y="1975104"/>
            <a:ext cx="1572768" cy="786384"/>
          </a:xfrm>
          <a:prstGeom prst="roundRect">
            <a:avLst>
              <a:gd name="adj" fmla="val 697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28436" y="1975104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014820" y="2761488"/>
            <a:ext cx="0" cy="438912"/>
          </a:xfrm>
          <a:prstGeom prst="line">
            <a:avLst/>
          </a:prstGeom>
          <a:noFill/>
          <a:ln w="15875">
            <a:solidFill>
              <a:srgbClr val="222C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6380" y="1975104"/>
            <a:ext cx="1572768" cy="786384"/>
          </a:xfrm>
          <a:prstGeom prst="roundRect">
            <a:avLst>
              <a:gd name="adj" fmla="val 697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66380" y="1975104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852764" y="2761488"/>
            <a:ext cx="0" cy="438912"/>
          </a:xfrm>
          <a:prstGeom prst="line">
            <a:avLst/>
          </a:prstGeom>
          <a:noFill/>
          <a:ln w="15875">
            <a:solidFill>
              <a:srgbClr val="222C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04324" y="1975104"/>
            <a:ext cx="1572768" cy="786384"/>
          </a:xfrm>
          <a:prstGeom prst="roundRect">
            <a:avLst>
              <a:gd name="adj" fmla="val 697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04324" y="1975104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9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0690708" y="2761488"/>
            <a:ext cx="0" cy="438912"/>
          </a:xfrm>
          <a:prstGeom prst="line">
            <a:avLst/>
          </a:prstGeom>
          <a:noFill/>
          <a:ln w="15875">
            <a:solidFill>
              <a:srgbClr val="222C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00988" y="3200400"/>
            <a:ext cx="9189720" cy="0"/>
          </a:xfrm>
          <a:prstGeom prst="line">
            <a:avLst/>
          </a:prstGeom>
          <a:noFill/>
          <a:ln w="15875">
            <a:solidFill>
              <a:srgbClr val="222C3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517136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Everything crosses via the bus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088136" y="4791456"/>
            <a:ext cx="30214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files may not import another module's namespace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383938" y="4517136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Four interfaces fixed up front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786274" y="4791456"/>
            <a:ext cx="30214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IInteractable · IHoldable · IEvidenceSource · GhostDefinition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082077" y="4517136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The contract has one author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484413" y="4791456"/>
            <a:ext cx="30214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contract files owned by the lead. The AI cannot touch them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340096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Tunable values are serialized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1088136" y="5614416"/>
            <a:ext cx="30214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tune in the Inspector, never in code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383938" y="5340096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Ghosts are data, not classes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786274" y="5614416"/>
            <a:ext cx="30214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differences live in ScriptableObjects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12 — PIPELINE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code actually got written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The pipeline is a deliverable in its own right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1620469" cy="2103120"/>
          </a:xfrm>
          <a:prstGeom prst="roundRect">
            <a:avLst>
              <a:gd name="adj" fmla="val 3386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48256"/>
            <a:ext cx="125470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95728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spec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16352"/>
            <a:ext cx="1254709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a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human. Files,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limits,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25725" y="1920240"/>
            <a:ext cx="1620469" cy="2103120"/>
          </a:xfrm>
          <a:prstGeom prst="roundRect">
            <a:avLst>
              <a:gd name="adj" fmla="val 3386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08605" y="2048256"/>
            <a:ext cx="125470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708605" y="2395728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08605" y="2816352"/>
            <a:ext cx="1254709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fills in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contract. It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edit 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65650" y="1920240"/>
            <a:ext cx="1620469" cy="2103120"/>
          </a:xfrm>
          <a:prstGeom prst="roundRect">
            <a:avLst>
              <a:gd name="adj" fmla="val 3386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8530" y="2048256"/>
            <a:ext cx="125470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2395728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gates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48530" y="2816352"/>
            <a:ext cx="1254709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regex rules.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hit sends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straight back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5576" y="1920240"/>
            <a:ext cx="1620469" cy="2103120"/>
          </a:xfrm>
          <a:prstGeom prst="roundRect">
            <a:avLst>
              <a:gd name="adj" fmla="val 3386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8456" y="2048256"/>
            <a:ext cx="125470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388456" y="2395728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88456" y="2816352"/>
            <a:ext cx="1254709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batch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mode. Real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errors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5501" y="1920240"/>
            <a:ext cx="1620469" cy="2103120"/>
          </a:xfrm>
          <a:prstGeom prst="roundRect">
            <a:avLst>
              <a:gd name="adj" fmla="val 3386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8381" y="2048256"/>
            <a:ext cx="125470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228381" y="2395728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Self-audit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8381" y="2816352"/>
            <a:ext cx="1254709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18-point list,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line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885426" y="1920240"/>
            <a:ext cx="1620469" cy="2103120"/>
          </a:xfrm>
          <a:prstGeom prst="roundRect">
            <a:avLst>
              <a:gd name="adj" fmla="val 3386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68306" y="2048256"/>
            <a:ext cx="125470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068306" y="2395728"/>
            <a:ext cx="1254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068306" y="2816352"/>
            <a:ext cx="1254709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reads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 and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or rejects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169664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at step 3 or 4 returns automatically to step 2 carrying the raw error text. Two rounds maximum.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4645152"/>
            <a:ext cx="10820095" cy="1316736"/>
          </a:xfrm>
          <a:prstGeom prst="roundRect">
            <a:avLst>
              <a:gd name="adj" fmla="val 4167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97280" y="4791456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own design, contract and acceptance. The AI owns implementation.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5193792"/>
            <a:ext cx="999713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and the reviewer have to be two independent viewpoints. The AI generated the code, but a human wrote the architecture — the event bus, the interfaces, the data structures were fixed as contracts first. An AI can write every script in this project in a day; only a person can tell whether it feels right.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13 — GATES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hard gates. One hit and it goes back.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never gets tired — but it will make the same mistake a hundred times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256" y="188366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618488" y="188366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Find APIs are banned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1883664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395728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5256" y="239572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618488" y="23957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Rigidbody.velocity → linearVelocity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2395728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2907792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" y="290779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G03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618488" y="290779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legacy Input Manager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2907792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3419856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5256" y="341985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G04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618488" y="341985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CinemachineVirtualCamera was renamed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3419856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3931920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5256" y="39319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G05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618488" y="39319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imports between modules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3931920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4443984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5256" y="444398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G06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618488" y="444398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Tunables must be SerializeField private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080760" y="4443984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4956048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5256" y="495604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G07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618488" y="49560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GameObject.Find by name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080760" y="4956048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5800" y="5468112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5256" y="546811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G08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618488" y="546811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debug logging before commit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080760" y="5468112"/>
            <a:ext cx="694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52360" y="1883664"/>
            <a:ext cx="4053535" cy="1371600"/>
          </a:xfrm>
          <a:prstGeom prst="roundRect">
            <a:avLst>
              <a:gd name="adj" fmla="val 4000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26680" y="2029968"/>
            <a:ext cx="3504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an 18-point self-audit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7726680" y="2395728"/>
            <a:ext cx="3504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answers every point on delivery and separately lists anything it decided on its own. Those are usually where the next module's landmines are.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52360" y="3401568"/>
            <a:ext cx="4053535" cy="1207008"/>
          </a:xfrm>
          <a:prstGeom prst="roundRect">
            <a:avLst>
              <a:gd name="adj" fmla="val 4545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26680" y="3547872"/>
            <a:ext cx="3504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outrank the self-audit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726680" y="3895344"/>
            <a:ext cx="35048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self-audit is what the AI says about itself. A gate is a fact about the source text.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52360" y="4754880"/>
            <a:ext cx="4053535" cy="1207008"/>
          </a:xfrm>
          <a:prstGeom prst="roundRect">
            <a:avLst>
              <a:gd name="adj" fmla="val 4545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26680" y="4882896"/>
            <a:ext cx="3504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must never accuse the innocent</a:t>
            </a:r>
            <a:endParaRPr lang="en-US" sz="1450" dirty="0"/>
          </a:p>
        </p:txBody>
      </p:sp>
      <p:sp>
        <p:nvSpPr>
          <p:cNvPr id="46" name="Text 44"/>
          <p:cNvSpPr txBox="1"/>
          <p:nvPr/>
        </p:nvSpPr>
        <p:spPr>
          <a:xfrm>
            <a:off x="7726680" y="5248656"/>
            <a:ext cx="35048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rule set flagged 2 errors and 15 warnings on a clean tree. All false positives — that doesn't add noise, it burns a whole round.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14 — NUMBERS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days, measured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verifiable in the repository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3387242" cy="1792224"/>
          </a:xfrm>
          <a:prstGeom prst="roundRect">
            <a:avLst>
              <a:gd name="adj" fmla="val 3061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084832"/>
            <a:ext cx="283860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71216"/>
            <a:ext cx="2838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specifications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00400"/>
            <a:ext cx="28386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fixes the files, the values and the acceptance criteria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2226" y="1920240"/>
            <a:ext cx="3387242" cy="1792224"/>
          </a:xfrm>
          <a:prstGeom prst="roundRect">
            <a:avLst>
              <a:gd name="adj" fmla="val 3061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6546" y="2084832"/>
            <a:ext cx="283860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676546" y="2871216"/>
            <a:ext cx="2838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76546" y="3200400"/>
            <a:ext cx="28386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Gates, compile and self-audit, start to finish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8653" y="1920240"/>
            <a:ext cx="3387242" cy="1792224"/>
          </a:xfrm>
          <a:prstGeom prst="roundRect">
            <a:avLst>
              <a:gd name="adj" fmla="val 3061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2973" y="2084832"/>
            <a:ext cx="283860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392973" y="2871216"/>
            <a:ext cx="2838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392973" y="3200400"/>
            <a:ext cx="28386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implementation, scene and docs kept separate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913632"/>
            <a:ext cx="3387242" cy="1792224"/>
          </a:xfrm>
          <a:prstGeom prst="roundRect">
            <a:avLst>
              <a:gd name="adj" fmla="val 3061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4078224"/>
            <a:ext cx="283860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864608"/>
            <a:ext cx="2838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scripts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193792"/>
            <a:ext cx="28386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runtime plus 9 editor assembly tools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02226" y="3913632"/>
            <a:ext cx="3387242" cy="1792224"/>
          </a:xfrm>
          <a:prstGeom prst="roundRect">
            <a:avLst>
              <a:gd name="adj" fmla="val 3061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76546" y="4078224"/>
            <a:ext cx="283860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16,467</a:t>
            </a:r>
            <a:endParaRPr lang="en-US" sz="4800" dirty="0"/>
          </a:p>
        </p:txBody>
      </p:sp>
      <p:sp>
        <p:nvSpPr>
          <p:cNvPr id="24" name="Text 22"/>
          <p:cNvSpPr txBox="1"/>
          <p:nvPr/>
        </p:nvSpPr>
        <p:spPr>
          <a:xfrm>
            <a:off x="4676546" y="4864608"/>
            <a:ext cx="2838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C#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4676546" y="5193792"/>
            <a:ext cx="28386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 code produced by the AI behind the contract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18653" y="3913632"/>
            <a:ext cx="3387242" cy="1792224"/>
          </a:xfrm>
          <a:prstGeom prst="roundRect">
            <a:avLst>
              <a:gd name="adj" fmla="val 3061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92973" y="4078224"/>
            <a:ext cx="283860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3,017</a:t>
            </a:r>
            <a:endParaRPr lang="en-US" sz="4800" dirty="0"/>
          </a:p>
        </p:txBody>
      </p:sp>
      <p:sp>
        <p:nvSpPr>
          <p:cNvPr id="28" name="Text 26"/>
          <p:cNvSpPr txBox="1"/>
          <p:nvPr/>
        </p:nvSpPr>
        <p:spPr>
          <a:xfrm>
            <a:off x="8392973" y="4864608"/>
            <a:ext cx="2838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design docs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8392973" y="5193792"/>
            <a:ext cx="28386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GDD, architecture, schedule, review process, onboarding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15 — SCHEDULE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days, two risk gates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the gate and features get cut. No heroics.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10820095" cy="484632"/>
          </a:xfrm>
          <a:prstGeom prst="roundRect">
            <a:avLst>
              <a:gd name="adj" fmla="val 754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1883664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883664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and setup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883664"/>
            <a:ext cx="50593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stands up; both members can clone and run 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418588"/>
            <a:ext cx="10820095" cy="484632"/>
          </a:xfrm>
          <a:prstGeom prst="roundRect">
            <a:avLst>
              <a:gd name="adj" fmla="val 754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2418588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418588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and looking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418588"/>
            <a:ext cx="50593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First-person controller, interaction, NavMesh bake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2953512"/>
            <a:ext cx="10820095" cy="484632"/>
          </a:xfrm>
          <a:prstGeom prst="roundRect">
            <a:avLst>
              <a:gd name="adj" fmla="val 754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295351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2953512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in hand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2953512"/>
            <a:ext cx="50593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slots, flashlight, room system, HUD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488436"/>
            <a:ext cx="10820095" cy="484632"/>
          </a:xfrm>
          <a:prstGeom prst="roundRect">
            <a:avLst>
              <a:gd name="adj" fmla="val 7547"/>
            </a:avLst>
          </a:prstGeom>
          <a:solidFill>
            <a:srgbClr val="2A1519"/>
          </a:solidFill>
          <a:ln w="13970">
            <a:solidFill>
              <a:srgbClr val="B320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3488436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488436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loop closed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3488436"/>
            <a:ext cx="50593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EMF, UV fingerprints, ghost writing, evidence manager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585655" y="3488436"/>
            <a:ext cx="16824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4023360"/>
            <a:ext cx="10820095" cy="484632"/>
          </a:xfrm>
          <a:prstGeom prst="roundRect">
            <a:avLst>
              <a:gd name="adj" fmla="val 7547"/>
            </a:avLst>
          </a:prstGeom>
          <a:solidFill>
            <a:srgbClr val="2A1519"/>
          </a:solidFill>
          <a:ln w="13970">
            <a:solidFill>
              <a:srgbClr val="B320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1832" y="4023360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4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920240" y="4023360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ghost arrives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4023360"/>
            <a:ext cx="50593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AI and hunt scheduling — the hardest day of the project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585655" y="4023360"/>
            <a:ext cx="16824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4558284"/>
            <a:ext cx="10820095" cy="484632"/>
          </a:xfrm>
          <a:prstGeom prst="roundRect">
            <a:avLst>
              <a:gd name="adj" fmla="val 754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1832" y="4558284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5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920240" y="4558284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loop running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343400" y="4558284"/>
            <a:ext cx="50593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manager, deduction journal, results screen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5093208"/>
            <a:ext cx="10820095" cy="484632"/>
          </a:xfrm>
          <a:prstGeom prst="roundRect">
            <a:avLst>
              <a:gd name="adj" fmla="val 754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1832" y="5093208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6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920240" y="5093208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lands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343400" y="5093208"/>
            <a:ext cx="50593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assets, re-bake NavMesh, replay the whole loop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" y="5628132"/>
            <a:ext cx="10820095" cy="484632"/>
          </a:xfrm>
          <a:prstGeom prst="roundRect">
            <a:avLst>
              <a:gd name="adj" fmla="val 7547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1832" y="5628132"/>
            <a:ext cx="868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7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920240" y="5628132"/>
            <a:ext cx="2286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and hand-off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343400" y="5628132"/>
            <a:ext cx="50593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lighting, main menu, acceptance walkthrough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126480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evidence hadn't closed by day 3, ghost writing was to be cut down to a 2 × 3 table. If the AI hadn't worked by day 4, the art day moved. Neither gate ever fired.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16 — NON-GOALS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things we deliberately did not build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down so the week couldn't be eaten alive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5227168" cy="768096"/>
          </a:xfrm>
          <a:prstGeom prst="roundRect">
            <a:avLst>
              <a:gd name="adj" fmla="val 714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3544" y="1920240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62456" y="202996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362456" y="2313432"/>
            <a:ext cx="431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sync costs three days minimum. It would have eaten the slice.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1920240"/>
            <a:ext cx="5227168" cy="768096"/>
          </a:xfrm>
          <a:prstGeom prst="roundRect">
            <a:avLst>
              <a:gd name="adj" fmla="val 714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6472" y="1920240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955384" y="202996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recognition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955384" y="2313432"/>
            <a:ext cx="431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a third-party SDK. Unbounded risk.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2798064"/>
            <a:ext cx="5227168" cy="768096"/>
          </a:xfrm>
          <a:prstGeom prst="roundRect">
            <a:avLst>
              <a:gd name="adj" fmla="val 714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" y="2798064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62456" y="290779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map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362456" y="3191256"/>
            <a:ext cx="431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polished map beats three grey-boxed ones.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78728" y="2798064"/>
            <a:ext cx="5227168" cy="768096"/>
          </a:xfrm>
          <a:prstGeom prst="roundRect">
            <a:avLst>
              <a:gd name="adj" fmla="val 714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6472" y="2798064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955384" y="290779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fourth ghost or clue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6955384" y="3191256"/>
            <a:ext cx="431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would break the mathematical closure of the 3 × 3 matrix.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3675888"/>
            <a:ext cx="5227168" cy="768096"/>
          </a:xfrm>
          <a:prstGeom prst="roundRect">
            <a:avLst>
              <a:gd name="adj" fmla="val 714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3544" y="3675888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362456" y="3785616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and progression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1362456" y="4069080"/>
            <a:ext cx="431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vertical slice does not need it.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78728" y="3675888"/>
            <a:ext cx="5227168" cy="768096"/>
          </a:xfrm>
          <a:prstGeom prst="roundRect">
            <a:avLst>
              <a:gd name="adj" fmla="val 714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16472" y="3675888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955384" y="3785616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6955384" y="4069080"/>
            <a:ext cx="431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jump you can climb furniture — it breaks level closure and navmesh.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" y="4553712"/>
            <a:ext cx="5227168" cy="768096"/>
          </a:xfrm>
          <a:prstGeom prst="roundRect">
            <a:avLst>
              <a:gd name="adj" fmla="val 7143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3544" y="4553712"/>
            <a:ext cx="365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362456" y="466344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art assets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1362456" y="4946904"/>
            <a:ext cx="431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free-licensed. Consistency of style beats fidelity of any one piece.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85800" y="5468112"/>
            <a:ext cx="5227168" cy="768096"/>
          </a:xfrm>
          <a:prstGeom prst="roundRect">
            <a:avLst>
              <a:gd name="adj" fmla="val 7143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5468112"/>
            <a:ext cx="4678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team that can tell you what it isn't building is ten times more credible.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108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17 — DEMO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225735" y="6327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"/>
            <a:ext cx="108200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about to watch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187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to twelve minutes, one complete loop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3411626" cy="1207008"/>
          </a:xfrm>
          <a:prstGeom prst="roundRect">
            <a:avLst>
              <a:gd name="adj" fmla="val 4545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3544" y="1993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23544" y="2267712"/>
            <a:ext cx="2936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2615184"/>
            <a:ext cx="29361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entrance is the safe zone. Three instruments; the flashlight takes a slot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0034" y="1883664"/>
            <a:ext cx="3411626" cy="1207008"/>
          </a:xfrm>
          <a:prstGeom prst="roundRect">
            <a:avLst>
              <a:gd name="adj" fmla="val 4545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7778" y="1993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2267712"/>
            <a:ext cx="2936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ghost room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615184"/>
            <a:ext cx="29361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seven, drawn at random. Temperature drop plus EMF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4269" y="1883664"/>
            <a:ext cx="3411626" cy="1207008"/>
          </a:xfrm>
          <a:prstGeom prst="roundRect">
            <a:avLst>
              <a:gd name="adj" fmla="val 4545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2013" y="1993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332013" y="2267712"/>
            <a:ext cx="2936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 evidence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32013" y="2615184"/>
            <a:ext cx="29361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the reading · sweep for prints · plant the book and return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236976"/>
            <a:ext cx="3411626" cy="1207008"/>
          </a:xfrm>
          <a:prstGeom prst="roundRect">
            <a:avLst>
              <a:gd name="adj" fmla="val 4545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44" y="33467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23544" y="3621024"/>
            <a:ext cx="2936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 drops below 50 %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" y="3968496"/>
            <a:ext cx="29361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Rolled every 25 seconds. Lights start flickering. The heartbeat comes up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90034" y="3236976"/>
            <a:ext cx="3411626" cy="1207008"/>
          </a:xfrm>
          <a:prstGeom prst="roundRect">
            <a:avLst>
              <a:gd name="adj" fmla="val 4545"/>
            </a:avLst>
          </a:prstGeom>
          <a:solidFill>
            <a:srgbClr val="231419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27778" y="33467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627778" y="3621024"/>
            <a:ext cx="2936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hunt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627778" y="3968496"/>
            <a:ext cx="29361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 goes red, the flashlight dies. Corner, door, break line of sight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94269" y="3236976"/>
            <a:ext cx="3411626" cy="1207008"/>
          </a:xfrm>
          <a:prstGeom prst="roundRect">
            <a:avLst>
              <a:gd name="adj" fmla="val 4545"/>
            </a:avLst>
          </a:prstGeom>
          <a:solidFill>
            <a:srgbClr val="231419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32013" y="33467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50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32013" y="3621024"/>
            <a:ext cx="2936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Evacuate and call it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332013" y="3968496"/>
            <a:ext cx="29361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entrance, tick two clues in the journal, name the ghost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" y="4736592"/>
            <a:ext cx="2485568" cy="1170432"/>
          </a:xfrm>
          <a:prstGeom prst="roundRect">
            <a:avLst>
              <a:gd name="adj" fmla="val 4688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3544" y="482803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" y="5358384"/>
            <a:ext cx="201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+ both clues + sanity above 30 %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463976" y="4736592"/>
            <a:ext cx="2485568" cy="1170432"/>
          </a:xfrm>
          <a:prstGeom prst="roundRect">
            <a:avLst>
              <a:gd name="adj" fmla="val 4688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701720" y="482803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35" name="Text 33"/>
          <p:cNvSpPr txBox="1"/>
          <p:nvPr/>
        </p:nvSpPr>
        <p:spPr>
          <a:xfrm>
            <a:off x="3701720" y="5358384"/>
            <a:ext cx="201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call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42152" y="4736592"/>
            <a:ext cx="2485568" cy="1170432"/>
          </a:xfrm>
          <a:prstGeom prst="roundRect">
            <a:avLst>
              <a:gd name="adj" fmla="val 4688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79896" y="482803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9C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200" dirty="0"/>
          </a:p>
        </p:txBody>
      </p:sp>
      <p:sp>
        <p:nvSpPr>
          <p:cNvPr id="38" name="Text 36"/>
          <p:cNvSpPr txBox="1"/>
          <p:nvPr/>
        </p:nvSpPr>
        <p:spPr>
          <a:xfrm>
            <a:off x="6479896" y="5358384"/>
            <a:ext cx="201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call, walked out alive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20327" y="4736592"/>
            <a:ext cx="2485568" cy="1170432"/>
          </a:xfrm>
          <a:prstGeom prst="roundRect">
            <a:avLst>
              <a:gd name="adj" fmla="val 4688"/>
            </a:avLst>
          </a:prstGeom>
          <a:solidFill>
            <a:srgbClr val="222C3E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58071" y="482803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5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200" dirty="0"/>
          </a:p>
        </p:txBody>
      </p:sp>
      <p:sp>
        <p:nvSpPr>
          <p:cNvPr id="41" name="Text 39"/>
          <p:cNvSpPr txBox="1"/>
          <p:nvPr/>
        </p:nvSpPr>
        <p:spPr>
          <a:xfrm>
            <a:off x="9258071" y="5358384"/>
            <a:ext cx="201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during a hunt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to a playable run, in eight days.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231136"/>
            <a:ext cx="10820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build a bigger game. We built one that closes.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3017520"/>
            <a:ext cx="3387242" cy="1517904"/>
          </a:xfrm>
          <a:prstGeom prst="roundRect">
            <a:avLst>
              <a:gd name="adj" fmla="val 3614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3127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438144"/>
            <a:ext cx="28386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deduction core that closes mathematically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86784"/>
            <a:ext cx="28386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ghosts × 3 clues. Two clues decide it. No luck involved.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2226" y="3017520"/>
            <a:ext cx="3387242" cy="1517904"/>
          </a:xfrm>
          <a:prstGeom prst="roundRect">
            <a:avLst>
              <a:gd name="adj" fmla="val 3614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76546" y="3127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76546" y="3438144"/>
            <a:ext cx="28386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pipeline that transfers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76546" y="3986784"/>
            <a:ext cx="28386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AI → gates → compile → self-audit → human review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8653" y="3017520"/>
            <a:ext cx="3387242" cy="1517904"/>
          </a:xfrm>
          <a:prstGeom prst="roundRect">
            <a:avLst>
              <a:gd name="adj" fmla="val 3614"/>
            </a:avLst>
          </a:prstGeom>
          <a:solidFill>
            <a:srgbClr val="161D2A"/>
          </a:solidFill>
          <a:ln w="9525">
            <a:solidFill>
              <a:srgbClr val="222C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92973" y="3127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392973" y="3438144"/>
            <a:ext cx="28386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architecture contract fixed in advance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92973" y="3986784"/>
            <a:ext cx="28386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direct references, so any two modules can be built in parallel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901184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 thermometer as a fourth clue, expanding to 4 × 4 and supporting six ghosts · a second map · incense and crucifix · local co-op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577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400" kern="0" dirty="0">
                <a:solidFill>
                  <a:srgbClr val="E9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RESIDUUM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299655" y="56327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7F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RESIDUUM — Final Presentation</dc:title>
  <dc:subject>PptxGenJS Presentation</dc:subject>
  <dc:creator>Henry</dc:creator>
  <cp:lastModifiedBy>Henry</cp:lastModifiedBy>
  <cp:revision>1</cp:revision>
  <dcterms:created xsi:type="dcterms:W3CDTF">2026-08-28T08:02:25Z</dcterms:created>
  <dcterms:modified xsi:type="dcterms:W3CDTF">2026-08-28T08:02:25Z</dcterms:modified>
</cp:coreProperties>
</file>